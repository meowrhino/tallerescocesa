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owrhino.github.io/tallerEscocesa/cuatro-estilo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eowrhino.github.io/tallerEscocesa/muestrario/08-cartel-vivo.html" TargetMode="External"/><Relationship Id="rId3" Type="http://schemas.openxmlformats.org/officeDocument/2006/relationships/hyperlink" Target="https://meowrhino.github.io/tallerEscocesa/muestrario/17-invitacion.html" TargetMode="External"/><Relationship Id="rId4" Type="http://schemas.openxmlformats.org/officeDocument/2006/relationships/hyperlink" Target="https://meowrhino.github.io/tallerEscocesa/muestrario/18-tarjeta-visita.html" TargetMode="External"/><Relationship Id="rId5" Type="http://schemas.openxmlformats.org/officeDocument/2006/relationships/hyperlink" Target="https://meowrhino.github.io/tallerEscocesa/muestrario/15-css-blend-modes.html" TargetMode="External"/><Relationship Id="rId6" Type="http://schemas.openxmlformats.org/officeDocument/2006/relationships/hyperlink" Target="https://meowrhino.github.io/tallerEscocesa/muestrario/06-expo-scroll-horizontal.html" TargetMode="External"/><Relationship Id="rId7" Type="http://schemas.openxmlformats.org/officeDocument/2006/relationships/hyperlink" Target="https://meowrhino.github.io/tallerEscocesa/muestrario/20-expo-scroll-vertical.html" TargetMode="External"/><Relationship Id="rId8" Type="http://schemas.openxmlformats.org/officeDocument/2006/relationships/hyperlink" Target="https://meowrhino.github.io/tallerEscocesa/muestrario/02-galeria-fichas.html" TargetMode="External"/><Relationship Id="rId9" Type="http://schemas.openxmlformats.org/officeDocument/2006/relationships/hyperlink" Target="https://meowrhino.github.io/tallerEscocesa/muestrario/"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737360"/>
            <a:ext cx="10637215" cy="3657600"/>
          </a:xfrm>
          <a:prstGeom prst="rect">
            <a:avLst/>
          </a:prstGeom>
          <a:noFill/>
        </p:spPr>
        <p:txBody>
          <a:bodyPr wrap="square" lIns="0" rIns="0" tIns="0" bIns="0">
            <a:spAutoFit/>
          </a:bodyPr>
          <a:lstStyle/>
          <a:p>
            <a:pPr>
              <a:lnSpc>
                <a:spcPct val="125000"/>
              </a:lnSpc>
              <a:spcBef>
                <a:spcPts val="0"/>
              </a:spcBef>
              <a:spcAft>
                <a:spcPts val="2200"/>
              </a:spcAft>
            </a:pPr>
            <a:r>
              <a:rPr sz="1100" b="0" i="0" spc="300">
                <a:solidFill>
                  <a:srgbClr val="8A8A8A"/>
                </a:solidFill>
                <a:latin typeface="Menlo"/>
              </a:rPr>
              <a:t>SESIÓN 2 DE 3</a:t>
            </a:r>
          </a:p>
          <a:p>
            <a:pPr>
              <a:lnSpc>
                <a:spcPct val="106000"/>
              </a:lnSpc>
              <a:spcBef>
                <a:spcPts val="0"/>
              </a:spcBef>
              <a:spcAft>
                <a:spcPts val="0"/>
              </a:spcAft>
            </a:pPr>
            <a:r>
              <a:rPr sz="4600" b="0" i="0">
                <a:solidFill>
                  <a:srgbClr val="FFFFFF"/>
                </a:solidFill>
                <a:latin typeface="Inknut Antiqua"/>
              </a:rPr>
              <a:t>css:</a:t>
            </a:r>
          </a:p>
          <a:p>
            <a:pPr>
              <a:lnSpc>
                <a:spcPct val="106000"/>
              </a:lnSpc>
              <a:spcBef>
                <a:spcPts val="0"/>
              </a:spcBef>
              <a:spcAft>
                <a:spcPts val="0"/>
              </a:spcAft>
            </a:pPr>
            <a:r>
              <a:rPr sz="4600" b="0" i="0">
                <a:solidFill>
                  <a:srgbClr val="FFFFFF"/>
                </a:solidFill>
                <a:latin typeface="Inknut Antiqua"/>
              </a:rPr>
              <a:t>lo que dice</a:t>
            </a:r>
          </a:p>
          <a:p>
            <a:pPr>
              <a:lnSpc>
                <a:spcPct val="106000"/>
              </a:lnSpc>
              <a:spcBef>
                <a:spcPts val="0"/>
              </a:spcBef>
              <a:spcAft>
                <a:spcPts val="0"/>
              </a:spcAft>
            </a:pPr>
            <a:r>
              <a:rPr sz="4600" b="0" i="0">
                <a:solidFill>
                  <a:srgbClr val="FFFFFF"/>
                </a:solidFill>
                <a:latin typeface="Inknut Antiqua"/>
              </a:rPr>
              <a:t>cómo se ve</a:t>
            </a:r>
          </a:p>
          <a:p>
            <a:pPr>
              <a:lnSpc>
                <a:spcPct val="140000"/>
              </a:lnSpc>
              <a:spcBef>
                <a:spcPts val="2600"/>
              </a:spcBef>
              <a:spcAft>
                <a:spcPts val="600"/>
              </a:spcAft>
            </a:pPr>
            <a:r>
              <a:rPr sz="1700" b="0" i="0">
                <a:solidFill>
                  <a:srgbClr val="BBBBBB"/>
                </a:solidFill>
                <a:latin typeface="Iowan Old Style"/>
              </a:rPr>
              <a:t>Tres horas. Al final de hoy tu web tiene el aspecto que tú decidas, y funciona en el móvil.</a:t>
            </a:r>
          </a:p>
        </p:txBody>
      </p:sp>
      <p:sp>
        <p:nvSpPr>
          <p:cNvPr id="4" name="TextBox 3"/>
          <p:cNvSpPr txBox="1"/>
          <p:nvPr/>
        </p:nvSpPr>
        <p:spPr>
          <a:xfrm>
            <a:off x="777240" y="5989320"/>
            <a:ext cx="10637215" cy="365760"/>
          </a:xfrm>
          <a:prstGeom prst="rect">
            <a:avLst/>
          </a:prstGeom>
          <a:noFill/>
        </p:spPr>
        <p:txBody>
          <a:bodyPr wrap="square" lIns="0" rIns="0" tIns="0" bIns="0">
            <a:spAutoFit/>
          </a:bodyPr>
          <a:lstStyle/>
          <a:p>
            <a:pPr>
              <a:lnSpc>
                <a:spcPct val="125000"/>
              </a:lnSpc>
              <a:spcBef>
                <a:spcPts val="0"/>
              </a:spcBef>
              <a:spcAft>
                <a:spcPts val="600"/>
              </a:spcAft>
            </a:pPr>
            <a:r>
              <a:rPr sz="1000" b="0" i="0" spc="200">
                <a:solidFill>
                  <a:srgbClr val="8A8A8A"/>
                </a:solidFill>
                <a:latin typeface="Menlo"/>
              </a:rPr>
              <a:t>taller de web autogestionada · la escocesa · meowrhino.studio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365760"/>
          </a:xfrm>
          <a:prstGeom prst="rect">
            <a:avLst/>
          </a:prstGeom>
          <a:noFill/>
        </p:spPr>
        <p:txBody>
          <a:bodyPr wrap="square" lIns="0" rIns="0" tIns="0" bIns="0">
            <a:spAutoFit/>
          </a:bodyPr>
          <a:lstStyle/>
          <a:p>
            <a:pPr>
              <a:lnSpc>
                <a:spcPct val="125000"/>
              </a:lnSpc>
              <a:spcBef>
                <a:spcPts val="0"/>
              </a:spcBef>
              <a:spcAft>
                <a:spcPts val="600"/>
              </a:spcAft>
            </a:pPr>
            <a:r>
              <a:rPr sz="1100" b="0" i="0" spc="300">
                <a:solidFill>
                  <a:srgbClr val="8A8A8A"/>
                </a:solidFill>
                <a:latin typeface="Menlo"/>
              </a:rPr>
              <a:t>EL PLAN DE HOY</a:t>
            </a:r>
          </a:p>
        </p:txBody>
      </p:sp>
      <p:sp>
        <p:nvSpPr>
          <p:cNvPr id="4" name="TextBox 3"/>
          <p:cNvSpPr txBox="1"/>
          <p:nvPr/>
        </p:nvSpPr>
        <p:spPr>
          <a:xfrm>
            <a:off x="777240" y="1554480"/>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00:00     </a:t>
            </a:r>
            <a:r>
              <a:rPr sz="1700">
                <a:solidFill>
                  <a:srgbClr val="0A0A0A"/>
                </a:solidFill>
                <a:latin typeface="Iowan Old Style"/>
              </a:rPr>
              <a:t>qué es el css</a:t>
            </a:r>
            <a:r>
              <a:rPr sz="1100">
                <a:solidFill>
                  <a:srgbClr val="8A8A8A"/>
                </a:solidFill>
                <a:latin typeface="Menlo"/>
              </a:rPr>
              <a:t>     15 min</a:t>
            </a:r>
          </a:p>
        </p:txBody>
      </p:sp>
      <p:sp>
        <p:nvSpPr>
          <p:cNvPr id="5" name="Rectangle 4"/>
          <p:cNvSpPr/>
          <p:nvPr/>
        </p:nvSpPr>
        <p:spPr>
          <a:xfrm>
            <a:off x="777240" y="1920240"/>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8"/>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00:15     </a:t>
            </a:r>
            <a:r>
              <a:rPr sz="1700">
                <a:solidFill>
                  <a:srgbClr val="0A0A0A"/>
                </a:solidFill>
                <a:latin typeface="Iowan Old Style"/>
              </a:rPr>
              <a:t>ejercicio 4 · elegir una dirección</a:t>
            </a:r>
            <a:r>
              <a:rPr sz="1100">
                <a:solidFill>
                  <a:srgbClr val="8A8A8A"/>
                </a:solidFill>
                <a:latin typeface="Menlo"/>
              </a:rPr>
              <a:t>     10 min</a:t>
            </a:r>
          </a:p>
        </p:txBody>
      </p:sp>
      <p:sp>
        <p:nvSpPr>
          <p:cNvPr id="7" name="Rectangle 6"/>
          <p:cNvSpPr/>
          <p:nvPr/>
        </p:nvSpPr>
        <p:spPr>
          <a:xfrm>
            <a:off x="777240" y="239572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00:25     </a:t>
            </a:r>
            <a:r>
              <a:rPr sz="1700">
                <a:solidFill>
                  <a:srgbClr val="0A0A0A"/>
                </a:solidFill>
                <a:latin typeface="Iowan Old Style"/>
              </a:rPr>
              <a:t>selectores y la caja</a:t>
            </a:r>
            <a:r>
              <a:rPr sz="1100">
                <a:solidFill>
                  <a:srgbClr val="8A8A8A"/>
                </a:solidFill>
                <a:latin typeface="Menlo"/>
              </a:rPr>
              <a:t>     30 min</a:t>
            </a:r>
          </a:p>
        </p:txBody>
      </p:sp>
      <p:sp>
        <p:nvSpPr>
          <p:cNvPr id="9" name="Rectangle 8"/>
          <p:cNvSpPr/>
          <p:nvPr/>
        </p:nvSpPr>
        <p:spPr>
          <a:xfrm>
            <a:off x="777240" y="2871216"/>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80944"/>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00:55     </a:t>
            </a:r>
            <a:r>
              <a:rPr sz="1700">
                <a:solidFill>
                  <a:srgbClr val="0A0A0A"/>
                </a:solidFill>
                <a:latin typeface="Iowan Old Style"/>
              </a:rPr>
              <a:t>ejercicio 5 · la base y la columna</a:t>
            </a:r>
            <a:r>
              <a:rPr sz="1100">
                <a:solidFill>
                  <a:srgbClr val="8A8A8A"/>
                </a:solidFill>
                <a:latin typeface="Menlo"/>
              </a:rPr>
              <a:t>     25 min</a:t>
            </a:r>
          </a:p>
        </p:txBody>
      </p:sp>
      <p:sp>
        <p:nvSpPr>
          <p:cNvPr id="11" name="Rectangle 10"/>
          <p:cNvSpPr/>
          <p:nvPr/>
        </p:nvSpPr>
        <p:spPr>
          <a:xfrm>
            <a:off x="777240" y="3346704"/>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456432"/>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01:20     </a:t>
            </a:r>
            <a:r>
              <a:rPr sz="1700">
                <a:solidFill>
                  <a:srgbClr val="0A0A0A"/>
                </a:solidFill>
                <a:latin typeface="Iowan Old Style"/>
              </a:rPr>
              <a:t>pausa</a:t>
            </a:r>
            <a:r>
              <a:rPr sz="1100">
                <a:solidFill>
                  <a:srgbClr val="8A8A8A"/>
                </a:solidFill>
                <a:latin typeface="Menlo"/>
              </a:rPr>
              <a:t>     15 min</a:t>
            </a:r>
          </a:p>
        </p:txBody>
      </p:sp>
      <p:sp>
        <p:nvSpPr>
          <p:cNvPr id="13" name="Rectangle 12"/>
          <p:cNvSpPr/>
          <p:nvPr/>
        </p:nvSpPr>
        <p:spPr>
          <a:xfrm>
            <a:off x="777240" y="3822192"/>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01:35     </a:t>
            </a:r>
            <a:r>
              <a:rPr sz="1700">
                <a:solidFill>
                  <a:srgbClr val="0A0A0A"/>
                </a:solidFill>
                <a:latin typeface="Iowan Old Style"/>
              </a:rPr>
              <a:t>tipografía</a:t>
            </a:r>
            <a:r>
              <a:rPr sz="1100">
                <a:solidFill>
                  <a:srgbClr val="8A8A8A"/>
                </a:solidFill>
                <a:latin typeface="Menlo"/>
              </a:rPr>
              <a:t>     15 min</a:t>
            </a:r>
          </a:p>
        </p:txBody>
      </p:sp>
      <p:sp>
        <p:nvSpPr>
          <p:cNvPr id="15" name="Rectangle 14"/>
          <p:cNvSpPr/>
          <p:nvPr/>
        </p:nvSpPr>
        <p:spPr>
          <a:xfrm>
            <a:off x="777240" y="4297680"/>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407408"/>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01:50     </a:t>
            </a:r>
            <a:r>
              <a:rPr sz="1700">
                <a:solidFill>
                  <a:srgbClr val="0A0A0A"/>
                </a:solidFill>
                <a:latin typeface="Iowan Old Style"/>
              </a:rPr>
              <a:t>color</a:t>
            </a:r>
            <a:r>
              <a:rPr sz="1100">
                <a:solidFill>
                  <a:srgbClr val="8A8A8A"/>
                </a:solidFill>
                <a:latin typeface="Menlo"/>
              </a:rPr>
              <a:t>     15 min</a:t>
            </a:r>
          </a:p>
        </p:txBody>
      </p:sp>
      <p:sp>
        <p:nvSpPr>
          <p:cNvPr id="17" name="Rectangle 16"/>
          <p:cNvSpPr/>
          <p:nvPr/>
        </p:nvSpPr>
        <p:spPr>
          <a:xfrm>
            <a:off x="777240" y="477316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82896"/>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02:05     </a:t>
            </a:r>
            <a:r>
              <a:rPr sz="1700">
                <a:solidFill>
                  <a:srgbClr val="0A0A0A"/>
                </a:solidFill>
                <a:latin typeface="Iowan Old Style"/>
              </a:rPr>
              <a:t>ejercicio 5 · titulares y menú</a:t>
            </a:r>
            <a:r>
              <a:rPr sz="1100">
                <a:solidFill>
                  <a:srgbClr val="8A8A8A"/>
                </a:solidFill>
                <a:latin typeface="Menlo"/>
              </a:rPr>
              <a:t>     20 min</a:t>
            </a:r>
          </a:p>
        </p:txBody>
      </p:sp>
      <p:sp>
        <p:nvSpPr>
          <p:cNvPr id="19" name="Rectangle 18"/>
          <p:cNvSpPr/>
          <p:nvPr/>
        </p:nvSpPr>
        <p:spPr>
          <a:xfrm>
            <a:off x="777240" y="5248656"/>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58384"/>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02:25     </a:t>
            </a:r>
            <a:r>
              <a:rPr sz="1700">
                <a:solidFill>
                  <a:srgbClr val="0A0A0A"/>
                </a:solidFill>
                <a:latin typeface="Iowan Old Style"/>
              </a:rPr>
              <a:t>composición</a:t>
            </a:r>
            <a:r>
              <a:rPr sz="1100">
                <a:solidFill>
                  <a:srgbClr val="8A8A8A"/>
                </a:solidFill>
                <a:latin typeface="Menlo"/>
              </a:rPr>
              <a:t>     10 min</a:t>
            </a:r>
          </a:p>
        </p:txBody>
      </p:sp>
      <p:sp>
        <p:nvSpPr>
          <p:cNvPr id="21" name="Rectangle 20"/>
          <p:cNvSpPr/>
          <p:nvPr/>
        </p:nvSpPr>
        <p:spPr>
          <a:xfrm>
            <a:off x="777240" y="5724144"/>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33872"/>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02:35     </a:t>
            </a:r>
            <a:r>
              <a:rPr sz="1700">
                <a:solidFill>
                  <a:srgbClr val="0A0A0A"/>
                </a:solidFill>
                <a:latin typeface="Iowan Old Style"/>
              </a:rPr>
              <a:t>que funcione en el móvil</a:t>
            </a:r>
            <a:r>
              <a:rPr sz="1100">
                <a:solidFill>
                  <a:srgbClr val="8A8A8A"/>
                </a:solidFill>
                <a:latin typeface="Menlo"/>
              </a:rPr>
              <a:t>     10 min</a:t>
            </a:r>
          </a:p>
        </p:txBody>
      </p:sp>
      <p:sp>
        <p:nvSpPr>
          <p:cNvPr id="23" name="Rectangle 22"/>
          <p:cNvSpPr/>
          <p:nvPr/>
        </p:nvSpPr>
        <p:spPr>
          <a:xfrm>
            <a:off x="777240" y="6199632"/>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309360"/>
            <a:ext cx="10637215" cy="384048"/>
          </a:xfrm>
          <a:prstGeom prst="rect">
            <a:avLst/>
          </a:prstGeom>
          <a:noFill/>
        </p:spPr>
        <p:txBody>
          <a:bodyPr wrap="square" lIns="0" rIns="0" tIns="0" bIns="0">
            <a:spAutoFit/>
          </a:bodyPr>
          <a:lstStyle/>
          <a:p>
            <a:pPr>
              <a:spcAft>
                <a:spcPts val="0"/>
              </a:spcAft>
            </a:pPr>
            <a:r>
              <a:rPr sz="1300">
                <a:solidFill>
                  <a:srgbClr val="8A8A8A"/>
                </a:solidFill>
                <a:latin typeface="Menlo"/>
              </a:rPr>
              <a:t>02:45     </a:t>
            </a:r>
            <a:r>
              <a:rPr sz="1700">
                <a:solidFill>
                  <a:srgbClr val="0A0A0A"/>
                </a:solidFill>
                <a:latin typeface="Iowan Old Style"/>
              </a:rPr>
              <a:t>ejercicio 5 · el móvil y libre</a:t>
            </a:r>
            <a:r>
              <a:rPr sz="1100">
                <a:solidFill>
                  <a:srgbClr val="8A8A8A"/>
                </a:solidFill>
                <a:latin typeface="Menlo"/>
              </a:rPr>
              <a:t>     15 min</a:t>
            </a:r>
          </a:p>
        </p:txBody>
      </p:sp>
      <p:sp>
        <p:nvSpPr>
          <p:cNvPr id="25" name="Rectangle 24"/>
          <p:cNvSpPr/>
          <p:nvPr/>
        </p:nvSpPr>
        <p:spPr>
          <a:xfrm>
            <a:off x="777240" y="6675120"/>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00:00 · 15 MINUTOS</a:t>
            </a:r>
          </a:p>
          <a:p>
            <a:pPr>
              <a:lnSpc>
                <a:spcPct val="110000"/>
              </a:lnSpc>
              <a:spcBef>
                <a:spcPts val="0"/>
              </a:spcBef>
              <a:spcAft>
                <a:spcPts val="1800"/>
              </a:spcAft>
            </a:pPr>
            <a:r>
              <a:rPr sz="4000" b="0" i="0">
                <a:solidFill>
                  <a:srgbClr val="FFFFFF"/>
                </a:solidFill>
                <a:latin typeface="Inknut Antiqua"/>
              </a:rPr>
              <a:t>qué es el css</a:t>
            </a:r>
          </a:p>
          <a:p>
            <a:pPr>
              <a:lnSpc>
                <a:spcPct val="140000"/>
              </a:lnSpc>
              <a:spcBef>
                <a:spcPts val="0"/>
              </a:spcBef>
              <a:spcAft>
                <a:spcPts val="600"/>
              </a:spcAft>
            </a:pPr>
            <a:r>
              <a:rPr sz="1700" b="0" i="0">
                <a:solidFill>
                  <a:srgbClr val="BBBBBB"/>
                </a:solidFill>
                <a:latin typeface="Iowan Old Style"/>
              </a:rPr>
              <a:t>El HTML dice qué es cada cosa. El CSS dice cómo se ve. Nada más.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   ·   EL CONCEPTO</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una lista de decisiones visuales</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873"/>
              </a:spcAft>
            </a:pPr>
            <a:r>
              <a:rPr sz="1455" b="0" i="0">
                <a:solidFill>
                  <a:srgbClr val="444444"/>
                </a:solidFill>
                <a:latin typeface="Iowan Old Style"/>
              </a:rPr>
              <a:t>CSS son las siglas de Cascading Style Sheets: hojas de estilo en cascada. Tampoco es un lenguaje de programación. Es una lista de decisiones: los párrafos así de grandes, el fondo de este color, el menú en fila.</a:t>
            </a:r>
          </a:p>
          <a:p>
            <a:pPr>
              <a:lnSpc>
                <a:spcPct val="133480"/>
              </a:lnSpc>
              <a:spcBef>
                <a:spcPts val="0"/>
              </a:spcBef>
              <a:spcAft>
                <a:spcPts val="873"/>
              </a:spcAft>
            </a:pPr>
            <a:r>
              <a:rPr sz="1455" b="0" i="0">
                <a:solidFill>
                  <a:srgbClr val="444444"/>
                </a:solidFill>
                <a:latin typeface="Iowan Old Style"/>
              </a:rPr>
              <a:t>La palabra importante es cascada: las reglas se leen de arriba abajo y las de abajo pisan a las de arriba. Por eso el orden dentro del archivo importa, y por eso la media query del móvil va siempre al final.</a:t>
            </a:r>
          </a:p>
          <a:p>
            <a:pPr>
              <a:lnSpc>
                <a:spcPct val="117500"/>
              </a:lnSpc>
              <a:spcBef>
                <a:spcPts val="1000"/>
              </a:spcBef>
              <a:spcAft>
                <a:spcPts val="291"/>
              </a:spcAft>
            </a:pPr>
            <a:r>
              <a:rPr sz="970" b="0" i="0" spc="300">
                <a:solidFill>
                  <a:srgbClr val="887000"/>
                </a:solidFill>
                <a:latin typeface="Menlo"/>
              </a:rPr>
              <a:t>EL MOMENTO DE HOY</a:t>
            </a:r>
          </a:p>
          <a:p>
            <a:pPr>
              <a:lnSpc>
                <a:spcPct val="131600"/>
              </a:lnSpc>
              <a:spcBef>
                <a:spcPts val="0"/>
              </a:spcBef>
              <a:spcAft>
                <a:spcPts val="776"/>
              </a:spcAft>
            </a:pPr>
            <a:r>
              <a:rPr sz="1358" b="1" i="0">
                <a:solidFill>
                  <a:srgbClr val="0A0A0A"/>
                </a:solidFill>
                <a:latin typeface="Iowan Old Style"/>
              </a:rPr>
              <a:t>Borra en directo la línea &lt;link rel="stylesheet"&gt; del head y recarga. La página se queda desnuda: todo el contenido sigue ahí, sin ninguna decisión visual encima. Eso es exactamente la diferencia entre las dos cosas, y verlo vale más que diez minutos de explicación.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cómo se enchufa</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Una sola línea en el &lt;head&gt; de cada página:</a:t>
            </a:r>
          </a:p>
          <a:p>
            <a:pPr>
              <a:lnSpc>
                <a:spcPct val="142000"/>
              </a:lnSpc>
              <a:spcBef>
                <a:spcPts val="0"/>
              </a:spcBef>
              <a:spcAft>
                <a:spcPts val="900"/>
              </a:spcAft>
            </a:pPr>
            <a:r>
              <a:rPr sz="1500" b="0" i="0">
                <a:solidFill>
                  <a:srgbClr val="444444"/>
                </a:solidFill>
                <a:latin typeface="Iowan Old Style"/>
              </a:rPr>
              <a:t>Un solo archivo estilo.css para toda la web. Cambias ahí el tamaño de letra y cambia en las cinco páginas a la vez. Ese es todo el truco.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cómo se enchufa</a:t>
            </a:r>
          </a:p>
        </p:txBody>
      </p:sp>
      <p:sp>
        <p:nvSpPr>
          <p:cNvPr id="5" name="Rectangle 4"/>
          <p:cNvSpPr/>
          <p:nvPr/>
        </p:nvSpPr>
        <p:spPr>
          <a:xfrm>
            <a:off x="777240" y="1874520"/>
            <a:ext cx="10637215" cy="77724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37490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&lt;link rel="stylesheet" href="estilo.css"&gt;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00:15 · 10 MINUTOS</a:t>
            </a:r>
          </a:p>
          <a:p>
            <a:pPr>
              <a:lnSpc>
                <a:spcPct val="110000"/>
              </a:lnSpc>
              <a:spcBef>
                <a:spcPts val="0"/>
              </a:spcBef>
              <a:spcAft>
                <a:spcPts val="1800"/>
              </a:spcAft>
            </a:pPr>
            <a:r>
              <a:rPr sz="4000" b="0" i="0">
                <a:solidFill>
                  <a:srgbClr val="0A0A0A"/>
                </a:solidFill>
                <a:latin typeface="Inknut Antiqua"/>
              </a:rPr>
              <a:t>elegir una dirección</a:t>
            </a:r>
          </a:p>
          <a:p>
            <a:pPr>
              <a:lnSpc>
                <a:spcPct val="140000"/>
              </a:lnSpc>
              <a:spcBef>
                <a:spcPts val="0"/>
              </a:spcBef>
              <a:spcAft>
                <a:spcPts val="600"/>
              </a:spcAft>
            </a:pPr>
            <a:r>
              <a:rPr sz="1700" b="0" i="0">
                <a:solidFill>
                  <a:srgbClr val="33300A"/>
                </a:solidFill>
                <a:latin typeface="Iowan Old Style"/>
              </a:rPr>
              <a:t>Cuatro webs con exactamente el mismo contenido y distinto CSS.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4   ·   10 MIN</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el mismo html, cuatro webs</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889"/>
              </a:spcAft>
            </a:pPr>
            <a:r>
              <a:rPr sz="1482" b="0" i="0">
                <a:solidFill>
                  <a:srgbClr val="444444"/>
                </a:solidFill>
                <a:latin typeface="Iowan Old Style"/>
              </a:rPr>
              <a:t>Lo único que cambia entre estas cuatro es el archivo estilo.css. El contenido no se toca ni una coma.</a:t>
            </a:r>
          </a:p>
          <a:p>
            <a:pPr>
              <a:lnSpc>
                <a:spcPct val="133480"/>
              </a:lnSpc>
              <a:spcBef>
                <a:spcPts val="0"/>
              </a:spcBef>
              <a:spcAft>
                <a:spcPts val="889"/>
              </a:spcAft>
            </a:pPr>
            <a:r>
              <a:rPr sz="1482" b="0" i="0">
                <a:solidFill>
                  <a:srgbClr val="444444"/>
                </a:solidFill>
                <a:latin typeface="Iowan Old Style"/>
              </a:rPr>
              <a:t>Para cambiar de estilo se toca una sola línea del head. Ver cuatro-estilos/COMO-CAMBIAR-DE-ESTILO.md.</a:t>
            </a:r>
          </a:p>
          <a:p>
            <a:pPr>
              <a:lnSpc>
                <a:spcPct val="133480"/>
              </a:lnSpc>
              <a:spcBef>
                <a:spcPts val="0"/>
              </a:spcBef>
              <a:spcAft>
                <a:spcPts val="889"/>
              </a:spcAft>
            </a:pPr>
            <a:r>
              <a:rPr sz="1482" b="0" i="0">
                <a:solidFill>
                  <a:srgbClr val="444444"/>
                </a:solidFill>
                <a:latin typeface="Iowan Old Style"/>
              </a:rPr>
              <a:t>No vas a copiar el ejemplo: vas a construir el tuyo, pero con una dirección tomada. Sirve para no quedarte en blanco al abrir estilo.css.</a:t>
            </a:r>
          </a:p>
          <a:p>
            <a:pPr>
              <a:lnSpc>
                <a:spcPct val="131600"/>
              </a:lnSpc>
              <a:spcBef>
                <a:spcPts val="0"/>
              </a:spcBef>
              <a:spcAft>
                <a:spcPts val="494"/>
              </a:spcAft>
            </a:pPr>
            <a:r>
              <a:rPr sz="1433" b="0" i="0">
                <a:solidFill>
                  <a:srgbClr val="444444"/>
                </a:solidFill>
                <a:latin typeface="Iowan Old Style"/>
              </a:rPr>
              <a:t>☐  ¿Qué es lo primero que quieres que vea alguien que entra?</a:t>
            </a:r>
          </a:p>
          <a:p>
            <a:pPr>
              <a:lnSpc>
                <a:spcPct val="131600"/>
              </a:lnSpc>
              <a:spcBef>
                <a:spcPts val="0"/>
              </a:spcBef>
              <a:spcAft>
                <a:spcPts val="494"/>
              </a:spcAft>
            </a:pPr>
            <a:r>
              <a:rPr sz="1433" b="0" i="0">
                <a:solidFill>
                  <a:srgbClr val="444444"/>
                </a:solidFill>
                <a:latin typeface="Iowan Old Style"/>
              </a:rPr>
              <a:t>☐  ¿Tu web es más de mirar o más de leer?</a:t>
            </a:r>
          </a:p>
          <a:p>
            <a:pPr>
              <a:lnSpc>
                <a:spcPct val="131600"/>
              </a:lnSpc>
              <a:spcBef>
                <a:spcPts val="0"/>
              </a:spcBef>
              <a:spcAft>
                <a:spcPts val="494"/>
              </a:spcAft>
            </a:pPr>
            <a:r>
              <a:rPr sz="1433" b="0" i="0">
                <a:solidFill>
                  <a:srgbClr val="444444"/>
                </a:solidFill>
                <a:latin typeface="Iowan Old Style"/>
              </a:rPr>
              <a:t>☐  ¿Fondo claro u oscuro?</a:t>
            </a:r>
          </a:p>
          <a:p>
            <a:pPr>
              <a:lnSpc>
                <a:spcPct val="124080"/>
              </a:lnSpc>
              <a:spcAft>
                <a:spcPts val="593"/>
              </a:spcAft>
            </a:pPr>
            <a:r>
              <a:rPr sz="1284">
                <a:solidFill>
                  <a:srgbClr val="0A0A0A"/>
                </a:solidFill>
                <a:latin typeface="Inknut Antiqua"/>
                <a:hlinkClick r:id="rId2"/>
              </a:rPr>
              <a:t>→ ficha   </a:t>
            </a:r>
            <a:r>
              <a:rPr sz="1235">
                <a:solidFill>
                  <a:srgbClr val="8A8A8A"/>
                </a:solidFill>
                <a:latin typeface="Iowan Old Style"/>
              </a:rPr>
              <a:t>Columna estrecha, letra con remates, líneas finas.</a:t>
            </a:r>
          </a:p>
          <a:p>
            <a:pPr>
              <a:lnSpc>
                <a:spcPct val="124080"/>
              </a:lnSpc>
              <a:spcAft>
                <a:spcPts val="593"/>
              </a:spcAft>
            </a:pPr>
            <a:r>
              <a:rPr sz="1284">
                <a:solidFill>
                  <a:srgbClr val="0A0A0A"/>
                </a:solidFill>
                <a:latin typeface="Inknut Antiqua"/>
                <a:hlinkClick r:id="rId2"/>
              </a:rPr>
              <a:t>→ cartel   </a:t>
            </a:r>
            <a:r>
              <a:rPr sz="1235">
                <a:solidFill>
                  <a:srgbClr val="8A8A8A"/>
                </a:solidFill>
                <a:latin typeface="Iowan Old Style"/>
              </a:rPr>
              <a:t>Fondo oscuro, nombre enorme, un color fuerte.</a:t>
            </a:r>
          </a:p>
          <a:p>
            <a:pPr>
              <a:lnSpc>
                <a:spcPct val="124080"/>
              </a:lnSpc>
              <a:spcAft>
                <a:spcPts val="593"/>
              </a:spcAft>
            </a:pPr>
            <a:r>
              <a:rPr sz="1284">
                <a:solidFill>
                  <a:srgbClr val="0A0A0A"/>
                </a:solidFill>
                <a:latin typeface="Inknut Antiqua"/>
                <a:hlinkClick r:id="rId2"/>
              </a:rPr>
              <a:t>→ cuaderno   </a:t>
            </a:r>
            <a:r>
              <a:rPr sz="1235">
                <a:solidFill>
                  <a:srgbClr val="8A8A8A"/>
                </a:solidFill>
                <a:latin typeface="Iowan Old Style"/>
              </a:rPr>
              <a:t>Mucho aire, cursivas, más texto que imagen.</a:t>
            </a:r>
          </a:p>
          <a:p>
            <a:pPr>
              <a:lnSpc>
                <a:spcPct val="124080"/>
              </a:lnSpc>
              <a:spcAft>
                <a:spcPts val="593"/>
              </a:spcAft>
            </a:pPr>
            <a:r>
              <a:rPr sz="1284">
                <a:solidFill>
                  <a:srgbClr val="0A0A0A"/>
                </a:solidFill>
                <a:latin typeface="Inknut Antiqua"/>
                <a:hlinkClick r:id="rId2"/>
              </a:rPr>
              <a:t>→ índice   </a:t>
            </a:r>
            <a:r>
              <a:rPr sz="1235">
                <a:solidFill>
                  <a:srgbClr val="8A8A8A"/>
                </a:solidFill>
                <a:latin typeface="Iowan Old Style"/>
              </a:rPr>
              <a:t>Monoespaciada, denso, imágenes pequeñas.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00:25 · 35 MINUTOS</a:t>
            </a:r>
          </a:p>
          <a:p>
            <a:pPr>
              <a:lnSpc>
                <a:spcPct val="110000"/>
              </a:lnSpc>
              <a:spcBef>
                <a:spcPts val="0"/>
              </a:spcBef>
              <a:spcAft>
                <a:spcPts val="1800"/>
              </a:spcAft>
            </a:pPr>
            <a:r>
              <a:rPr sz="4000" b="0" i="0">
                <a:solidFill>
                  <a:srgbClr val="FFFFFF"/>
                </a:solidFill>
                <a:latin typeface="Inknut Antiqua"/>
              </a:rPr>
              <a:t>selectores y la caja</a:t>
            </a:r>
          </a:p>
          <a:p>
            <a:pPr>
              <a:lnSpc>
                <a:spcPct val="140000"/>
              </a:lnSpc>
              <a:spcBef>
                <a:spcPts val="0"/>
              </a:spcBef>
              <a:spcAft>
                <a:spcPts val="600"/>
              </a:spcAft>
            </a:pPr>
            <a:r>
              <a:rPr sz="1700" b="0" i="0">
                <a:solidFill>
                  <a:srgbClr val="BBBBBB"/>
                </a:solidFill>
                <a:latin typeface="Iowan Old Style"/>
              </a:rPr>
              <a:t>Cómo se escribe una regla, a qué afecta, y el modelo de caja.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cómo se escribe una regla</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El selector (body) dice a qué afecta. Dentro van las propiedades y sus valores.</a:t>
            </a:r>
          </a:p>
          <a:p>
            <a:pPr>
              <a:lnSpc>
                <a:spcPct val="125000"/>
              </a:lnSpc>
              <a:spcBef>
                <a:spcPts val="1000"/>
              </a:spcBef>
              <a:spcAft>
                <a:spcPts val="300"/>
              </a:spcAft>
            </a:pPr>
            <a:r>
              <a:rPr sz="1000" b="0" i="0" spc="300">
                <a:solidFill>
                  <a:srgbClr val="8A8A8A"/>
                </a:solidFill>
                <a:latin typeface="Menlo"/>
              </a:rPr>
              <a:t>PUNTO Y COMA AL FINAL DE CADA LÍNEA</a:t>
            </a:r>
          </a:p>
          <a:p>
            <a:pPr>
              <a:lnSpc>
                <a:spcPct val="140000"/>
              </a:lnSpc>
              <a:spcBef>
                <a:spcPts val="0"/>
              </a:spcBef>
              <a:spcAft>
                <a:spcPts val="800"/>
              </a:spcAft>
            </a:pPr>
            <a:r>
              <a:rPr sz="1400" b="0" i="0">
                <a:solidFill>
                  <a:srgbClr val="444444"/>
                </a:solidFill>
                <a:latin typeface="Iowan Old Style"/>
              </a:rPr>
              <a:t>Si te lo olvidas, esa línea deja de funcionar y a veces la siguiente también. Y no avisa nadie: no sale ningún error, simplemente no pasa nada.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cómo se escribe una regla</a:t>
            </a:r>
          </a:p>
        </p:txBody>
      </p:sp>
      <p:sp>
        <p:nvSpPr>
          <p:cNvPr id="5" name="Rectangle 4"/>
          <p:cNvSpPr/>
          <p:nvPr/>
        </p:nvSpPr>
        <p:spPr>
          <a:xfrm>
            <a:off x="777240" y="1874520"/>
            <a:ext cx="10637215" cy="160020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19786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body {</a:t>
            </a:r>
          </a:p>
          <a:p>
            <a:pPr>
              <a:lnSpc>
                <a:spcPct val="132000"/>
              </a:lnSpc>
              <a:spcBef>
                <a:spcPts val="0"/>
              </a:spcBef>
              <a:spcAft>
                <a:spcPts val="0"/>
              </a:spcAft>
            </a:pPr>
            <a:r>
              <a:rPr sz="1600" b="0" i="0">
                <a:solidFill>
                  <a:srgbClr val="0A0A0A"/>
                </a:solidFill>
                <a:latin typeface="Menlo"/>
              </a:rPr>
              <a:t>  background-color: #FBFAF7;</a:t>
            </a:r>
          </a:p>
          <a:p>
            <a:pPr>
              <a:lnSpc>
                <a:spcPct val="132000"/>
              </a:lnSpc>
              <a:spcBef>
                <a:spcPts val="0"/>
              </a:spcBef>
              <a:spcAft>
                <a:spcPts val="0"/>
              </a:spcAft>
            </a:pPr>
            <a:r>
              <a:rPr sz="1600" b="0" i="0">
                <a:solidFill>
                  <a:srgbClr val="0A0A0A"/>
                </a:solidFill>
                <a:latin typeface="Menlo"/>
              </a:rPr>
              <a:t>  font-size: 18px;</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a qué afecta cada selector</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25000"/>
              </a:lnSpc>
              <a:spcBef>
                <a:spcPts val="1000"/>
              </a:spcBef>
              <a:spcAft>
                <a:spcPts val="300"/>
              </a:spcAft>
            </a:pPr>
            <a:r>
              <a:rPr sz="1000" b="0" i="0" spc="300">
                <a:solidFill>
                  <a:srgbClr val="887000"/>
                </a:solidFill>
                <a:latin typeface="Menlo"/>
              </a:rPr>
              <a:t>LA CONFUSIÓN MÁS COMÚN</a:t>
            </a:r>
          </a:p>
          <a:p>
            <a:pPr>
              <a:lnSpc>
                <a:spcPct val="140000"/>
              </a:lnSpc>
              <a:spcBef>
                <a:spcPts val="0"/>
              </a:spcBef>
              <a:spcAft>
                <a:spcPts val="800"/>
              </a:spcAft>
            </a:pPr>
            <a:r>
              <a:rPr sz="1400" b="1" i="0">
                <a:solidFill>
                  <a:srgbClr val="0A0A0A"/>
                </a:solidFill>
                <a:latin typeface="Iowan Old Style"/>
              </a:rPr>
              <a:t>La coma es «y también». El espacio es «dentro de». header, a son las cabeceras y todos los enlaces; header a son solo los enlaces de dentro de la cabecera. Son cosas muy distintas.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a qué afecta cada selector</a:t>
            </a:r>
          </a:p>
        </p:txBody>
      </p:sp>
      <p:sp>
        <p:nvSpPr>
          <p:cNvPr id="5" name="Rectangle 4"/>
          <p:cNvSpPr/>
          <p:nvPr/>
        </p:nvSpPr>
        <p:spPr>
          <a:xfrm>
            <a:off x="777240" y="1874520"/>
            <a:ext cx="10637215" cy="187451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47218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p { }                    todos los párrafos</a:t>
            </a:r>
          </a:p>
          <a:p>
            <a:pPr>
              <a:lnSpc>
                <a:spcPct val="132000"/>
              </a:lnSpc>
              <a:spcBef>
                <a:spcPts val="0"/>
              </a:spcBef>
              <a:spcAft>
                <a:spcPts val="0"/>
              </a:spcAft>
            </a:pPr>
            <a:r>
              <a:rPr sz="1600" b="0" i="0">
                <a:solidFill>
                  <a:srgbClr val="0A0A0A"/>
                </a:solidFill>
                <a:latin typeface="Menlo"/>
              </a:rPr>
              <a:t>header, main { }         los dos a la vez</a:t>
            </a:r>
          </a:p>
          <a:p>
            <a:pPr>
              <a:lnSpc>
                <a:spcPct val="132000"/>
              </a:lnSpc>
              <a:spcBef>
                <a:spcPts val="0"/>
              </a:spcBef>
              <a:spcAft>
                <a:spcPts val="0"/>
              </a:spcAft>
            </a:pPr>
            <a:r>
              <a:rPr sz="1600" b="0" i="0">
                <a:solidFill>
                  <a:srgbClr val="0A0A0A"/>
                </a:solidFill>
                <a:latin typeface="Menlo"/>
              </a:rPr>
              <a:t>nav a { }                los enlaces dentro de nav</a:t>
            </a:r>
          </a:p>
          <a:p>
            <a:pPr>
              <a:lnSpc>
                <a:spcPct val="132000"/>
              </a:lnSpc>
              <a:spcBef>
                <a:spcPts val="0"/>
              </a:spcBef>
              <a:spcAft>
                <a:spcPts val="0"/>
              </a:spcAft>
            </a:pPr>
            <a:r>
              <a:rPr sz="1600" b="0" i="0">
                <a:solidFill>
                  <a:srgbClr val="0A0A0A"/>
                </a:solidFill>
                <a:latin typeface="Menlo"/>
              </a:rPr>
              <a:t>a:hover { }              cuando el ratón está encima</a:t>
            </a:r>
          </a:p>
          <a:p>
            <a:pPr>
              <a:lnSpc>
                <a:spcPct val="132000"/>
              </a:lnSpc>
              <a:spcBef>
                <a:spcPts val="0"/>
              </a:spcBef>
              <a:spcAft>
                <a:spcPts val="0"/>
              </a:spcAft>
            </a:pPr>
            <a:r>
              <a:rPr sz="1600" b="0" i="0">
                <a:solidFill>
                  <a:srgbClr val="0A0A0A"/>
                </a:solidFill>
                <a:latin typeface="Menlo"/>
              </a:rPr>
              <a:t>article:last-child { }   solo el último de la serie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   ·   EL 70% DE LAS DUDAS</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todo elemento es una caja</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De dentro hacia fuera:</a:t>
            </a:r>
          </a:p>
          <a:p>
            <a:pPr>
              <a:lnSpc>
                <a:spcPct val="142000"/>
              </a:lnSpc>
              <a:spcBef>
                <a:spcPts val="0"/>
              </a:spcBef>
              <a:spcAft>
                <a:spcPts val="900"/>
              </a:spcAft>
            </a:pPr>
            <a:r>
              <a:rPr sz="1500" b="0" i="0">
                <a:solidFill>
                  <a:srgbClr val="444444"/>
                </a:solidFill>
                <a:latin typeface="Iowan Old Style"/>
              </a:rPr>
              <a:t>Míralo en el inspector, que lo pinta en colores encima de la página real.</a:t>
            </a:r>
          </a:p>
          <a:p>
            <a:pPr>
              <a:lnSpc>
                <a:spcPct val="140000"/>
              </a:lnSpc>
              <a:spcBef>
                <a:spcPts val="0"/>
              </a:spcBef>
              <a:spcAft>
                <a:spcPts val="500"/>
              </a:spcAft>
            </a:pPr>
            <a:r>
              <a:rPr sz="1450" b="0" i="0">
                <a:solidFill>
                  <a:srgbClr val="444444"/>
                </a:solidFill>
                <a:latin typeface="Iowan Old Style"/>
              </a:rPr>
              <a:t>·  padding — relleno por dentro</a:t>
            </a:r>
          </a:p>
          <a:p>
            <a:pPr>
              <a:lnSpc>
                <a:spcPct val="140000"/>
              </a:lnSpc>
              <a:spcBef>
                <a:spcPts val="0"/>
              </a:spcBef>
              <a:spcAft>
                <a:spcPts val="500"/>
              </a:spcAft>
            </a:pPr>
            <a:r>
              <a:rPr sz="1450" b="0" i="0">
                <a:solidFill>
                  <a:srgbClr val="444444"/>
                </a:solidFill>
                <a:latin typeface="Iowan Old Style"/>
              </a:rPr>
              <a:t>·  border — la línea</a:t>
            </a:r>
          </a:p>
          <a:p>
            <a:pPr>
              <a:lnSpc>
                <a:spcPct val="140000"/>
              </a:lnSpc>
              <a:spcBef>
                <a:spcPts val="0"/>
              </a:spcBef>
              <a:spcAft>
                <a:spcPts val="500"/>
              </a:spcAft>
            </a:pPr>
            <a:r>
              <a:rPr sz="1450" b="0" i="0">
                <a:solidFill>
                  <a:srgbClr val="444444"/>
                </a:solidFill>
                <a:latin typeface="Iowan Old Style"/>
              </a:rPr>
              <a:t>·  margin — aire por fuera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todo elemento es una caja</a:t>
            </a:r>
          </a:p>
        </p:txBody>
      </p:sp>
      <p:sp>
        <p:nvSpPr>
          <p:cNvPr id="5" name="Rectangle 4"/>
          <p:cNvSpPr/>
          <p:nvPr/>
        </p:nvSpPr>
        <p:spPr>
          <a:xfrm>
            <a:off x="777240" y="1874520"/>
            <a:ext cx="10637215" cy="297180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256946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 margin ────────────┐</a:t>
            </a:r>
          </a:p>
          <a:p>
            <a:pPr>
              <a:lnSpc>
                <a:spcPct val="132000"/>
              </a:lnSpc>
              <a:spcBef>
                <a:spcPts val="0"/>
              </a:spcBef>
              <a:spcAft>
                <a:spcPts val="0"/>
              </a:spcAft>
            </a:pPr>
            <a:r>
              <a:rPr sz="1600" b="0" i="0">
                <a:solidFill>
                  <a:srgbClr val="0A0A0A"/>
                </a:solidFill>
                <a:latin typeface="Menlo"/>
              </a:rPr>
              <a:t>│  ┌──────── border ─────────┐  │</a:t>
            </a:r>
          </a:p>
          <a:p>
            <a:pPr>
              <a:lnSpc>
                <a:spcPct val="132000"/>
              </a:lnSpc>
              <a:spcBef>
                <a:spcPts val="0"/>
              </a:spcBef>
              <a:spcAft>
                <a:spcPts val="0"/>
              </a:spcAft>
            </a:pPr>
            <a:r>
              <a:rPr sz="1600" b="0" i="0">
                <a:solidFill>
                  <a:srgbClr val="0A0A0A"/>
                </a:solidFill>
                <a:latin typeface="Menlo"/>
              </a:rPr>
              <a:t>│  │  ┌───── padding ─────┐  │  │</a:t>
            </a:r>
          </a:p>
          <a:p>
            <a:pPr>
              <a:lnSpc>
                <a:spcPct val="132000"/>
              </a:lnSpc>
              <a:spcBef>
                <a:spcPts val="0"/>
              </a:spcBef>
              <a:spcAft>
                <a:spcPts val="0"/>
              </a:spcAft>
            </a:pPr>
            <a:r>
              <a:rPr sz="1600" b="0" i="0">
                <a:solidFill>
                  <a:srgbClr val="0A0A0A"/>
                </a:solidFill>
                <a:latin typeface="Menlo"/>
              </a:rPr>
              <a:t>│  │  │                   │  │  │</a:t>
            </a:r>
          </a:p>
          <a:p>
            <a:pPr>
              <a:lnSpc>
                <a:spcPct val="132000"/>
              </a:lnSpc>
              <a:spcBef>
                <a:spcPts val="0"/>
              </a:spcBef>
              <a:spcAft>
                <a:spcPts val="0"/>
              </a:spcAft>
            </a:pPr>
            <a:r>
              <a:rPr sz="1600" b="0" i="0">
                <a:solidFill>
                  <a:srgbClr val="0A0A0A"/>
                </a:solidFill>
                <a:latin typeface="Menlo"/>
              </a:rPr>
              <a:t>│  │  │     contenido     │  │  │</a:t>
            </a:r>
          </a:p>
          <a:p>
            <a:pPr>
              <a:lnSpc>
                <a:spcPct val="132000"/>
              </a:lnSpc>
              <a:spcBef>
                <a:spcPts val="0"/>
              </a:spcBef>
              <a:spcAft>
                <a:spcPts val="0"/>
              </a:spcAft>
            </a:pPr>
            <a:r>
              <a:rPr sz="1600" b="0" i="0">
                <a:solidFill>
                  <a:srgbClr val="0A0A0A"/>
                </a:solidFill>
                <a:latin typeface="Menlo"/>
              </a:rPr>
              <a:t>│  │  │                   │  │  │</a:t>
            </a:r>
          </a:p>
          <a:p>
            <a:pPr>
              <a:lnSpc>
                <a:spcPct val="132000"/>
              </a:lnSpc>
              <a:spcBef>
                <a:spcPts val="0"/>
              </a:spcBef>
              <a:spcAft>
                <a:spcPts val="0"/>
              </a:spcAft>
            </a:pPr>
            <a:r>
              <a:rPr sz="1600" b="0" i="0">
                <a:solidFill>
                  <a:srgbClr val="0A0A0A"/>
                </a:solidFill>
                <a:latin typeface="Menlo"/>
              </a:rPr>
              <a:t>│  │  └───────────────────┘  │  │</a:t>
            </a:r>
          </a:p>
          <a:p>
            <a:pPr>
              <a:lnSpc>
                <a:spcPct val="132000"/>
              </a:lnSpc>
              <a:spcBef>
                <a:spcPts val="0"/>
              </a:spcBef>
              <a:spcAft>
                <a:spcPts val="0"/>
              </a:spcAft>
            </a:pPr>
            <a:r>
              <a:rPr sz="1600" b="0" i="0">
                <a:solidFill>
                  <a:srgbClr val="0A0A0A"/>
                </a:solidFill>
                <a:latin typeface="Menlo"/>
              </a:rPr>
              <a:t>│  └─────────────────────────┘  │</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00:25</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todo elemento es una caja</a:t>
            </a:r>
          </a:p>
        </p:txBody>
      </p:sp>
      <p:sp>
        <p:nvSpPr>
          <p:cNvPr id="5" name="Rectangle 4"/>
          <p:cNvSpPr/>
          <p:nvPr/>
        </p:nvSpPr>
        <p:spPr>
          <a:xfrm>
            <a:off x="777240" y="1874520"/>
            <a:ext cx="10637215" cy="160020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19786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padding: 24px;             los cuatro lados</a:t>
            </a:r>
          </a:p>
          <a:p>
            <a:pPr>
              <a:lnSpc>
                <a:spcPct val="132000"/>
              </a:lnSpc>
              <a:spcBef>
                <a:spcPts val="0"/>
              </a:spcBef>
              <a:spcAft>
                <a:spcPts val="0"/>
              </a:spcAft>
            </a:pPr>
            <a:r>
              <a:rPr sz="1600" b="0" i="0">
                <a:solidFill>
                  <a:srgbClr val="0A0A0A"/>
                </a:solidFill>
                <a:latin typeface="Menlo"/>
              </a:rPr>
              <a:t>margin: 16px 0;           arriba/abajo, luego lados</a:t>
            </a:r>
          </a:p>
          <a:p>
            <a:pPr>
              <a:lnSpc>
                <a:spcPct val="132000"/>
              </a:lnSpc>
              <a:spcBef>
                <a:spcPts val="0"/>
              </a:spcBef>
              <a:spcAft>
                <a:spcPts val="0"/>
              </a:spcAft>
            </a:pPr>
            <a:r>
              <a:rPr sz="1600" b="0" i="0">
                <a:solidFill>
                  <a:srgbClr val="0A0A0A"/>
                </a:solidFill>
                <a:latin typeface="Menlo"/>
              </a:rPr>
              <a:t>margin: 0 0 16px 0;        arriba, derecha, abajo, izquierda</a:t>
            </a:r>
          </a:p>
          <a:p>
            <a:pPr>
              <a:lnSpc>
                <a:spcPct val="132000"/>
              </a:lnSpc>
              <a:spcBef>
                <a:spcPts val="0"/>
              </a:spcBef>
              <a:spcAft>
                <a:spcPts val="0"/>
              </a:spcAft>
            </a:pPr>
            <a:r>
              <a:rPr sz="1600" b="0" i="0">
                <a:solidFill>
                  <a:srgbClr val="0A0A0A"/>
                </a:solidFill>
                <a:latin typeface="Menlo"/>
              </a:rPr>
              <a:t>border-bottom: 1px solid #ccc;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00:55 · 25 MINUTOS</a:t>
            </a:r>
          </a:p>
          <a:p>
            <a:pPr>
              <a:lnSpc>
                <a:spcPct val="110000"/>
              </a:lnSpc>
              <a:spcBef>
                <a:spcPts val="0"/>
              </a:spcBef>
              <a:spcAft>
                <a:spcPts val="1800"/>
              </a:spcAft>
            </a:pPr>
            <a:r>
              <a:rPr sz="4000" b="0" i="0">
                <a:solidFill>
                  <a:srgbClr val="0A0A0A"/>
                </a:solidFill>
                <a:latin typeface="Inknut Antiqua"/>
              </a:rPr>
              <a:t>ejercicio 5 · la base y la columna</a:t>
            </a:r>
          </a:p>
          <a:p>
            <a:pPr>
              <a:lnSpc>
                <a:spcPct val="140000"/>
              </a:lnSpc>
              <a:spcBef>
                <a:spcPts val="0"/>
              </a:spcBef>
              <a:spcAft>
                <a:spcPts val="600"/>
              </a:spcAft>
            </a:pPr>
            <a:r>
              <a:rPr sz="1700" b="0" i="0">
                <a:solidFill>
                  <a:srgbClr val="33300A"/>
                </a:solidFill>
                <a:latin typeface="Iowan Old Style"/>
              </a:rPr>
              <a:t>Primera capa de vuestro CSS: fondo, tinta, tipografía base y el ancho de la columna. Sobre vuestra propia web.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5   ·   25 MIN</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capas 1 y 2</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Trabaja siempre sobre estilo.css. Este orden importa: si empiezas por los detalles, luego cambias la base y se descuadra todo.</a:t>
            </a:r>
          </a:p>
          <a:p>
            <a:pPr>
              <a:lnSpc>
                <a:spcPct val="140000"/>
              </a:lnSpc>
              <a:spcBef>
                <a:spcPts val="0"/>
              </a:spcBef>
              <a:spcAft>
                <a:spcPts val="500"/>
              </a:spcAft>
            </a:pPr>
            <a:r>
              <a:rPr sz="1450" b="0" i="0">
                <a:solidFill>
                  <a:srgbClr val="444444"/>
                </a:solidFill>
                <a:latin typeface="Iowan Old Style"/>
              </a:rPr>
              <a:t>☐  background-color y color en body.</a:t>
            </a:r>
          </a:p>
          <a:p>
            <a:pPr>
              <a:lnSpc>
                <a:spcPct val="140000"/>
              </a:lnSpc>
              <a:spcBef>
                <a:spcPts val="0"/>
              </a:spcBef>
              <a:spcAft>
                <a:spcPts val="500"/>
              </a:spcAft>
            </a:pPr>
            <a:r>
              <a:rPr sz="1450" b="0" i="0">
                <a:solidFill>
                  <a:srgbClr val="444444"/>
                </a:solidFill>
                <a:latin typeface="Iowan Old Style"/>
              </a:rPr>
              <a:t>☐  font-family: con remates (serif) o sin ellos (sans-serif).</a:t>
            </a:r>
          </a:p>
          <a:p>
            <a:pPr>
              <a:lnSpc>
                <a:spcPct val="140000"/>
              </a:lnSpc>
              <a:spcBef>
                <a:spcPts val="0"/>
              </a:spcBef>
              <a:spcAft>
                <a:spcPts val="500"/>
              </a:spcAft>
            </a:pPr>
            <a:r>
              <a:rPr sz="1450" b="0" i="0">
                <a:solidFill>
                  <a:srgbClr val="444444"/>
                </a:solidFill>
                <a:latin typeface="Iowan Old Style"/>
              </a:rPr>
              <a:t>☐  font-size y line-height. Prueba 17, 18 y 20px y quédate con el que te canse menos.</a:t>
            </a:r>
          </a:p>
          <a:p>
            <a:pPr>
              <a:lnSpc>
                <a:spcPct val="140000"/>
              </a:lnSpc>
              <a:spcBef>
                <a:spcPts val="0"/>
              </a:spcBef>
              <a:spcAft>
                <a:spcPts val="500"/>
              </a:spcAft>
            </a:pPr>
            <a:r>
              <a:rPr sz="1450" b="0" i="0">
                <a:solidFill>
                  <a:srgbClr val="444444"/>
                </a:solidFill>
                <a:latin typeface="Iowan Old Style"/>
              </a:rPr>
              <a:t>☐  max-width y margin: 0 auto en header, main y footer.</a:t>
            </a:r>
          </a:p>
          <a:p>
            <a:pPr>
              <a:lnSpc>
                <a:spcPct val="140000"/>
              </a:lnSpc>
              <a:spcBef>
                <a:spcPts val="0"/>
              </a:spcBef>
              <a:spcAft>
                <a:spcPts val="500"/>
              </a:spcAft>
            </a:pPr>
            <a:r>
              <a:rPr sz="1450" b="0" i="0">
                <a:solidFill>
                  <a:srgbClr val="444444"/>
                </a:solidFill>
                <a:latin typeface="Iowan Old Style"/>
              </a:rPr>
              <a:t>☐  Prueba 500px, 640px y 900px. Fíjate en cuál se lee mejor, no en cuál llena más.</a:t>
            </a:r>
          </a:p>
          <a:p>
            <a:pPr>
              <a:lnSpc>
                <a:spcPct val="125000"/>
              </a:lnSpc>
              <a:spcBef>
                <a:spcPts val="1000"/>
              </a:spcBef>
              <a:spcAft>
                <a:spcPts val="300"/>
              </a:spcAft>
            </a:pPr>
            <a:r>
              <a:rPr sz="1000" b="0" i="0" spc="300">
                <a:solidFill>
                  <a:srgbClr val="8A8A8A"/>
                </a:solidFill>
                <a:latin typeface="Menlo"/>
              </a:rPr>
              <a:t>ANTES DE CAMBIOS GRANDES</a:t>
            </a:r>
          </a:p>
          <a:p>
            <a:pPr>
              <a:lnSpc>
                <a:spcPct val="140000"/>
              </a:lnSpc>
              <a:spcBef>
                <a:spcPts val="0"/>
              </a:spcBef>
              <a:spcAft>
                <a:spcPts val="800"/>
              </a:spcAft>
            </a:pPr>
            <a:r>
              <a:rPr sz="1400" b="0" i="0">
                <a:solidFill>
                  <a:srgbClr val="444444"/>
                </a:solidFill>
                <a:latin typeface="Iowan Old Style"/>
              </a:rPr>
              <a:t>Duplica la carpeta entera y ponle la fecha al nombre. Es la manera más simple de poder volver atrás.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2000"/>
              </a:spcAft>
            </a:pPr>
            <a:r>
              <a:rPr sz="1100" b="0" i="0" spc="300">
                <a:solidFill>
                  <a:srgbClr val="8A8A8A"/>
                </a:solidFill>
                <a:latin typeface="Menlo"/>
              </a:rPr>
              <a:t>01:25 · 15 MINUTOS</a:t>
            </a:r>
          </a:p>
          <a:p>
            <a:pPr>
              <a:lnSpc>
                <a:spcPct val="110000"/>
              </a:lnSpc>
              <a:spcBef>
                <a:spcPts val="0"/>
              </a:spcBef>
              <a:spcAft>
                <a:spcPts val="1800"/>
              </a:spcAft>
            </a:pPr>
            <a:r>
              <a:rPr sz="4000" b="0" i="0">
                <a:solidFill>
                  <a:srgbClr val="FFFFFF"/>
                </a:solidFill>
                <a:latin typeface="Inknut Antiqua"/>
              </a:rPr>
              <a:t>pausa</a:t>
            </a:r>
          </a:p>
          <a:p>
            <a:pPr>
              <a:lnSpc>
                <a:spcPct val="140000"/>
              </a:lnSpc>
              <a:spcBef>
                <a:spcPts val="0"/>
              </a:spcBef>
              <a:spcAft>
                <a:spcPts val="600"/>
              </a:spcAft>
            </a:pPr>
            <a:r>
              <a:rPr sz="1700" b="0" i="0">
                <a:solidFill>
                  <a:srgbClr val="BBBBBB"/>
                </a:solidFill>
                <a:latin typeface="Iowan Old Style"/>
              </a:rPr>
              <a:t>Después: color, y colocar las cosas en la página.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01:00 · 25 MINUTOS</a:t>
            </a:r>
          </a:p>
          <a:p>
            <a:pPr>
              <a:lnSpc>
                <a:spcPct val="110000"/>
              </a:lnSpc>
              <a:spcBef>
                <a:spcPts val="0"/>
              </a:spcBef>
              <a:spcAft>
                <a:spcPts val="1800"/>
              </a:spcAft>
            </a:pPr>
            <a:r>
              <a:rPr sz="4000" b="0" i="0">
                <a:solidFill>
                  <a:srgbClr val="FFFFFF"/>
                </a:solidFill>
                <a:latin typeface="Inknut Antiqua"/>
              </a:rPr>
              <a:t>tipografía</a:t>
            </a:r>
          </a:p>
          <a:p>
            <a:pPr>
              <a:lnSpc>
                <a:spcPct val="140000"/>
              </a:lnSpc>
              <a:spcBef>
                <a:spcPts val="0"/>
              </a:spcBef>
              <a:spcAft>
                <a:spcPts val="600"/>
              </a:spcAft>
            </a:pPr>
            <a:r>
              <a:rPr sz="1700" b="0" i="0">
                <a:solidFill>
                  <a:srgbClr val="BBBBBB"/>
                </a:solidFill>
                <a:latin typeface="Iowan Old Style"/>
              </a:rPr>
              <a:t>Qué letra, de qué tamaño, y a cuánta distancia una línea de otra.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las propiedades de la letra</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En font-family pones varias separadas por comas: el navegador usa la primera que encuentre instalada. Por eso serif va al final, como comodín.</a:t>
            </a:r>
          </a:p>
          <a:p>
            <a:pPr>
              <a:lnSpc>
                <a:spcPct val="142000"/>
              </a:lnSpc>
              <a:spcBef>
                <a:spcPts val="0"/>
              </a:spcBef>
              <a:spcAft>
                <a:spcPts val="900"/>
              </a:spcAft>
            </a:pPr>
            <a:r>
              <a:rPr sz="1500" b="0" i="0">
                <a:solidFill>
                  <a:srgbClr val="444444"/>
                </a:solidFill>
                <a:latin typeface="Iowan Old Style"/>
              </a:rPr>
              <a:t>line-height de 1.5 a 1.6 para texto largo. Es el ajuste que más cambia la sensación de una web y el que más se olvida.</a:t>
            </a:r>
          </a:p>
          <a:p>
            <a:pPr>
              <a:lnSpc>
                <a:spcPct val="125000"/>
              </a:lnSpc>
              <a:spcBef>
                <a:spcPts val="1000"/>
              </a:spcBef>
              <a:spcAft>
                <a:spcPts val="300"/>
              </a:spcAft>
            </a:pPr>
            <a:r>
              <a:rPr sz="1000" b="0" i="0" spc="300">
                <a:solidFill>
                  <a:srgbClr val="8A8A8A"/>
                </a:solidFill>
                <a:latin typeface="Menlo"/>
              </a:rPr>
              <a:t>TIPOGRAFÍAS DESCARGADAS</a:t>
            </a:r>
          </a:p>
          <a:p>
            <a:pPr>
              <a:lnSpc>
                <a:spcPct val="140000"/>
              </a:lnSpc>
              <a:spcBef>
                <a:spcPts val="0"/>
              </a:spcBef>
              <a:spcAft>
                <a:spcPts val="800"/>
              </a:spcAft>
            </a:pPr>
            <a:r>
              <a:rPr sz="1400" b="0" i="0">
                <a:solidFill>
                  <a:srgbClr val="444444"/>
                </a:solidFill>
                <a:latin typeface="Iowan Old Style"/>
              </a:rPr>
              <a:t>Puedes descargar la tipografía y servirla desde tu carpeta en vez de llamar a Google Fonts en cada visita. Carga más rápido y no le cuentas a nadie quién visita tu web.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las propiedades de la letra</a:t>
            </a:r>
          </a:p>
        </p:txBody>
      </p:sp>
      <p:sp>
        <p:nvSpPr>
          <p:cNvPr id="5" name="Rectangle 4"/>
          <p:cNvSpPr/>
          <p:nvPr/>
        </p:nvSpPr>
        <p:spPr>
          <a:xfrm>
            <a:off x="777240" y="1874520"/>
            <a:ext cx="10637215" cy="214883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74650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font-family: "Iowan Old Style", Georgia, serif;</a:t>
            </a:r>
          </a:p>
          <a:p>
            <a:pPr>
              <a:lnSpc>
                <a:spcPct val="132000"/>
              </a:lnSpc>
              <a:spcBef>
                <a:spcPts val="0"/>
              </a:spcBef>
              <a:spcAft>
                <a:spcPts val="0"/>
              </a:spcAft>
            </a:pPr>
            <a:r>
              <a:rPr sz="1600" b="0" i="0">
                <a:solidFill>
                  <a:srgbClr val="0A0A0A"/>
                </a:solidFill>
                <a:latin typeface="Menlo"/>
              </a:rPr>
              <a:t>font-size: 18px;</a:t>
            </a:r>
          </a:p>
          <a:p>
            <a:pPr>
              <a:lnSpc>
                <a:spcPct val="132000"/>
              </a:lnSpc>
              <a:spcBef>
                <a:spcPts val="0"/>
              </a:spcBef>
              <a:spcAft>
                <a:spcPts val="0"/>
              </a:spcAft>
            </a:pPr>
            <a:r>
              <a:rPr sz="1600" b="0" i="0">
                <a:solidFill>
                  <a:srgbClr val="0A0A0A"/>
                </a:solidFill>
                <a:latin typeface="Menlo"/>
              </a:rPr>
              <a:t>font-weight: bold;</a:t>
            </a:r>
          </a:p>
          <a:p>
            <a:pPr>
              <a:lnSpc>
                <a:spcPct val="132000"/>
              </a:lnSpc>
              <a:spcBef>
                <a:spcPts val="0"/>
              </a:spcBef>
              <a:spcAft>
                <a:spcPts val="0"/>
              </a:spcAft>
            </a:pPr>
            <a:r>
              <a:rPr sz="1600" b="0" i="0">
                <a:solidFill>
                  <a:srgbClr val="0A0A0A"/>
                </a:solidFill>
                <a:latin typeface="Menlo"/>
              </a:rPr>
              <a:t>line-height: 1.6;</a:t>
            </a:r>
          </a:p>
          <a:p>
            <a:pPr>
              <a:lnSpc>
                <a:spcPct val="132000"/>
              </a:lnSpc>
              <a:spcBef>
                <a:spcPts val="0"/>
              </a:spcBef>
              <a:spcAft>
                <a:spcPts val="0"/>
              </a:spcAft>
            </a:pPr>
            <a:r>
              <a:rPr sz="1600" b="0" i="0">
                <a:solidFill>
                  <a:srgbClr val="0A0A0A"/>
                </a:solidFill>
                <a:latin typeface="Menlo"/>
              </a:rPr>
              <a:t>letter-spacing: 0.08em;</a:t>
            </a:r>
          </a:p>
          <a:p>
            <a:pPr>
              <a:lnSpc>
                <a:spcPct val="132000"/>
              </a:lnSpc>
              <a:spcBef>
                <a:spcPts val="0"/>
              </a:spcBef>
              <a:spcAft>
                <a:spcPts val="0"/>
              </a:spcAft>
            </a:pPr>
            <a:r>
              <a:rPr sz="1600" b="0" i="0">
                <a:solidFill>
                  <a:srgbClr val="0A0A0A"/>
                </a:solidFill>
                <a:latin typeface="Menlo"/>
              </a:rPr>
              <a:t>text-transform: uppercase;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01:40 · 20 MINUTOS</a:t>
            </a:r>
          </a:p>
          <a:p>
            <a:pPr>
              <a:lnSpc>
                <a:spcPct val="110000"/>
              </a:lnSpc>
              <a:spcBef>
                <a:spcPts val="0"/>
              </a:spcBef>
              <a:spcAft>
                <a:spcPts val="1800"/>
              </a:spcAft>
            </a:pPr>
            <a:r>
              <a:rPr sz="4000" b="0" i="0">
                <a:solidFill>
                  <a:srgbClr val="FFFFFF"/>
                </a:solidFill>
                <a:latin typeface="Inknut Antiqua"/>
              </a:rPr>
              <a:t>color</a:t>
            </a:r>
          </a:p>
          <a:p>
            <a:pPr>
              <a:lnSpc>
                <a:spcPct val="140000"/>
              </a:lnSpc>
              <a:spcBef>
                <a:spcPts val="0"/>
              </a:spcBef>
              <a:spcAft>
                <a:spcPts val="600"/>
              </a:spcAft>
            </a:pPr>
            <a:r>
              <a:rPr sz="1700" b="0" i="0">
                <a:solidFill>
                  <a:srgbClr val="BBBBBB"/>
                </a:solidFill>
                <a:latin typeface="Iowan Old Style"/>
              </a:rPr>
              <a:t>Dos colores bien elegidos bastan. El tercero, solo para una cosa.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01:40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dos colores y un acento</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Un fondo, una tinta, y un acento que aparece poco. Con eso está montada casi cualquier web de artista.</a:t>
            </a:r>
          </a:p>
          <a:p>
            <a:pPr>
              <a:lnSpc>
                <a:spcPct val="142000"/>
              </a:lnSpc>
              <a:spcBef>
                <a:spcPts val="0"/>
              </a:spcBef>
              <a:spcAft>
                <a:spcPts val="900"/>
              </a:spcAft>
            </a:pPr>
            <a:r>
              <a:rPr sz="1500" b="0" i="0">
                <a:solidFill>
                  <a:srgbClr val="444444"/>
                </a:solidFill>
                <a:latin typeface="Iowan Old Style"/>
              </a:rPr>
              <a:t>Negro puro sobre blanco puro cansa la vista. Baja un poco los dos: un blanco con algo de calidez y un negro que en realidad sea azul muy oscuro.</a:t>
            </a:r>
          </a:p>
          <a:p>
            <a:pPr>
              <a:lnSpc>
                <a:spcPct val="125000"/>
              </a:lnSpc>
              <a:spcBef>
                <a:spcPts val="1000"/>
              </a:spcBef>
              <a:spcAft>
                <a:spcPts val="300"/>
              </a:spcAft>
            </a:pPr>
            <a:r>
              <a:rPr sz="1000" b="0" i="0" spc="300">
                <a:solidFill>
                  <a:srgbClr val="887000"/>
                </a:solidFill>
                <a:latin typeface="Menlo"/>
              </a:rPr>
              <a:t>CONTRASTE</a:t>
            </a:r>
          </a:p>
          <a:p>
            <a:pPr>
              <a:lnSpc>
                <a:spcPct val="140000"/>
              </a:lnSpc>
              <a:spcBef>
                <a:spcPts val="0"/>
              </a:spcBef>
              <a:spcAft>
                <a:spcPts val="800"/>
              </a:spcAft>
            </a:pPr>
            <a:r>
              <a:rPr sz="1400" b="1" i="0">
                <a:solidFill>
                  <a:srgbClr val="0A0A0A"/>
                </a:solidFill>
                <a:latin typeface="Iowan Old Style"/>
              </a:rPr>
              <a:t>Si el texto no se lee con el móvil al sol, no se lee. Gris claro sobre blanco es la manera más común de hacer una web bonita e ilegible. Compruébalo en webaim.org/resources/contrastchecker: busca 4.5 o más para el texto normal.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01:40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dos colores y un acento</a:t>
            </a:r>
          </a:p>
        </p:txBody>
      </p:sp>
      <p:sp>
        <p:nvSpPr>
          <p:cNvPr id="5" name="Rectangle 4"/>
          <p:cNvSpPr/>
          <p:nvPr/>
        </p:nvSpPr>
        <p:spPr>
          <a:xfrm>
            <a:off x="777240" y="1874520"/>
            <a:ext cx="10637215" cy="269748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229514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body {</a:t>
            </a:r>
          </a:p>
          <a:p>
            <a:pPr>
              <a:lnSpc>
                <a:spcPct val="132000"/>
              </a:lnSpc>
              <a:spcBef>
                <a:spcPts val="0"/>
              </a:spcBef>
              <a:spcAft>
                <a:spcPts val="0"/>
              </a:spcAft>
            </a:pPr>
            <a:r>
              <a:rPr sz="1600" b="0" i="0">
                <a:solidFill>
                  <a:srgbClr val="0A0A0A"/>
                </a:solidFill>
                <a:latin typeface="Menlo"/>
              </a:rPr>
              <a:t>  background-color: #FBFAF7;</a:t>
            </a:r>
          </a:p>
          <a:p>
            <a:pPr>
              <a:lnSpc>
                <a:spcPct val="132000"/>
              </a:lnSpc>
              <a:spcBef>
                <a:spcPts val="0"/>
              </a:spcBef>
              <a:spcAft>
                <a:spcPts val="0"/>
              </a:spcAft>
            </a:pPr>
            <a:r>
              <a:rPr sz="1600" b="0" i="0">
                <a:solidFill>
                  <a:srgbClr val="0A0A0A"/>
                </a:solidFill>
                <a:latin typeface="Menlo"/>
              </a:rPr>
              <a:t>  color: #12233A;</a:t>
            </a:r>
          </a:p>
          <a:p>
            <a:pPr>
              <a:lnSpc>
                <a:spcPct val="132000"/>
              </a:lnSpc>
              <a:spcBef>
                <a:spcPts val="0"/>
              </a:spcBef>
              <a:spcAft>
                <a:spcPts val="0"/>
              </a:spcAft>
            </a:pPr>
            <a:r>
              <a:rPr sz="1600" b="0" i="0">
                <a:solidFill>
                  <a:srgbClr val="0A0A0A"/>
                </a:solidFill>
                <a:latin typeface="Menlo"/>
              </a:rPr>
              <a:t>}</a:t>
            </a:r>
          </a:p>
          <a:p>
            <a:pPr>
              <a:lnSpc>
                <a:spcPct val="132000"/>
              </a:lnSpc>
              <a:spcBef>
                <a:spcPts val="0"/>
              </a:spcBef>
              <a:spcAft>
                <a:spcPts val="0"/>
              </a:spcAft>
            </a:pPr>
            <a:r>
              <a:rPr sz="1600" b="0" i="0">
                <a:solidFill>
                  <a:srgbClr val="0A0A0A"/>
                </a:solidFill>
                <a:latin typeface="Menlo"/>
              </a:rPr>
              <a:t> </a:t>
            </a:r>
          </a:p>
          <a:p>
            <a:pPr>
              <a:lnSpc>
                <a:spcPct val="132000"/>
              </a:lnSpc>
              <a:spcBef>
                <a:spcPts val="0"/>
              </a:spcBef>
              <a:spcAft>
                <a:spcPts val="0"/>
              </a:spcAft>
            </a:pPr>
            <a:r>
              <a:rPr sz="1600" b="0" i="0">
                <a:solidFill>
                  <a:srgbClr val="0A0A0A"/>
                </a:solidFill>
                <a:latin typeface="Menlo"/>
              </a:rPr>
              <a:t>a:hover {</a:t>
            </a:r>
          </a:p>
          <a:p>
            <a:pPr>
              <a:lnSpc>
                <a:spcPct val="132000"/>
              </a:lnSpc>
              <a:spcBef>
                <a:spcPts val="0"/>
              </a:spcBef>
              <a:spcAft>
                <a:spcPts val="0"/>
              </a:spcAft>
            </a:pPr>
            <a:r>
              <a:rPr sz="1600" b="0" i="0">
                <a:solidFill>
                  <a:srgbClr val="0A0A0A"/>
                </a:solidFill>
                <a:latin typeface="Menlo"/>
              </a:rPr>
              <a:t>  background-color: #F2E94E;</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02:05 · 20 MINUTOS</a:t>
            </a:r>
          </a:p>
          <a:p>
            <a:pPr>
              <a:lnSpc>
                <a:spcPct val="110000"/>
              </a:lnSpc>
              <a:spcBef>
                <a:spcPts val="0"/>
              </a:spcBef>
              <a:spcAft>
                <a:spcPts val="1800"/>
              </a:spcAft>
            </a:pPr>
            <a:r>
              <a:rPr sz="4000" b="0" i="0">
                <a:solidFill>
                  <a:srgbClr val="0A0A0A"/>
                </a:solidFill>
                <a:latin typeface="Inknut Antiqua"/>
              </a:rPr>
              <a:t>ejercicio 5 · titulares y menú</a:t>
            </a:r>
          </a:p>
          <a:p>
            <a:pPr>
              <a:lnSpc>
                <a:spcPct val="140000"/>
              </a:lnSpc>
              <a:spcBef>
                <a:spcPts val="0"/>
              </a:spcBef>
              <a:spcAft>
                <a:spcPts val="600"/>
              </a:spcAft>
            </a:pPr>
            <a:r>
              <a:rPr sz="1700" b="0" i="0">
                <a:solidFill>
                  <a:srgbClr val="33300A"/>
                </a:solidFill>
                <a:latin typeface="Iowan Old Style"/>
              </a:rPr>
              <a:t>Segunda capa: la jerarquía de titulares, el menú en fila y separar los bloques.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5   ·   20 MIN</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capas 3, 4 y 5</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40000"/>
              </a:lnSpc>
              <a:spcBef>
                <a:spcPts val="0"/>
              </a:spcBef>
              <a:spcAft>
                <a:spcPts val="500"/>
              </a:spcAft>
            </a:pPr>
            <a:r>
              <a:rPr sz="1450" b="0" i="0">
                <a:solidFill>
                  <a:srgbClr val="444444"/>
                </a:solidFill>
                <a:latin typeface="Iowan Old Style"/>
              </a:rPr>
              <a:t>☐  Tamaño de h1, h2 y h3. Que se note la diferencia.</a:t>
            </a:r>
          </a:p>
          <a:p>
            <a:pPr>
              <a:lnSpc>
                <a:spcPct val="140000"/>
              </a:lnSpc>
              <a:spcBef>
                <a:spcPts val="0"/>
              </a:spcBef>
              <a:spcAft>
                <a:spcPts val="500"/>
              </a:spcAft>
            </a:pPr>
            <a:r>
              <a:rPr sz="1450" b="0" i="0">
                <a:solidFill>
                  <a:srgbClr val="444444"/>
                </a:solidFill>
                <a:latin typeface="Iowan Old Style"/>
              </a:rPr>
              <a:t>☐  font-weight y, si quieres, letter-spacing negativo en el h1.</a:t>
            </a:r>
          </a:p>
          <a:p>
            <a:pPr>
              <a:lnSpc>
                <a:spcPct val="140000"/>
              </a:lnSpc>
              <a:spcBef>
                <a:spcPts val="0"/>
              </a:spcBef>
              <a:spcAft>
                <a:spcPts val="500"/>
              </a:spcAft>
            </a:pPr>
            <a:r>
              <a:rPr sz="1450" b="0" i="0">
                <a:solidFill>
                  <a:srgbClr val="444444"/>
                </a:solidFill>
                <a:latin typeface="Iowan Old Style"/>
              </a:rPr>
              <a:t>☐  display: flex y gap en nav.</a:t>
            </a:r>
          </a:p>
          <a:p>
            <a:pPr>
              <a:lnSpc>
                <a:spcPct val="140000"/>
              </a:lnSpc>
              <a:spcBef>
                <a:spcPts val="0"/>
              </a:spcBef>
              <a:spcAft>
                <a:spcPts val="500"/>
              </a:spcAft>
            </a:pPr>
            <a:r>
              <a:rPr sz="1450" b="0" i="0">
                <a:solidFill>
                  <a:srgbClr val="444444"/>
                </a:solidFill>
                <a:latin typeface="Iowan Old Style"/>
              </a:rPr>
              <a:t>☐  Quitar el subrayado con text-decoration: none.</a:t>
            </a:r>
          </a:p>
          <a:p>
            <a:pPr>
              <a:lnSpc>
                <a:spcPct val="140000"/>
              </a:lnSpc>
              <a:spcBef>
                <a:spcPts val="0"/>
              </a:spcBef>
              <a:spcAft>
                <a:spcPts val="500"/>
              </a:spcAft>
            </a:pPr>
            <a:r>
              <a:rPr sz="1450" b="0" i="0">
                <a:solidFill>
                  <a:srgbClr val="444444"/>
                </a:solidFill>
                <a:latin typeface="Iowan Old Style"/>
              </a:rPr>
              <a:t>☐  Un :hover que se note.</a:t>
            </a:r>
          </a:p>
          <a:p>
            <a:pPr>
              <a:lnSpc>
                <a:spcPct val="140000"/>
              </a:lnSpc>
              <a:spcBef>
                <a:spcPts val="0"/>
              </a:spcBef>
              <a:spcAft>
                <a:spcPts val="500"/>
              </a:spcAft>
            </a:pPr>
            <a:r>
              <a:rPr sz="1450" b="0" i="0">
                <a:solidFill>
                  <a:srgbClr val="444444"/>
                </a:solidFill>
                <a:latin typeface="Iowan Old Style"/>
              </a:rPr>
              <a:t>☐  margin-bottom en article.</a:t>
            </a:r>
          </a:p>
          <a:p>
            <a:pPr>
              <a:lnSpc>
                <a:spcPct val="140000"/>
              </a:lnSpc>
              <a:spcBef>
                <a:spcPts val="0"/>
              </a:spcBef>
              <a:spcAft>
                <a:spcPts val="500"/>
              </a:spcAft>
            </a:pPr>
            <a:r>
              <a:rPr sz="1450" b="0" i="0">
                <a:solidFill>
                  <a:srgbClr val="444444"/>
                </a:solidFill>
                <a:latin typeface="Iowan Old Style"/>
              </a:rPr>
              <a:t>☐  Una border-bottom fina entre proyectos.</a:t>
            </a:r>
          </a:p>
          <a:p>
            <a:pPr>
              <a:lnSpc>
                <a:spcPct val="140000"/>
              </a:lnSpc>
              <a:spcBef>
                <a:spcPts val="0"/>
              </a:spcBef>
              <a:spcAft>
                <a:spcPts val="500"/>
              </a:spcAft>
            </a:pPr>
            <a:r>
              <a:rPr sz="1450" b="0" i="0">
                <a:solidFill>
                  <a:srgbClr val="444444"/>
                </a:solidFill>
                <a:latin typeface="Iowan Old Style"/>
              </a:rPr>
              <a:t>☐  Aire arriba y abajo del footer.</a:t>
            </a:r>
          </a:p>
          <a:p>
            <a:pPr>
              <a:lnSpc>
                <a:spcPct val="125000"/>
              </a:lnSpc>
              <a:spcBef>
                <a:spcPts val="1000"/>
              </a:spcBef>
              <a:spcAft>
                <a:spcPts val="300"/>
              </a:spcAft>
            </a:pPr>
            <a:r>
              <a:rPr sz="1000" b="0" i="0" spc="300">
                <a:solidFill>
                  <a:srgbClr val="887000"/>
                </a:solidFill>
                <a:latin typeface="Menlo"/>
              </a:rPr>
              <a:t>LA FORMA DE APRENDER ESTO</a:t>
            </a:r>
          </a:p>
          <a:p>
            <a:pPr>
              <a:lnSpc>
                <a:spcPct val="140000"/>
              </a:lnSpc>
              <a:spcBef>
                <a:spcPts val="0"/>
              </a:spcBef>
              <a:spcAft>
                <a:spcPts val="800"/>
              </a:spcAft>
            </a:pPr>
            <a:r>
              <a:rPr sz="1400" b="1" i="0">
                <a:solidFill>
                  <a:srgbClr val="0A0A0A"/>
                </a:solidFill>
                <a:latin typeface="Iowan Old Style"/>
              </a:rPr>
              <a:t>No es memorizar la chuleta: es cambiar un número, guardar, recargar y mirar. Cuarenta veces. No se rompe nada.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02:00 · 20 MINUTOS</a:t>
            </a:r>
          </a:p>
          <a:p>
            <a:pPr>
              <a:lnSpc>
                <a:spcPct val="110000"/>
              </a:lnSpc>
              <a:spcBef>
                <a:spcPts val="0"/>
              </a:spcBef>
              <a:spcAft>
                <a:spcPts val="1800"/>
              </a:spcAft>
            </a:pPr>
            <a:r>
              <a:rPr sz="4000" b="0" i="0">
                <a:solidFill>
                  <a:srgbClr val="FFFFFF"/>
                </a:solidFill>
                <a:latin typeface="Inknut Antiqua"/>
              </a:rPr>
              <a:t>composición</a:t>
            </a:r>
          </a:p>
          <a:p>
            <a:pPr>
              <a:lnSpc>
                <a:spcPct val="140000"/>
              </a:lnSpc>
              <a:spcBef>
                <a:spcPts val="0"/>
              </a:spcBef>
              <a:spcAft>
                <a:spcPts val="600"/>
              </a:spcAft>
            </a:pPr>
            <a:r>
              <a:rPr sz="1700" b="0" i="0">
                <a:solidFill>
                  <a:srgbClr val="BBBBBB"/>
                </a:solidFill>
                <a:latin typeface="Iowan Old Style"/>
              </a:rPr>
              <a:t>Ancho de columna, el menú en fila, y separar los bloques.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una columna que se lee</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max-width pone un tope al ancho. margin: 0 auto reparte el espacio sobrante a los dos lados por igual, así que centra el bloque.</a:t>
            </a:r>
          </a:p>
          <a:p>
            <a:pPr>
              <a:lnSpc>
                <a:spcPct val="125000"/>
              </a:lnSpc>
              <a:spcBef>
                <a:spcPts val="1000"/>
              </a:spcBef>
              <a:spcAft>
                <a:spcPts val="300"/>
              </a:spcAft>
            </a:pPr>
            <a:r>
              <a:rPr sz="1000" b="0" i="0" spc="300">
                <a:solidFill>
                  <a:srgbClr val="8A8A8A"/>
                </a:solidFill>
                <a:latin typeface="Menlo"/>
              </a:rPr>
              <a:t>POR QUÉ IMPORTA</a:t>
            </a:r>
          </a:p>
          <a:p>
            <a:pPr>
              <a:lnSpc>
                <a:spcPct val="140000"/>
              </a:lnSpc>
              <a:spcBef>
                <a:spcPts val="0"/>
              </a:spcBef>
              <a:spcAft>
                <a:spcPts val="800"/>
              </a:spcAft>
            </a:pPr>
            <a:r>
              <a:rPr sz="1400" b="0" i="0">
                <a:solidFill>
                  <a:srgbClr val="444444"/>
                </a:solidFill>
                <a:latin typeface="Iowan Old Style"/>
              </a:rPr>
              <a:t>Sin esto, en una pantalla ancha las líneas se hacen larguísimas y al saltar de renglón te pierdes. Entre 60 y 80 caracteres por línea es lo cómodo.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una columna que se lee</a:t>
            </a:r>
          </a:p>
        </p:txBody>
      </p:sp>
      <p:sp>
        <p:nvSpPr>
          <p:cNvPr id="5" name="Rectangle 4"/>
          <p:cNvSpPr/>
          <p:nvPr/>
        </p:nvSpPr>
        <p:spPr>
          <a:xfrm>
            <a:off x="777240" y="1874520"/>
            <a:ext cx="10637215" cy="160020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19786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header, main, footer {</a:t>
            </a:r>
          </a:p>
          <a:p>
            <a:pPr>
              <a:lnSpc>
                <a:spcPct val="132000"/>
              </a:lnSpc>
              <a:spcBef>
                <a:spcPts val="0"/>
              </a:spcBef>
              <a:spcAft>
                <a:spcPts val="0"/>
              </a:spcAft>
            </a:pPr>
            <a:r>
              <a:rPr sz="1600" b="0" i="0">
                <a:solidFill>
                  <a:srgbClr val="0A0A0A"/>
                </a:solidFill>
                <a:latin typeface="Menlo"/>
              </a:rPr>
              <a:t>  max-width: 640px;</a:t>
            </a:r>
          </a:p>
          <a:p>
            <a:pPr>
              <a:lnSpc>
                <a:spcPct val="132000"/>
              </a:lnSpc>
              <a:spcBef>
                <a:spcPts val="0"/>
              </a:spcBef>
              <a:spcAft>
                <a:spcPts val="0"/>
              </a:spcAft>
            </a:pPr>
            <a:r>
              <a:rPr sz="1600" b="0" i="0">
                <a:solidFill>
                  <a:srgbClr val="0A0A0A"/>
                </a:solidFill>
                <a:latin typeface="Menlo"/>
              </a:rPr>
              <a:t>  margin: 0 auto;</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02:00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el menú en fila, y las imágenes</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Y las imágenes, siempre, sin excepción:</a:t>
            </a:r>
          </a:p>
          <a:p>
            <a:pPr>
              <a:lnSpc>
                <a:spcPct val="142000"/>
              </a:lnSpc>
              <a:spcBef>
                <a:spcPts val="0"/>
              </a:spcBef>
              <a:spcAft>
                <a:spcPts val="900"/>
              </a:spcAft>
            </a:pPr>
            <a:r>
              <a:rPr sz="1500" b="0" i="0">
                <a:solidFill>
                  <a:srgbClr val="444444"/>
                </a:solidFill>
                <a:latin typeface="Iowan Old Style"/>
              </a:rPr>
              <a:t>Así una foto enorme nunca se sale de la pantalla, y no se deforma.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el menú en fila, y las imágenes</a:t>
            </a:r>
          </a:p>
        </p:txBody>
      </p:sp>
      <p:sp>
        <p:nvSpPr>
          <p:cNvPr id="5" name="Rectangle 4"/>
          <p:cNvSpPr/>
          <p:nvPr/>
        </p:nvSpPr>
        <p:spPr>
          <a:xfrm>
            <a:off x="777240" y="1874520"/>
            <a:ext cx="10637215" cy="187451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47218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nav {</a:t>
            </a:r>
          </a:p>
          <a:p>
            <a:pPr>
              <a:lnSpc>
                <a:spcPct val="132000"/>
              </a:lnSpc>
              <a:spcBef>
                <a:spcPts val="0"/>
              </a:spcBef>
              <a:spcAft>
                <a:spcPts val="0"/>
              </a:spcAft>
            </a:pPr>
            <a:r>
              <a:rPr sz="1600" b="0" i="0">
                <a:solidFill>
                  <a:srgbClr val="0A0A0A"/>
                </a:solidFill>
                <a:latin typeface="Menlo"/>
              </a:rPr>
              <a:t>  display: flex;       pone los hijos en fila</a:t>
            </a:r>
          </a:p>
          <a:p>
            <a:pPr>
              <a:lnSpc>
                <a:spcPct val="132000"/>
              </a:lnSpc>
              <a:spcBef>
                <a:spcPts val="0"/>
              </a:spcBef>
              <a:spcAft>
                <a:spcPts val="0"/>
              </a:spcAft>
            </a:pPr>
            <a:r>
              <a:rPr sz="1600" b="0" i="0">
                <a:solidFill>
                  <a:srgbClr val="0A0A0A"/>
                </a:solidFill>
                <a:latin typeface="Menlo"/>
              </a:rPr>
              <a:t>  gap: 20px;            separación entre ellos</a:t>
            </a:r>
          </a:p>
          <a:p>
            <a:pPr>
              <a:lnSpc>
                <a:spcPct val="132000"/>
              </a:lnSpc>
              <a:spcBef>
                <a:spcPts val="0"/>
              </a:spcBef>
              <a:spcAft>
                <a:spcPts val="0"/>
              </a:spcAft>
            </a:pPr>
            <a:r>
              <a:rPr sz="1600" b="0" i="0">
                <a:solidFill>
                  <a:srgbClr val="0A0A0A"/>
                </a:solidFill>
                <a:latin typeface="Menlo"/>
              </a:rPr>
              <a:t>  flex-wrap: wrap;     que salten de línea si no caben</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02:00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el menú en fila, y las imágenes</a:t>
            </a:r>
          </a:p>
        </p:txBody>
      </p:sp>
      <p:sp>
        <p:nvSpPr>
          <p:cNvPr id="5" name="Rectangle 4"/>
          <p:cNvSpPr/>
          <p:nvPr/>
        </p:nvSpPr>
        <p:spPr>
          <a:xfrm>
            <a:off x="777240" y="1874520"/>
            <a:ext cx="10637215" cy="1874519"/>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472183"/>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img {</a:t>
            </a:r>
          </a:p>
          <a:p>
            <a:pPr>
              <a:lnSpc>
                <a:spcPct val="132000"/>
              </a:lnSpc>
              <a:spcBef>
                <a:spcPts val="0"/>
              </a:spcBef>
              <a:spcAft>
                <a:spcPts val="0"/>
              </a:spcAft>
            </a:pPr>
            <a:r>
              <a:rPr sz="1600" b="0" i="0">
                <a:solidFill>
                  <a:srgbClr val="0A0A0A"/>
                </a:solidFill>
                <a:latin typeface="Menlo"/>
              </a:rPr>
              <a:t>  max-width: 100%;</a:t>
            </a:r>
          </a:p>
          <a:p>
            <a:pPr>
              <a:lnSpc>
                <a:spcPct val="132000"/>
              </a:lnSpc>
              <a:spcBef>
                <a:spcPts val="0"/>
              </a:spcBef>
              <a:spcAft>
                <a:spcPts val="0"/>
              </a:spcAft>
            </a:pPr>
            <a:r>
              <a:rPr sz="1600" b="0" i="0">
                <a:solidFill>
                  <a:srgbClr val="0A0A0A"/>
                </a:solidFill>
                <a:latin typeface="Menlo"/>
              </a:rPr>
              <a:t>  height: auto;</a:t>
            </a:r>
          </a:p>
          <a:p>
            <a:pPr>
              <a:lnSpc>
                <a:spcPct val="132000"/>
              </a:lnSpc>
              <a:spcBef>
                <a:spcPts val="0"/>
              </a:spcBef>
              <a:spcAft>
                <a:spcPts val="0"/>
              </a:spcAft>
            </a:pPr>
            <a:r>
              <a:rPr sz="1600" b="0" i="0">
                <a:solidFill>
                  <a:srgbClr val="0A0A0A"/>
                </a:solidFill>
                <a:latin typeface="Menlo"/>
              </a:rPr>
              <a:t>  display: block;</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TEORÍA · LO EXPLICO YO</a:t>
            </a:r>
          </a:p>
          <a:p>
            <a:pPr>
              <a:lnSpc>
                <a:spcPct val="125000"/>
              </a:lnSpc>
              <a:spcBef>
                <a:spcPts val="0"/>
              </a:spcBef>
              <a:spcAft>
                <a:spcPts val="2000"/>
              </a:spcAft>
            </a:pPr>
            <a:r>
              <a:rPr sz="1100" b="0" i="0" spc="300">
                <a:solidFill>
                  <a:srgbClr val="8A8A8A"/>
                </a:solidFill>
                <a:latin typeface="Menlo"/>
              </a:rPr>
              <a:t>02:20 · 15 MINUTOS</a:t>
            </a:r>
          </a:p>
          <a:p>
            <a:pPr>
              <a:lnSpc>
                <a:spcPct val="110000"/>
              </a:lnSpc>
              <a:spcBef>
                <a:spcPts val="0"/>
              </a:spcBef>
              <a:spcAft>
                <a:spcPts val="1800"/>
              </a:spcAft>
            </a:pPr>
            <a:r>
              <a:rPr sz="4000" b="0" i="0">
                <a:solidFill>
                  <a:srgbClr val="FFFFFF"/>
                </a:solidFill>
                <a:latin typeface="Inknut Antiqua"/>
              </a:rPr>
              <a:t>que funcione en el móvil</a:t>
            </a:r>
          </a:p>
          <a:p>
            <a:pPr>
              <a:lnSpc>
                <a:spcPct val="140000"/>
              </a:lnSpc>
              <a:spcBef>
                <a:spcPts val="0"/>
              </a:spcBef>
              <a:spcAft>
                <a:spcPts val="600"/>
              </a:spcAft>
            </a:pPr>
            <a:r>
              <a:rPr sz="1700" b="0" i="0">
                <a:solidFill>
                  <a:srgbClr val="BBBBBB"/>
                </a:solidFill>
                <a:latin typeface="Iowan Old Style"/>
              </a:rPr>
              <a:t>Una sola media query, al final del archivo.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02:20</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reglas solo para pantallas pequeñas</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42000"/>
              </a:lnSpc>
              <a:spcBef>
                <a:spcPts val="0"/>
              </a:spcBef>
              <a:spcAft>
                <a:spcPts val="900"/>
              </a:spcAft>
            </a:pPr>
            <a:r>
              <a:rPr sz="1500" b="0" i="0">
                <a:solidFill>
                  <a:srgbClr val="444444"/>
                </a:solidFill>
                <a:latin typeface="Iowan Old Style"/>
              </a:rPr>
              <a:t>Lo de dentro solo se aplica si la pantalla mide 600px o menos. Y pisa a lo de arriba: por eso va siempre al final del archivo. Eso es la cascada.</a:t>
            </a:r>
          </a:p>
          <a:p>
            <a:pPr>
              <a:lnSpc>
                <a:spcPct val="125000"/>
              </a:lnSpc>
              <a:spcBef>
                <a:spcPts val="1000"/>
              </a:spcBef>
              <a:spcAft>
                <a:spcPts val="300"/>
              </a:spcAft>
            </a:pPr>
            <a:r>
              <a:rPr sz="1000" b="0" i="0" spc="300">
                <a:solidFill>
                  <a:srgbClr val="887000"/>
                </a:solidFill>
                <a:latin typeface="Menlo"/>
              </a:rPr>
              <a:t>COMPRUÉBALO ESTRECHANDO LA VENTANA</a:t>
            </a:r>
          </a:p>
          <a:p>
            <a:pPr>
              <a:lnSpc>
                <a:spcPct val="140000"/>
              </a:lnSpc>
              <a:spcBef>
                <a:spcPts val="0"/>
              </a:spcBef>
              <a:spcAft>
                <a:spcPts val="800"/>
              </a:spcAft>
            </a:pPr>
            <a:r>
              <a:rPr sz="1400" b="1" i="0">
                <a:solidFill>
                  <a:srgbClr val="0A0A0A"/>
                </a:solidFill>
                <a:latin typeface="Iowan Old Style"/>
              </a:rPr>
              <a:t>Más directo que el modo dispositivo del inspector, y no hay que explicar nada. Arrastra el borde del navegador hasta que quede como un móvil. Es donde se ve la web casi siempre. Si te falta tiempo hoy, salta la práctica libre pero no saltes esto.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02:20</a:t>
            </a:r>
          </a:p>
        </p:txBody>
      </p:sp>
      <p:sp>
        <p:nvSpPr>
          <p:cNvPr id="4" name="TextBox 3"/>
          <p:cNvSpPr txBox="1"/>
          <p:nvPr/>
        </p:nvSpPr>
        <p:spPr>
          <a:xfrm>
            <a:off x="777240" y="1188720"/>
            <a:ext cx="10637215" cy="548640"/>
          </a:xfrm>
          <a:prstGeom prst="rect">
            <a:avLst/>
          </a:prstGeom>
          <a:noFill/>
        </p:spPr>
        <p:txBody>
          <a:bodyPr wrap="square" lIns="0" rIns="0" tIns="0" bIns="0">
            <a:spAutoFit/>
          </a:bodyPr>
          <a:lstStyle/>
          <a:p>
            <a:pPr>
              <a:lnSpc>
                <a:spcPct val="125000"/>
              </a:lnSpc>
              <a:spcBef>
                <a:spcPts val="0"/>
              </a:spcBef>
              <a:spcAft>
                <a:spcPts val="600"/>
              </a:spcAft>
            </a:pPr>
            <a:r>
              <a:rPr sz="2400" b="0" i="0">
                <a:solidFill>
                  <a:srgbClr val="0A0A0A"/>
                </a:solidFill>
                <a:latin typeface="Inknut Antiqua"/>
              </a:rPr>
              <a:t>reglas solo para pantallas pequeñas</a:t>
            </a:r>
          </a:p>
        </p:txBody>
      </p:sp>
      <p:sp>
        <p:nvSpPr>
          <p:cNvPr id="5" name="Rectangle 4"/>
          <p:cNvSpPr/>
          <p:nvPr/>
        </p:nvSpPr>
        <p:spPr>
          <a:xfrm>
            <a:off x="777240" y="1874520"/>
            <a:ext cx="10637215" cy="1600200"/>
          </a:xfrm>
          <a:prstGeom prst="rect">
            <a:avLst/>
          </a:prstGeom>
          <a:solidFill>
            <a:srgbClr val="F6F6F3"/>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2" y="2075688"/>
            <a:ext cx="10125151" cy="1197864"/>
          </a:xfrm>
          <a:prstGeom prst="rect">
            <a:avLst/>
          </a:prstGeom>
          <a:noFill/>
        </p:spPr>
        <p:txBody>
          <a:bodyPr wrap="square" lIns="0" rIns="0" tIns="0" bIns="0">
            <a:spAutoFit/>
          </a:bodyPr>
          <a:lstStyle/>
          <a:p>
            <a:pPr>
              <a:lnSpc>
                <a:spcPct val="132000"/>
              </a:lnSpc>
              <a:spcBef>
                <a:spcPts val="0"/>
              </a:spcBef>
              <a:spcAft>
                <a:spcPts val="0"/>
              </a:spcAft>
            </a:pPr>
            <a:r>
              <a:rPr sz="1600" b="0" i="0">
                <a:solidFill>
                  <a:srgbClr val="0A0A0A"/>
                </a:solidFill>
                <a:latin typeface="Menlo"/>
              </a:rPr>
              <a:t>@media (max-width: 600px) {</a:t>
            </a:r>
          </a:p>
          <a:p>
            <a:pPr>
              <a:lnSpc>
                <a:spcPct val="132000"/>
              </a:lnSpc>
              <a:spcBef>
                <a:spcPts val="0"/>
              </a:spcBef>
              <a:spcAft>
                <a:spcPts val="0"/>
              </a:spcAft>
            </a:pPr>
            <a:r>
              <a:rPr sz="1600" b="0" i="0">
                <a:solidFill>
                  <a:srgbClr val="0A0A0A"/>
                </a:solidFill>
                <a:latin typeface="Menlo"/>
              </a:rPr>
              <a:t>  body { font-size: 17px; padding: 16px; }</a:t>
            </a:r>
          </a:p>
          <a:p>
            <a:pPr>
              <a:lnSpc>
                <a:spcPct val="132000"/>
              </a:lnSpc>
              <a:spcBef>
                <a:spcPts val="0"/>
              </a:spcBef>
              <a:spcAft>
                <a:spcPts val="0"/>
              </a:spcAft>
            </a:pPr>
            <a:r>
              <a:rPr sz="1600" b="0" i="0">
                <a:solidFill>
                  <a:srgbClr val="0A0A0A"/>
                </a:solidFill>
                <a:latin typeface="Menlo"/>
              </a:rPr>
              <a:t>  h1   { font-size: 27px; }</a:t>
            </a:r>
          </a:p>
          <a:p>
            <a:pPr>
              <a:lnSpc>
                <a:spcPct val="132000"/>
              </a:lnSpc>
              <a:spcBef>
                <a:spcPts val="0"/>
              </a:spcBef>
              <a:spcAft>
                <a:spcPts val="0"/>
              </a:spcAft>
            </a:pPr>
            <a:r>
              <a:rPr sz="1600" b="0" i="0">
                <a:solidFill>
                  <a:srgbClr val="0A0A0A"/>
                </a:solidFill>
                <a:latin typeface="Menlo"/>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9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6A6418"/>
                </a:solidFill>
                <a:latin typeface="Menlo"/>
              </a:rPr>
              <a:t>PRÁCTICA · LO HACÉIS VOSOTRAS</a:t>
            </a:r>
          </a:p>
          <a:p>
            <a:pPr>
              <a:lnSpc>
                <a:spcPct val="125000"/>
              </a:lnSpc>
              <a:spcBef>
                <a:spcPts val="0"/>
              </a:spcBef>
              <a:spcAft>
                <a:spcPts val="2000"/>
              </a:spcAft>
            </a:pPr>
            <a:r>
              <a:rPr sz="1100" b="0" i="0" spc="300">
                <a:solidFill>
                  <a:srgbClr val="6A6418"/>
                </a:solidFill>
                <a:latin typeface="Menlo"/>
              </a:rPr>
              <a:t>02:35 · 25 MINUTOS</a:t>
            </a:r>
          </a:p>
          <a:p>
            <a:pPr>
              <a:lnSpc>
                <a:spcPct val="110000"/>
              </a:lnSpc>
              <a:spcBef>
                <a:spcPts val="0"/>
              </a:spcBef>
              <a:spcAft>
                <a:spcPts val="1800"/>
              </a:spcAft>
            </a:pPr>
            <a:r>
              <a:rPr sz="4000" b="0" i="0">
                <a:solidFill>
                  <a:srgbClr val="0A0A0A"/>
                </a:solidFill>
                <a:latin typeface="Inknut Antiqua"/>
              </a:rPr>
              <a:t>ejercicio 5 · el móvil, y libre</a:t>
            </a:r>
          </a:p>
          <a:p>
            <a:pPr>
              <a:lnSpc>
                <a:spcPct val="140000"/>
              </a:lnSpc>
              <a:spcBef>
                <a:spcPts val="0"/>
              </a:spcBef>
              <a:spcAft>
                <a:spcPts val="600"/>
              </a:spcAft>
            </a:pPr>
            <a:r>
              <a:rPr sz="1700" b="0" i="0">
                <a:solidFill>
                  <a:srgbClr val="33300A"/>
                </a:solidFill>
                <a:latin typeface="Iowan Old Style"/>
              </a:rPr>
              <a:t>Última capa: la media query. Y después, tocad lo que queráis mientras resuelvo dudas.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D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7C14"/>
                </a:solidFill>
                <a:latin typeface="Menlo"/>
              </a:rPr>
              <a:t>PRÁCTICA</a:t>
            </a:r>
          </a:p>
        </p:txBody>
      </p:sp>
      <p:sp>
        <p:nvSpPr>
          <p:cNvPr id="5" name="TextBox 4"/>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EJERCICIO 5   ·   A LO LARGO DE LA SESIÓN</a:t>
            </a:r>
          </a:p>
        </p:txBody>
      </p:sp>
      <p:sp>
        <p:nvSpPr>
          <p:cNvPr id="6" name="Rectangle 5"/>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capa 6 · el móvil</a:t>
            </a:r>
          </a:p>
        </p:txBody>
      </p:sp>
      <p:sp>
        <p:nvSpPr>
          <p:cNvPr id="8" name="TextBox 7"/>
          <p:cNvSpPr txBox="1"/>
          <p:nvPr/>
        </p:nvSpPr>
        <p:spPr>
          <a:xfrm>
            <a:off x="777240" y="2057400"/>
            <a:ext cx="10637215" cy="4251960"/>
          </a:xfrm>
          <a:prstGeom prst="rect">
            <a:avLst/>
          </a:prstGeom>
          <a:noFill/>
        </p:spPr>
        <p:txBody>
          <a:bodyPr wrap="square" lIns="0" rIns="0" tIns="0" bIns="0">
            <a:spAutoFit/>
          </a:bodyPr>
          <a:lstStyle/>
          <a:p>
            <a:pPr>
              <a:lnSpc>
                <a:spcPct val="133480"/>
              </a:lnSpc>
              <a:spcBef>
                <a:spcPts val="0"/>
              </a:spcBef>
              <a:spcAft>
                <a:spcPts val="598"/>
              </a:spcAft>
            </a:pPr>
            <a:r>
              <a:rPr sz="998" b="0" i="0">
                <a:solidFill>
                  <a:srgbClr val="444444"/>
                </a:solidFill>
                <a:latin typeface="Iowan Old Style"/>
              </a:rPr>
              <a:t>Trabaja siempre sobre estilo.css. Ve en este orden: si empiezas por los detalles, luego cambias la base y se descuadra todo.</a:t>
            </a:r>
          </a:p>
          <a:p>
            <a:pPr>
              <a:lnSpc>
                <a:spcPct val="131600"/>
              </a:lnSpc>
              <a:spcBef>
                <a:spcPts val="0"/>
              </a:spcBef>
              <a:spcAft>
                <a:spcPts val="332"/>
              </a:spcAft>
            </a:pPr>
            <a:r>
              <a:rPr sz="964" b="0" i="0">
                <a:solidFill>
                  <a:srgbClr val="444444"/>
                </a:solidFill>
                <a:latin typeface="Iowan Old Style"/>
              </a:rPr>
              <a:t>☐  background-color y color en body.</a:t>
            </a:r>
          </a:p>
          <a:p>
            <a:pPr>
              <a:lnSpc>
                <a:spcPct val="131600"/>
              </a:lnSpc>
              <a:spcBef>
                <a:spcPts val="0"/>
              </a:spcBef>
              <a:spcAft>
                <a:spcPts val="332"/>
              </a:spcAft>
            </a:pPr>
            <a:r>
              <a:rPr sz="964" b="0" i="0">
                <a:solidFill>
                  <a:srgbClr val="444444"/>
                </a:solidFill>
                <a:latin typeface="Iowan Old Style"/>
              </a:rPr>
              <a:t>☐  font-family: con remates (serif) o sin ellos (sans-serif).</a:t>
            </a:r>
          </a:p>
          <a:p>
            <a:pPr>
              <a:lnSpc>
                <a:spcPct val="131600"/>
              </a:lnSpc>
              <a:spcBef>
                <a:spcPts val="0"/>
              </a:spcBef>
              <a:spcAft>
                <a:spcPts val="332"/>
              </a:spcAft>
            </a:pPr>
            <a:r>
              <a:rPr sz="964" b="0" i="0">
                <a:solidFill>
                  <a:srgbClr val="444444"/>
                </a:solidFill>
                <a:latin typeface="Iowan Old Style"/>
              </a:rPr>
              <a:t>☐  font-size y line-height. Prueba 17, 18 y 20px y quédate con el que te canse menos.</a:t>
            </a:r>
          </a:p>
          <a:p>
            <a:pPr>
              <a:lnSpc>
                <a:spcPct val="131600"/>
              </a:lnSpc>
              <a:spcBef>
                <a:spcPts val="0"/>
              </a:spcBef>
              <a:spcAft>
                <a:spcPts val="332"/>
              </a:spcAft>
            </a:pPr>
            <a:r>
              <a:rPr sz="964" b="0" i="0">
                <a:solidFill>
                  <a:srgbClr val="444444"/>
                </a:solidFill>
                <a:latin typeface="Iowan Old Style"/>
              </a:rPr>
              <a:t>☐  max-width y margin: 0 auto en header, main y footer.</a:t>
            </a:r>
          </a:p>
          <a:p>
            <a:pPr>
              <a:lnSpc>
                <a:spcPct val="131600"/>
              </a:lnSpc>
              <a:spcBef>
                <a:spcPts val="0"/>
              </a:spcBef>
              <a:spcAft>
                <a:spcPts val="332"/>
              </a:spcAft>
            </a:pPr>
            <a:r>
              <a:rPr sz="964" b="0" i="0">
                <a:solidFill>
                  <a:srgbClr val="444444"/>
                </a:solidFill>
                <a:latin typeface="Iowan Old Style"/>
              </a:rPr>
              <a:t>☐  Prueba 500px, 640px y 900px. Fíjate en cuál se lee mejor, no en cuál llena más.</a:t>
            </a:r>
          </a:p>
          <a:p>
            <a:pPr>
              <a:lnSpc>
                <a:spcPct val="131600"/>
              </a:lnSpc>
              <a:spcBef>
                <a:spcPts val="0"/>
              </a:spcBef>
              <a:spcAft>
                <a:spcPts val="332"/>
              </a:spcAft>
            </a:pPr>
            <a:r>
              <a:rPr sz="964" b="0" i="0">
                <a:solidFill>
                  <a:srgbClr val="444444"/>
                </a:solidFill>
                <a:latin typeface="Iowan Old Style"/>
              </a:rPr>
              <a:t>☐  Tamaño de h1, h2 y h3. Que se note la diferencia.</a:t>
            </a:r>
          </a:p>
          <a:p>
            <a:pPr>
              <a:lnSpc>
                <a:spcPct val="131600"/>
              </a:lnSpc>
              <a:spcBef>
                <a:spcPts val="0"/>
              </a:spcBef>
              <a:spcAft>
                <a:spcPts val="332"/>
              </a:spcAft>
            </a:pPr>
            <a:r>
              <a:rPr sz="964" b="0" i="0">
                <a:solidFill>
                  <a:srgbClr val="444444"/>
                </a:solidFill>
                <a:latin typeface="Iowan Old Style"/>
              </a:rPr>
              <a:t>☐  font-weight y, si quieres, letter-spacing negativo en el h1.</a:t>
            </a:r>
          </a:p>
          <a:p>
            <a:pPr>
              <a:lnSpc>
                <a:spcPct val="131600"/>
              </a:lnSpc>
              <a:spcBef>
                <a:spcPts val="0"/>
              </a:spcBef>
              <a:spcAft>
                <a:spcPts val="332"/>
              </a:spcAft>
            </a:pPr>
            <a:r>
              <a:rPr sz="964" b="0" i="0">
                <a:solidFill>
                  <a:srgbClr val="444444"/>
                </a:solidFill>
                <a:latin typeface="Iowan Old Style"/>
              </a:rPr>
              <a:t>☐  display: flex y gap en nav.</a:t>
            </a:r>
          </a:p>
          <a:p>
            <a:pPr>
              <a:lnSpc>
                <a:spcPct val="131600"/>
              </a:lnSpc>
              <a:spcBef>
                <a:spcPts val="0"/>
              </a:spcBef>
              <a:spcAft>
                <a:spcPts val="332"/>
              </a:spcAft>
            </a:pPr>
            <a:r>
              <a:rPr sz="964" b="0" i="0">
                <a:solidFill>
                  <a:srgbClr val="444444"/>
                </a:solidFill>
                <a:latin typeface="Iowan Old Style"/>
              </a:rPr>
              <a:t>☐  Quitar el subrayado con text-decoration: none.</a:t>
            </a:r>
          </a:p>
          <a:p>
            <a:pPr>
              <a:lnSpc>
                <a:spcPct val="131600"/>
              </a:lnSpc>
              <a:spcBef>
                <a:spcPts val="0"/>
              </a:spcBef>
              <a:spcAft>
                <a:spcPts val="332"/>
              </a:spcAft>
            </a:pPr>
            <a:r>
              <a:rPr sz="964" b="0" i="0">
                <a:solidFill>
                  <a:srgbClr val="444444"/>
                </a:solidFill>
                <a:latin typeface="Iowan Old Style"/>
              </a:rPr>
              <a:t>☐  Un :hover que se note.</a:t>
            </a:r>
          </a:p>
          <a:p>
            <a:pPr>
              <a:lnSpc>
                <a:spcPct val="131600"/>
              </a:lnSpc>
              <a:spcBef>
                <a:spcPts val="0"/>
              </a:spcBef>
              <a:spcAft>
                <a:spcPts val="332"/>
              </a:spcAft>
            </a:pPr>
            <a:r>
              <a:rPr sz="964" b="0" i="0">
                <a:solidFill>
                  <a:srgbClr val="444444"/>
                </a:solidFill>
                <a:latin typeface="Iowan Old Style"/>
              </a:rPr>
              <a:t>☐  margin-bottom en article.</a:t>
            </a:r>
          </a:p>
          <a:p>
            <a:pPr>
              <a:lnSpc>
                <a:spcPct val="131600"/>
              </a:lnSpc>
              <a:spcBef>
                <a:spcPts val="0"/>
              </a:spcBef>
              <a:spcAft>
                <a:spcPts val="332"/>
              </a:spcAft>
            </a:pPr>
            <a:r>
              <a:rPr sz="964" b="0" i="0">
                <a:solidFill>
                  <a:srgbClr val="444444"/>
                </a:solidFill>
                <a:latin typeface="Iowan Old Style"/>
              </a:rPr>
              <a:t>☐  Una border-bottom fina entre proyectos.</a:t>
            </a:r>
          </a:p>
          <a:p>
            <a:pPr>
              <a:lnSpc>
                <a:spcPct val="131600"/>
              </a:lnSpc>
              <a:spcBef>
                <a:spcPts val="0"/>
              </a:spcBef>
              <a:spcAft>
                <a:spcPts val="332"/>
              </a:spcAft>
            </a:pPr>
            <a:r>
              <a:rPr sz="964" b="0" i="0">
                <a:solidFill>
                  <a:srgbClr val="444444"/>
                </a:solidFill>
                <a:latin typeface="Iowan Old Style"/>
              </a:rPr>
              <a:t>☐  Aire arriba y abajo del footer.</a:t>
            </a:r>
          </a:p>
          <a:p>
            <a:pPr>
              <a:lnSpc>
                <a:spcPct val="131600"/>
              </a:lnSpc>
              <a:spcBef>
                <a:spcPts val="0"/>
              </a:spcBef>
              <a:spcAft>
                <a:spcPts val="332"/>
              </a:spcAft>
            </a:pPr>
            <a:r>
              <a:rPr sz="964" b="0" i="0">
                <a:solidFill>
                  <a:srgbClr val="444444"/>
                </a:solidFill>
                <a:latin typeface="Iowan Old Style"/>
              </a:rPr>
              <a:t>☐  Una @media (max-width: 600px) al final del archivo.</a:t>
            </a:r>
          </a:p>
          <a:p>
            <a:pPr>
              <a:lnSpc>
                <a:spcPct val="131600"/>
              </a:lnSpc>
              <a:spcBef>
                <a:spcPts val="0"/>
              </a:spcBef>
              <a:spcAft>
                <a:spcPts val="332"/>
              </a:spcAft>
            </a:pPr>
            <a:r>
              <a:rPr sz="964" b="0" i="0">
                <a:solidFill>
                  <a:srgbClr val="444444"/>
                </a:solidFill>
                <a:latin typeface="Iowan Old Style"/>
              </a:rPr>
              <a:t>☐  Dentro: bajar font-size del body y del h1, y reducir el padding.</a:t>
            </a:r>
          </a:p>
          <a:p>
            <a:pPr>
              <a:lnSpc>
                <a:spcPct val="117500"/>
              </a:lnSpc>
              <a:spcBef>
                <a:spcPts val="1000"/>
              </a:spcBef>
              <a:spcAft>
                <a:spcPts val="200"/>
              </a:spcAft>
            </a:pPr>
            <a:r>
              <a:rPr sz="950" b="0" i="0" spc="300">
                <a:solidFill>
                  <a:srgbClr val="8A8A8A"/>
                </a:solidFill>
                <a:latin typeface="Menlo"/>
              </a:rPr>
              <a:t>ANTES DE CAMBIOS GRANDES</a:t>
            </a:r>
          </a:p>
          <a:p>
            <a:pPr>
              <a:lnSpc>
                <a:spcPct val="131600"/>
              </a:lnSpc>
              <a:spcBef>
                <a:spcPts val="0"/>
              </a:spcBef>
              <a:spcAft>
                <a:spcPts val="532"/>
              </a:spcAft>
            </a:pPr>
            <a:r>
              <a:rPr sz="950" b="0" i="0">
                <a:solidFill>
                  <a:srgbClr val="444444"/>
                </a:solidFill>
                <a:latin typeface="Iowan Old Style"/>
              </a:rPr>
              <a:t>Duplica la carpeta entera y ponle la fecha al nombre. Es la manera más simple que existe de poder volver atrás.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37215" cy="3108960"/>
          </a:xfrm>
          <a:prstGeom prst="rect">
            <a:avLst/>
          </a:prstGeom>
          <a:noFill/>
        </p:spPr>
        <p:txBody>
          <a:bodyPr wrap="square" lIns="0" rIns="0" tIns="0" bIns="0">
            <a:spAutoFit/>
          </a:bodyPr>
          <a:lstStyle/>
          <a:p>
            <a:pPr>
              <a:lnSpc>
                <a:spcPct val="125000"/>
              </a:lnSpc>
              <a:spcBef>
                <a:spcPts val="0"/>
              </a:spcBef>
              <a:spcAft>
                <a:spcPts val="1400"/>
              </a:spcAft>
            </a:pPr>
            <a:r>
              <a:rPr sz="1200" b="0" i="0" spc="600">
                <a:solidFill>
                  <a:srgbClr val="8A8A8A"/>
                </a:solidFill>
                <a:latin typeface="Menlo"/>
              </a:rPr>
              <a:t>PARA LLEVARSE</a:t>
            </a:r>
          </a:p>
          <a:p>
            <a:pPr>
              <a:lnSpc>
                <a:spcPct val="125000"/>
              </a:lnSpc>
              <a:spcBef>
                <a:spcPts val="0"/>
              </a:spcBef>
              <a:spcAft>
                <a:spcPts val="2000"/>
              </a:spcAft>
            </a:pPr>
            <a:r>
              <a:rPr sz="1100" b="0" i="0" spc="300">
                <a:solidFill>
                  <a:srgbClr val="8A8A8A"/>
                </a:solidFill>
                <a:latin typeface="Menlo"/>
              </a:rPr>
              <a:t>PARA LLEVARSE</a:t>
            </a:r>
          </a:p>
          <a:p>
            <a:pPr>
              <a:lnSpc>
                <a:spcPct val="110000"/>
              </a:lnSpc>
              <a:spcBef>
                <a:spcPts val="0"/>
              </a:spcBef>
              <a:spcAft>
                <a:spcPts val="1800"/>
              </a:spcAft>
            </a:pPr>
            <a:r>
              <a:rPr sz="4000" b="0" i="0">
                <a:solidFill>
                  <a:srgbClr val="FFFFFF"/>
                </a:solidFill>
                <a:latin typeface="Inknut Antiqua"/>
              </a:rPr>
              <a:t>chuleta de css</a:t>
            </a:r>
          </a:p>
          <a:p>
            <a:pPr>
              <a:lnSpc>
                <a:spcPct val="140000"/>
              </a:lnSpc>
              <a:spcBef>
                <a:spcPts val="0"/>
              </a:spcBef>
              <a:spcAft>
                <a:spcPts val="600"/>
              </a:spcAft>
            </a:pPr>
            <a:r>
              <a:rPr sz="1700" b="0" i="0">
                <a:solidFill>
                  <a:srgbClr val="BBBBBB"/>
                </a:solidFill>
                <a:latin typeface="Iowan Old Style"/>
              </a:rPr>
              <a:t>Todo lo de hoy en una hoja.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chuleta · css</a:t>
            </a:r>
          </a:p>
        </p:txBody>
      </p:sp>
      <p:sp>
        <p:nvSpPr>
          <p:cNvPr id="5" name="TextBox 4"/>
          <p:cNvSpPr txBox="1"/>
          <p:nvPr/>
        </p:nvSpPr>
        <p:spPr>
          <a:xfrm>
            <a:off x="777240" y="1417320"/>
            <a:ext cx="10637215" cy="4892040"/>
          </a:xfrm>
          <a:prstGeom prst="rect">
            <a:avLst/>
          </a:prstGeom>
          <a:noFill/>
        </p:spPr>
        <p:txBody>
          <a:bodyPr wrap="square" lIns="0" rIns="0" tIns="0" bIns="0">
            <a:spAutoFit/>
          </a:bodyPr>
          <a:lstStyle/>
          <a:p>
            <a:pPr>
              <a:lnSpc>
                <a:spcPct val="140000"/>
              </a:lnSpc>
              <a:spcBef>
                <a:spcPts val="0"/>
              </a:spcBef>
              <a:spcAft>
                <a:spcPts val="500"/>
              </a:spcAft>
            </a:pPr>
            <a:r>
              <a:rPr sz="1450" b="0" i="0">
                <a:solidFill>
                  <a:srgbClr val="444444"/>
                </a:solidFill>
                <a:latin typeface="Iowan Old Style"/>
              </a:rPr>
              <a:t>·  ¿Has guardado?</a:t>
            </a:r>
          </a:p>
          <a:p>
            <a:pPr>
              <a:lnSpc>
                <a:spcPct val="140000"/>
              </a:lnSpc>
              <a:spcBef>
                <a:spcPts val="0"/>
              </a:spcBef>
              <a:spcAft>
                <a:spcPts val="500"/>
              </a:spcAft>
            </a:pPr>
            <a:r>
              <a:rPr sz="1450" b="0" i="0">
                <a:solidFill>
                  <a:srgbClr val="444444"/>
                </a:solidFill>
                <a:latin typeface="Iowan Old Style"/>
              </a:rPr>
              <a:t>·  ¿Falta un punto y coma o una llave?</a:t>
            </a:r>
          </a:p>
          <a:p>
            <a:pPr>
              <a:lnSpc>
                <a:spcPct val="140000"/>
              </a:lnSpc>
              <a:spcBef>
                <a:spcPts val="0"/>
              </a:spcBef>
              <a:spcAft>
                <a:spcPts val="500"/>
              </a:spcAft>
            </a:pPr>
            <a:r>
              <a:rPr sz="1450" b="0" i="0">
                <a:solidFill>
                  <a:srgbClr val="444444"/>
                </a:solidFill>
                <a:latin typeface="Iowan Old Style"/>
              </a:rPr>
              <a:t>·  ¿El selector apunta de verdad a ese elemento?</a:t>
            </a:r>
          </a:p>
          <a:p>
            <a:pPr>
              <a:lnSpc>
                <a:spcPct val="140000"/>
              </a:lnSpc>
              <a:spcBef>
                <a:spcPts val="0"/>
              </a:spcBef>
              <a:spcAft>
                <a:spcPts val="500"/>
              </a:spcAft>
            </a:pPr>
            <a:r>
              <a:rPr sz="1450" b="0" i="0">
                <a:solidFill>
                  <a:srgbClr val="444444"/>
                </a:solidFill>
                <a:latin typeface="Iowan Old Style"/>
              </a:rPr>
              <a:t>·  Recarga forzada: Cmd+Shift+R o Ctrl+F5.</a:t>
            </a:r>
          </a:p>
          <a:p>
            <a:pPr>
              <a:lnSpc>
                <a:spcPct val="135000"/>
              </a:lnSpc>
              <a:spcAft>
                <a:spcPts val="500"/>
              </a:spcAft>
            </a:pPr>
            <a:r>
              <a:rPr sz="1250">
                <a:solidFill>
                  <a:srgbClr val="0A0A0A"/>
                </a:solidFill>
                <a:latin typeface="Menlo"/>
              </a:rPr>
              <a:t>p { }    </a:t>
            </a:r>
            <a:r>
              <a:rPr sz="1350">
                <a:solidFill>
                  <a:srgbClr val="444444"/>
                </a:solidFill>
                <a:latin typeface="Iowan Old Style"/>
              </a:rPr>
              <a:t>Todos los párrafos.</a:t>
            </a:r>
          </a:p>
          <a:p>
            <a:pPr>
              <a:lnSpc>
                <a:spcPct val="135000"/>
              </a:lnSpc>
              <a:spcAft>
                <a:spcPts val="500"/>
              </a:spcAft>
            </a:pPr>
            <a:r>
              <a:rPr sz="1250">
                <a:solidFill>
                  <a:srgbClr val="0A0A0A"/>
                </a:solidFill>
                <a:latin typeface="Menlo"/>
              </a:rPr>
              <a:t>header, main { }    </a:t>
            </a:r>
            <a:r>
              <a:rPr sz="1350">
                <a:solidFill>
                  <a:srgbClr val="444444"/>
                </a:solidFill>
                <a:latin typeface="Iowan Old Style"/>
              </a:rPr>
              <a:t>Los dos a la vez. La coma es «y también».</a:t>
            </a:r>
          </a:p>
          <a:p>
            <a:pPr>
              <a:lnSpc>
                <a:spcPct val="135000"/>
              </a:lnSpc>
              <a:spcAft>
                <a:spcPts val="500"/>
              </a:spcAft>
            </a:pPr>
            <a:r>
              <a:rPr sz="1250">
                <a:solidFill>
                  <a:srgbClr val="0A0A0A"/>
                </a:solidFill>
                <a:latin typeface="Menlo"/>
              </a:rPr>
              <a:t>nav a { }    </a:t>
            </a:r>
            <a:r>
              <a:rPr sz="1350">
                <a:solidFill>
                  <a:srgbClr val="444444"/>
                </a:solidFill>
                <a:latin typeface="Iowan Old Style"/>
              </a:rPr>
              <a:t>Los enlaces que estén dentro de nav.</a:t>
            </a:r>
          </a:p>
          <a:p>
            <a:pPr>
              <a:lnSpc>
                <a:spcPct val="135000"/>
              </a:lnSpc>
              <a:spcAft>
                <a:spcPts val="500"/>
              </a:spcAft>
            </a:pPr>
            <a:r>
              <a:rPr sz="1250">
                <a:solidFill>
                  <a:srgbClr val="0A0A0A"/>
                </a:solidFill>
                <a:latin typeface="Menlo"/>
              </a:rPr>
              <a:t>a:hover { }    </a:t>
            </a:r>
            <a:r>
              <a:rPr sz="1350">
                <a:solidFill>
                  <a:srgbClr val="444444"/>
                </a:solidFill>
                <a:latin typeface="Iowan Old Style"/>
              </a:rPr>
              <a:t>Cuando el ratón está encima.</a:t>
            </a:r>
          </a:p>
          <a:p>
            <a:pPr>
              <a:lnSpc>
                <a:spcPct val="135000"/>
              </a:lnSpc>
              <a:spcAft>
                <a:spcPts val="500"/>
              </a:spcAft>
            </a:pPr>
            <a:r>
              <a:rPr sz="1250">
                <a:solidFill>
                  <a:srgbClr val="0A0A0A"/>
                </a:solidFill>
                <a:latin typeface="Menlo"/>
              </a:rPr>
              <a:t>article:last-child    </a:t>
            </a:r>
            <a:r>
              <a:rPr sz="1350">
                <a:solidFill>
                  <a:srgbClr val="444444"/>
                </a:solidFill>
                <a:latin typeface="Iowan Old Style"/>
              </a:rPr>
              <a:t>Solo el último de la serie.</a:t>
            </a:r>
          </a:p>
          <a:p>
            <a:pPr>
              <a:lnSpc>
                <a:spcPct val="135000"/>
              </a:lnSpc>
              <a:spcAft>
                <a:spcPts val="500"/>
              </a:spcAft>
            </a:pPr>
            <a:r>
              <a:rPr sz="1250">
                <a:solidFill>
                  <a:srgbClr val="0A0A0A"/>
                </a:solidFill>
                <a:latin typeface="Menlo"/>
              </a:rPr>
              <a:t>color    </a:t>
            </a:r>
            <a:r>
              <a:rPr sz="1350">
                <a:solidFill>
                  <a:srgbClr val="444444"/>
                </a:solidFill>
                <a:latin typeface="Iowan Old Style"/>
              </a:rPr>
              <a:t>Color de la letra.</a:t>
            </a:r>
          </a:p>
          <a:p>
            <a:pPr>
              <a:lnSpc>
                <a:spcPct val="135000"/>
              </a:lnSpc>
              <a:spcAft>
                <a:spcPts val="500"/>
              </a:spcAft>
            </a:pPr>
            <a:r>
              <a:rPr sz="1250">
                <a:solidFill>
                  <a:srgbClr val="0A0A0A"/>
                </a:solidFill>
                <a:latin typeface="Menlo"/>
              </a:rPr>
              <a:t>background-color    </a:t>
            </a:r>
            <a:r>
              <a:rPr sz="1350">
                <a:solidFill>
                  <a:srgbClr val="444444"/>
                </a:solidFill>
                <a:latin typeface="Iowan Old Style"/>
              </a:rPr>
              <a:t>Color de fondo.</a:t>
            </a:r>
          </a:p>
          <a:p>
            <a:pPr>
              <a:lnSpc>
                <a:spcPct val="135000"/>
              </a:lnSpc>
              <a:spcAft>
                <a:spcPts val="500"/>
              </a:spcAft>
            </a:pPr>
            <a:r>
              <a:rPr sz="1250">
                <a:solidFill>
                  <a:srgbClr val="0A0A0A"/>
                </a:solidFill>
                <a:latin typeface="Menlo"/>
              </a:rPr>
              <a:t>font-family    </a:t>
            </a:r>
            <a:r>
              <a:rPr sz="1350">
                <a:solidFill>
                  <a:srgbClr val="444444"/>
                </a:solidFill>
                <a:latin typeface="Iowan Old Style"/>
              </a:rPr>
              <a:t>Tipografía. Varias separadas por comas.</a:t>
            </a:r>
          </a:p>
          <a:p>
            <a:pPr>
              <a:lnSpc>
                <a:spcPct val="135000"/>
              </a:lnSpc>
              <a:spcAft>
                <a:spcPts val="500"/>
              </a:spcAft>
            </a:pPr>
            <a:r>
              <a:rPr sz="1250">
                <a:solidFill>
                  <a:srgbClr val="0A0A0A"/>
                </a:solidFill>
                <a:latin typeface="Menlo"/>
              </a:rPr>
              <a:t>font-size    </a:t>
            </a:r>
            <a:r>
              <a:rPr sz="1350">
                <a:solidFill>
                  <a:srgbClr val="444444"/>
                </a:solidFill>
                <a:latin typeface="Iowan Old Style"/>
              </a:rPr>
              <a:t>Tamaño. 18px.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274320"/>
          </a:xfrm>
          <a:prstGeom prst="rect">
            <a:avLst/>
          </a:prstGeom>
          <a:noFill/>
        </p:spPr>
        <p:txBody>
          <a:bodyPr wrap="square" lIns="0" rIns="0" tIns="0" bIns="0">
            <a:spAutoFit/>
          </a:bodyPr>
          <a:lstStyle/>
          <a:p>
            <a:pPr>
              <a:lnSpc>
                <a:spcPct val="125000"/>
              </a:lnSpc>
              <a:spcBef>
                <a:spcPts val="0"/>
              </a:spcBef>
              <a:spcAft>
                <a:spcPts val="600"/>
              </a:spcAft>
            </a:pPr>
            <a:r>
              <a:rPr sz="1000" b="0" i="0" spc="300">
                <a:solidFill>
                  <a:srgbClr val="8A8A8A"/>
                </a:solidFill>
                <a:latin typeface="Menlo"/>
              </a:rPr>
              <a:t>MUESTRARIO   ·   HASTA DÓNDE LLEGA EL CSS SOLO</a:t>
            </a:r>
          </a:p>
        </p:txBody>
      </p:sp>
      <p:sp>
        <p:nvSpPr>
          <p:cNvPr id="5" name="Rectangle 4"/>
          <p:cNvSpPr/>
          <p:nvPr/>
        </p:nvSpPr>
        <p:spPr>
          <a:xfrm>
            <a:off x="777240" y="1161288"/>
            <a:ext cx="10637215"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todo esto es css, sin nada de programación</a:t>
            </a:r>
          </a:p>
        </p:txBody>
      </p:sp>
      <p:sp>
        <p:nvSpPr>
          <p:cNvPr id="7" name="TextBox 6"/>
          <p:cNvSpPr txBox="1"/>
          <p:nvPr/>
        </p:nvSpPr>
        <p:spPr>
          <a:xfrm>
            <a:off x="777240" y="2057400"/>
            <a:ext cx="10637215" cy="4251960"/>
          </a:xfrm>
          <a:prstGeom prst="rect">
            <a:avLst/>
          </a:prstGeom>
          <a:noFill/>
        </p:spPr>
        <p:txBody>
          <a:bodyPr wrap="square" lIns="0" rIns="0" tIns="0" bIns="0">
            <a:spAutoFit/>
          </a:bodyPr>
          <a:lstStyle/>
          <a:p>
            <a:pPr>
              <a:lnSpc>
                <a:spcPct val="124080"/>
              </a:lnSpc>
              <a:spcAft>
                <a:spcPts val="561"/>
              </a:spcAft>
            </a:pPr>
            <a:r>
              <a:rPr sz="1215">
                <a:solidFill>
                  <a:srgbClr val="0A0A0A"/>
                </a:solidFill>
                <a:latin typeface="Inknut Antiqua"/>
                <a:hlinkClick r:id="rId2"/>
              </a:rPr>
              <a:t>→ cartel vivo   </a:t>
            </a:r>
            <a:r>
              <a:rPr sz="1169">
                <a:solidFill>
                  <a:srgbClr val="8A8A8A"/>
                </a:solidFill>
                <a:latin typeface="Iowan Old Style"/>
              </a:rPr>
              <a:t>Póster animado: marquesina, tipografía fluida, sello que gira.</a:t>
            </a:r>
          </a:p>
          <a:p>
            <a:pPr>
              <a:lnSpc>
                <a:spcPct val="124080"/>
              </a:lnSpc>
              <a:spcAft>
                <a:spcPts val="561"/>
              </a:spcAft>
            </a:pPr>
            <a:r>
              <a:rPr sz="1215">
                <a:solidFill>
                  <a:srgbClr val="0A0A0A"/>
                </a:solidFill>
                <a:latin typeface="Inknut Antiqua"/>
                <a:hlinkClick r:id="rId3"/>
              </a:rPr>
              <a:t>→ invitación   </a:t>
            </a:r>
            <a:r>
              <a:rPr sz="1169">
                <a:solidFill>
                  <a:srgbClr val="8A8A8A"/>
                </a:solidFill>
                <a:latin typeface="Iowan Old Style"/>
              </a:rPr>
              <a:t>Tarjeta con animación de llegada y RSVP por mailto.</a:t>
            </a:r>
          </a:p>
          <a:p>
            <a:pPr>
              <a:lnSpc>
                <a:spcPct val="124080"/>
              </a:lnSpc>
              <a:spcAft>
                <a:spcPts val="561"/>
              </a:spcAft>
            </a:pPr>
            <a:r>
              <a:rPr sz="1215">
                <a:solidFill>
                  <a:srgbClr val="0A0A0A"/>
                </a:solidFill>
                <a:latin typeface="Inknut Antiqua"/>
                <a:hlinkClick r:id="rId4"/>
              </a:rPr>
              <a:t>→ tarjeta de visita   </a:t>
            </a:r>
            <a:r>
              <a:rPr sz="1169">
                <a:solidFill>
                  <a:srgbClr val="8A8A8A"/>
                </a:solidFill>
                <a:latin typeface="Iowan Old Style"/>
              </a:rPr>
              <a:t>Tarjeta 3D con dos caras que gira al hacer clic.</a:t>
            </a:r>
          </a:p>
          <a:p>
            <a:pPr>
              <a:lnSpc>
                <a:spcPct val="124080"/>
              </a:lnSpc>
              <a:spcAft>
                <a:spcPts val="561"/>
              </a:spcAft>
            </a:pPr>
            <a:r>
              <a:rPr sz="1215">
                <a:solidFill>
                  <a:srgbClr val="0A0A0A"/>
                </a:solidFill>
                <a:latin typeface="Inknut Antiqua"/>
                <a:hlinkClick r:id="rId5"/>
              </a:rPr>
              <a:t>→ mezclas   </a:t>
            </a:r>
            <a:r>
              <a:rPr sz="1169">
                <a:solidFill>
                  <a:srgbClr val="8A8A8A"/>
                </a:solidFill>
                <a:latin typeface="Iowan Old Style"/>
              </a:rPr>
              <a:t>Modos de fusión: imágenes que se tiñen entre ellas.</a:t>
            </a:r>
          </a:p>
          <a:p>
            <a:pPr>
              <a:lnSpc>
                <a:spcPct val="124080"/>
              </a:lnSpc>
              <a:spcAft>
                <a:spcPts val="561"/>
              </a:spcAft>
            </a:pPr>
            <a:r>
              <a:rPr sz="1215">
                <a:solidFill>
                  <a:srgbClr val="0A0A0A"/>
                </a:solidFill>
                <a:latin typeface="Inknut Antiqua"/>
                <a:hlinkClick r:id="rId6"/>
              </a:rPr>
              <a:t>→ expo horizontal   </a:t>
            </a:r>
            <a:r>
              <a:rPr sz="1169">
                <a:solidFill>
                  <a:srgbClr val="8A8A8A"/>
                </a:solidFill>
                <a:latin typeface="Iowan Old Style"/>
              </a:rPr>
              <a:t>Salas en fila, scroll de lado con scroll-snap.</a:t>
            </a:r>
          </a:p>
          <a:p>
            <a:pPr>
              <a:lnSpc>
                <a:spcPct val="124080"/>
              </a:lnSpc>
              <a:spcAft>
                <a:spcPts val="561"/>
              </a:spcAft>
            </a:pPr>
            <a:r>
              <a:rPr sz="1215">
                <a:solidFill>
                  <a:srgbClr val="0A0A0A"/>
                </a:solidFill>
                <a:latin typeface="Inknut Antiqua"/>
                <a:hlinkClick r:id="rId7"/>
              </a:rPr>
              <a:t>→ expo vertical   </a:t>
            </a:r>
            <a:r>
              <a:rPr sz="1169">
                <a:solidFill>
                  <a:srgbClr val="8A8A8A"/>
                </a:solidFill>
                <a:latin typeface="Iowan Old Style"/>
              </a:rPr>
              <a:t>Salas con imán, título que invierte colores, contador.</a:t>
            </a:r>
          </a:p>
          <a:p>
            <a:pPr>
              <a:lnSpc>
                <a:spcPct val="124080"/>
              </a:lnSpc>
              <a:spcAft>
                <a:spcPts val="561"/>
              </a:spcAft>
            </a:pPr>
            <a:r>
              <a:rPr sz="1215">
                <a:solidFill>
                  <a:srgbClr val="0A0A0A"/>
                </a:solidFill>
                <a:latin typeface="Inknut Antiqua"/>
                <a:hlinkClick r:id="rId8"/>
              </a:rPr>
              <a:t>→ galería con ficha   </a:t>
            </a:r>
            <a:r>
              <a:rPr sz="1169">
                <a:solidFill>
                  <a:srgbClr val="8A8A8A"/>
                </a:solidFill>
                <a:latin typeface="Iowan Old Style"/>
              </a:rPr>
              <a:t>Retícula de obras y lightbox con el truco :target.</a:t>
            </a:r>
          </a:p>
          <a:p>
            <a:pPr>
              <a:lnSpc>
                <a:spcPct val="124080"/>
              </a:lnSpc>
              <a:spcAft>
                <a:spcPts val="561"/>
              </a:spcAft>
            </a:pPr>
            <a:r>
              <a:rPr sz="1215">
                <a:solidFill>
                  <a:srgbClr val="0A0A0A"/>
                </a:solidFill>
                <a:latin typeface="Inknut Antiqua"/>
                <a:hlinkClick r:id="rId9"/>
              </a:rPr>
              <a:t>→ ver las 26   </a:t>
            </a:r>
            <a:r>
              <a:rPr sz="1169">
                <a:solidFill>
                  <a:srgbClr val="8A8A8A"/>
                </a:solidFill>
                <a:latin typeface="Iowan Old Style"/>
              </a:rPr>
              <a:t>El muestrario entero, ordenado por tipo.</a:t>
            </a:r>
          </a:p>
          <a:p>
            <a:pPr>
              <a:lnSpc>
                <a:spcPct val="117500"/>
              </a:lnSpc>
              <a:spcBef>
                <a:spcPts val="1000"/>
              </a:spcBef>
              <a:spcAft>
                <a:spcPts val="280"/>
              </a:spcAft>
            </a:pPr>
            <a:r>
              <a:rPr sz="950" b="0" i="0" spc="300">
                <a:solidFill>
                  <a:srgbClr val="8A8A8A"/>
                </a:solidFill>
                <a:latin typeface="Menlo"/>
              </a:rPr>
              <a:t>ESTA PRESENTACIÓN TAMBIÉN</a:t>
            </a:r>
          </a:p>
          <a:p>
            <a:pPr>
              <a:lnSpc>
                <a:spcPct val="131600"/>
              </a:lnSpc>
              <a:spcBef>
                <a:spcPts val="0"/>
              </a:spcBef>
              <a:spcAft>
                <a:spcPts val="748"/>
              </a:spcAft>
            </a:pPr>
            <a:r>
              <a:rPr sz="1309" b="0" i="0">
                <a:solidFill>
                  <a:srgbClr val="444444"/>
                </a:solidFill>
                <a:latin typeface="Iowan Old Style"/>
              </a:rPr>
              <a:t>Lo que estás viendo proyectado es una web hecha a mano, con las mismas cosas que hemos dado hoy. El modo diapositiva es scroll-snap, igual que la expo vertical.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10637215" cy="219456"/>
          </a:xfrm>
          <a:prstGeom prst="rect">
            <a:avLst/>
          </a:prstGeom>
          <a:noFill/>
        </p:spPr>
        <p:txBody>
          <a:bodyPr wrap="square" lIns="0" rIns="0" tIns="0" bIns="0">
            <a:spAutoFit/>
          </a:bodyPr>
          <a:lstStyle/>
          <a:p>
            <a:pPr>
              <a:lnSpc>
                <a:spcPct val="125000"/>
              </a:lnSpc>
              <a:spcBef>
                <a:spcPts val="0"/>
              </a:spcBef>
              <a:spcAft>
                <a:spcPts val="600"/>
              </a:spcAft>
            </a:pPr>
            <a:r>
              <a:rPr sz="950" b="0" i="0" spc="800">
                <a:solidFill>
                  <a:srgbClr val="8A8A8A"/>
                </a:solidFill>
                <a:latin typeface="Menlo"/>
              </a:rPr>
              <a:t>TEORÍA</a:t>
            </a:r>
          </a:p>
        </p:txBody>
      </p:sp>
      <p:sp>
        <p:nvSpPr>
          <p:cNvPr id="4" name="TextBox 3"/>
          <p:cNvSpPr txBox="1"/>
          <p:nvPr/>
        </p:nvSpPr>
        <p:spPr>
          <a:xfrm>
            <a:off x="777240" y="777240"/>
            <a:ext cx="10637215" cy="822960"/>
          </a:xfrm>
          <a:prstGeom prst="rect">
            <a:avLst/>
          </a:prstGeom>
          <a:noFill/>
        </p:spPr>
        <p:txBody>
          <a:bodyPr wrap="square" lIns="0" rIns="0" tIns="0" bIns="0">
            <a:spAutoFit/>
          </a:bodyPr>
          <a:lstStyle/>
          <a:p>
            <a:pPr>
              <a:lnSpc>
                <a:spcPct val="112000"/>
              </a:lnSpc>
              <a:spcBef>
                <a:spcPts val="0"/>
              </a:spcBef>
              <a:spcAft>
                <a:spcPts val="600"/>
              </a:spcAft>
            </a:pPr>
            <a:r>
              <a:rPr sz="2700" b="0" i="0">
                <a:solidFill>
                  <a:srgbClr val="0A0A0A"/>
                </a:solidFill>
                <a:latin typeface="Inknut Antiqua"/>
              </a:rPr>
              <a:t>para la próxima sesión</a:t>
            </a:r>
          </a:p>
        </p:txBody>
      </p:sp>
      <p:sp>
        <p:nvSpPr>
          <p:cNvPr id="5" name="TextBox 4"/>
          <p:cNvSpPr txBox="1"/>
          <p:nvPr/>
        </p:nvSpPr>
        <p:spPr>
          <a:xfrm>
            <a:off x="777240" y="1417320"/>
            <a:ext cx="10637215" cy="4892040"/>
          </a:xfrm>
          <a:prstGeom prst="rect">
            <a:avLst/>
          </a:prstGeom>
          <a:noFill/>
        </p:spPr>
        <p:txBody>
          <a:bodyPr wrap="square" lIns="0" rIns="0" tIns="0" bIns="0">
            <a:spAutoFit/>
          </a:bodyPr>
          <a:lstStyle/>
          <a:p>
            <a:pPr>
              <a:lnSpc>
                <a:spcPct val="142000"/>
              </a:lnSpc>
              <a:spcBef>
                <a:spcPts val="0"/>
              </a:spcBef>
              <a:spcAft>
                <a:spcPts val="900"/>
              </a:spcAft>
            </a:pPr>
            <a:r>
              <a:rPr sz="1800" b="0" i="0">
                <a:solidFill>
                  <a:srgbClr val="444444"/>
                </a:solidFill>
                <a:latin typeface="Iowan Old Style"/>
              </a:rPr>
              <a:t>La próxima la publicamos de verdad, entendiendo cada paso. Sales de la sesión 3 sabiendo actualizarla tú sola.</a:t>
            </a:r>
          </a:p>
          <a:p>
            <a:pPr>
              <a:lnSpc>
                <a:spcPct val="140000"/>
              </a:lnSpc>
              <a:spcBef>
                <a:spcPts val="0"/>
              </a:spcBef>
              <a:spcAft>
                <a:spcPts val="500"/>
              </a:spcAft>
            </a:pPr>
            <a:r>
              <a:rPr sz="1450" b="0" i="0">
                <a:solidFill>
                  <a:srgbClr val="444444"/>
                </a:solidFill>
                <a:latin typeface="Iowan Old Style"/>
              </a:rPr>
              <a:t>☐  Trae la carpeta terminada, con las páginas que quieras publicar.</a:t>
            </a:r>
          </a:p>
          <a:p>
            <a:pPr>
              <a:lnSpc>
                <a:spcPct val="140000"/>
              </a:lnSpc>
              <a:spcBef>
                <a:spcPts val="0"/>
              </a:spcBef>
              <a:spcAft>
                <a:spcPts val="500"/>
              </a:spcAft>
            </a:pPr>
            <a:r>
              <a:rPr sz="1450" b="0" i="0">
                <a:solidFill>
                  <a:srgbClr val="444444"/>
                </a:solidFill>
                <a:latin typeface="Iowan Old Style"/>
              </a:rPr>
              <a:t>☐  Trae tu cuenta de GitHub ya creada.</a:t>
            </a:r>
          </a:p>
          <a:p>
            <a:pPr>
              <a:lnSpc>
                <a:spcPct val="140000"/>
              </a:lnSpc>
              <a:spcBef>
                <a:spcPts val="0"/>
              </a:spcBef>
              <a:spcAft>
                <a:spcPts val="500"/>
              </a:spcAft>
            </a:pPr>
            <a:r>
              <a:rPr sz="1450" b="0" i="0">
                <a:solidFill>
                  <a:srgbClr val="444444"/>
                </a:solidFill>
                <a:latin typeface="Iowan Old Style"/>
              </a:rPr>
              <a:t>☐  Y la contraseña apuntada en un papel. En serio: cada edición hay alguien que no puede entrar.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2 · CSS</dc:title>
  <dc:subject/>
  <dc:creator>meowrhino.studio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