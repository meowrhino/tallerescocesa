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eveloper.mozilla.org/es/" TargetMode="External"/><Relationship Id="rId3" Type="http://schemas.openxmlformats.org/officeDocument/2006/relationships/hyperlink" Target="https://neocities.org" TargetMode="External"/><Relationship Id="rId4" Type="http://schemas.openxmlformats.org/officeDocument/2006/relationships/hyperlink" Target="https://p5js.org/es/" TargetMode="External"/><Relationship Id="rId5" Type="http://schemas.openxmlformats.org/officeDocument/2006/relationships/hyperlink" Target="https://caniuse.com" TargetMode="External"/><Relationship Id="rId6" Type="http://schemas.openxmlformats.org/officeDocument/2006/relationships/hyperlink" Target="https://squoosh.app" TargetMode="External"/><Relationship Id="rId7" Type="http://schemas.openxmlformats.org/officeDocument/2006/relationships/hyperlink" Target="https://coolors.co"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eowrhino.github.io/tallerEscocesa/muestrario/19-save-the-date.html" TargetMode="External"/><Relationship Id="rId3" Type="http://schemas.openxmlformats.org/officeDocument/2006/relationships/hyperlink" Target="https://meowrhino.github.io/tallerEscocesa/muestrario/09-dibujo-p5.html" TargetMode="External"/><Relationship Id="rId4" Type="http://schemas.openxmlformats.org/officeDocument/2006/relationships/hyperlink" Target="https://meowrhino.github.io/tallerEscocesa/muestrario/26-mesa-de-trabajo-editable.html" TargetMode="External"/><Relationship Id="rId5" Type="http://schemas.openxmlformats.org/officeDocument/2006/relationships/hyperlink" Target="https://meowrhino.github.io/tallerEscocesa/muestrario/12-hydra-visuales.html" TargetMode="External"/><Relationship Id="rId6" Type="http://schemas.openxmlformats.org/officeDocument/2006/relationships/hyperlink" Target="https://meowrhino.github.io/tallerEscocesa/muestrario/13-tonejs-cajita.html" TargetMode="External"/><Relationship Id="rId7" Type="http://schemas.openxmlformats.org/officeDocument/2006/relationships/hyperlink" Target="https://meowrhino.github.io/tallerEscocesa/muestrario/"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737360"/>
            <a:ext cx="10637215" cy="3657600"/>
          </a:xfrm>
          <a:prstGeom prst="rect">
            <a:avLst/>
          </a:prstGeom>
          <a:noFill/>
        </p:spPr>
        <p:txBody>
          <a:bodyPr wrap="square" lIns="0" rIns="0" tIns="0" bIns="0">
            <a:spAutoFit/>
          </a:bodyPr>
          <a:lstStyle/>
          <a:p>
            <a:pPr>
              <a:lnSpc>
                <a:spcPct val="125000"/>
              </a:lnSpc>
              <a:spcBef>
                <a:spcPts val="0"/>
              </a:spcBef>
              <a:spcAft>
                <a:spcPts val="2200"/>
              </a:spcAft>
            </a:pPr>
            <a:r>
              <a:rPr sz="1100" b="0" i="0" spc="300">
                <a:solidFill>
                  <a:srgbClr val="8A8A8A"/>
                </a:solidFill>
                <a:latin typeface="Menlo"/>
              </a:rPr>
              <a:t>SESIÓN 3 DE 3</a:t>
            </a:r>
          </a:p>
          <a:p>
            <a:pPr>
              <a:lnSpc>
                <a:spcPct val="106000"/>
              </a:lnSpc>
              <a:spcBef>
                <a:spcPts val="0"/>
              </a:spcBef>
              <a:spcAft>
                <a:spcPts val="0"/>
              </a:spcAft>
            </a:pPr>
            <a:r>
              <a:rPr sz="4600" b="0" i="0">
                <a:solidFill>
                  <a:srgbClr val="FFFFFF"/>
                </a:solidFill>
                <a:latin typeface="Inknut Antiqua"/>
              </a:rPr>
              <a:t>publicar</a:t>
            </a:r>
          </a:p>
          <a:p>
            <a:pPr>
              <a:lnSpc>
                <a:spcPct val="106000"/>
              </a:lnSpc>
              <a:spcBef>
                <a:spcPts val="0"/>
              </a:spcBef>
              <a:spcAft>
                <a:spcPts val="0"/>
              </a:spcAft>
            </a:pPr>
            <a:r>
              <a:rPr sz="4600" b="0" i="0">
                <a:solidFill>
                  <a:srgbClr val="FFFFFF"/>
                </a:solidFill>
                <a:latin typeface="Inknut Antiqua"/>
              </a:rPr>
              <a:t>y mantener</a:t>
            </a:r>
          </a:p>
          <a:p>
            <a:pPr>
              <a:lnSpc>
                <a:spcPct val="140000"/>
              </a:lnSpc>
              <a:spcBef>
                <a:spcPts val="2600"/>
              </a:spcBef>
              <a:spcAft>
                <a:spcPts val="600"/>
              </a:spcAft>
            </a:pPr>
            <a:r>
              <a:rPr sz="1700" b="0" i="0">
                <a:solidFill>
                  <a:srgbClr val="BBBBBB"/>
                </a:solidFill>
                <a:latin typeface="Iowan Old Style"/>
              </a:rPr>
              <a:t>Tres horas. Al final de hoy tu web está en internet, entiendes por qué, y sabes actualizarla tú sola.</a:t>
            </a:r>
          </a:p>
        </p:txBody>
      </p:sp>
      <p:sp>
        <p:nvSpPr>
          <p:cNvPr id="4" name="TextBox 3"/>
          <p:cNvSpPr txBox="1"/>
          <p:nvPr/>
        </p:nvSpPr>
        <p:spPr>
          <a:xfrm>
            <a:off x="777240" y="5989320"/>
            <a:ext cx="10637215" cy="365760"/>
          </a:xfrm>
          <a:prstGeom prst="rect">
            <a:avLst/>
          </a:prstGeom>
          <a:noFill/>
        </p:spPr>
        <p:txBody>
          <a:bodyPr wrap="square" lIns="0" rIns="0" tIns="0" bIns="0">
            <a:spAutoFit/>
          </a:bodyPr>
          <a:lstStyle/>
          <a:p>
            <a:pPr>
              <a:lnSpc>
                <a:spcPct val="125000"/>
              </a:lnSpc>
              <a:spcBef>
                <a:spcPts val="0"/>
              </a:spcBef>
              <a:spcAft>
                <a:spcPts val="600"/>
              </a:spcAft>
            </a:pPr>
            <a:r>
              <a:rPr sz="1000" b="0" i="0" spc="200">
                <a:solidFill>
                  <a:srgbClr val="8A8A8A"/>
                </a:solidFill>
                <a:latin typeface="Menlo"/>
              </a:rPr>
              <a:t>taller de web autogestionada · la escocesa · meowrhino.studio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365760"/>
          </a:xfrm>
          <a:prstGeom prst="rect">
            <a:avLst/>
          </a:prstGeom>
          <a:noFill/>
        </p:spPr>
        <p:txBody>
          <a:bodyPr wrap="square" lIns="0" rIns="0" tIns="0" bIns="0">
            <a:spAutoFit/>
          </a:bodyPr>
          <a:lstStyle/>
          <a:p>
            <a:pPr>
              <a:lnSpc>
                <a:spcPct val="125000"/>
              </a:lnSpc>
              <a:spcBef>
                <a:spcPts val="0"/>
              </a:spcBef>
              <a:spcAft>
                <a:spcPts val="600"/>
              </a:spcAft>
            </a:pPr>
            <a:r>
              <a:rPr sz="1100" b="0" i="0" spc="300">
                <a:solidFill>
                  <a:srgbClr val="8A8A8A"/>
                </a:solidFill>
                <a:latin typeface="Menlo"/>
              </a:rPr>
              <a:t>EL PLAN DE HOY</a:t>
            </a:r>
          </a:p>
        </p:txBody>
      </p:sp>
      <p:sp>
        <p:nvSpPr>
          <p:cNvPr id="4" name="TextBox 3"/>
          <p:cNvSpPr txBox="1"/>
          <p:nvPr/>
        </p:nvSpPr>
        <p:spPr>
          <a:xfrm>
            <a:off x="777240" y="1554480"/>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00:00     </a:t>
            </a:r>
            <a:r>
              <a:rPr sz="1700">
                <a:solidFill>
                  <a:srgbClr val="0A0A0A"/>
                </a:solidFill>
                <a:latin typeface="Iowan Old Style"/>
              </a:rPr>
              <a:t>qué es todo esto</a:t>
            </a:r>
            <a:r>
              <a:rPr sz="1100">
                <a:solidFill>
                  <a:srgbClr val="8A8A8A"/>
                </a:solidFill>
                <a:latin typeface="Menlo"/>
              </a:rPr>
              <a:t>     30 min</a:t>
            </a:r>
          </a:p>
        </p:txBody>
      </p:sp>
      <p:sp>
        <p:nvSpPr>
          <p:cNvPr id="5" name="Rectangle 4"/>
          <p:cNvSpPr/>
          <p:nvPr/>
        </p:nvSpPr>
        <p:spPr>
          <a:xfrm>
            <a:off x="777240" y="1920240"/>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29968"/>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00:30     </a:t>
            </a:r>
            <a:r>
              <a:rPr sz="1700">
                <a:solidFill>
                  <a:srgbClr val="0A0A0A"/>
                </a:solidFill>
                <a:latin typeface="Iowan Old Style"/>
              </a:rPr>
              <a:t>checklist antes de publicar</a:t>
            </a:r>
            <a:r>
              <a:rPr sz="1100">
                <a:solidFill>
                  <a:srgbClr val="8A8A8A"/>
                </a:solidFill>
                <a:latin typeface="Menlo"/>
              </a:rPr>
              <a:t>     15 min</a:t>
            </a:r>
          </a:p>
        </p:txBody>
      </p:sp>
      <p:sp>
        <p:nvSpPr>
          <p:cNvPr id="7" name="Rectangle 6"/>
          <p:cNvSpPr/>
          <p:nvPr/>
        </p:nvSpPr>
        <p:spPr>
          <a:xfrm>
            <a:off x="777240" y="239572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00:45     </a:t>
            </a:r>
            <a:r>
              <a:rPr sz="1700">
                <a:solidFill>
                  <a:srgbClr val="0A0A0A"/>
                </a:solidFill>
                <a:latin typeface="Iowan Old Style"/>
              </a:rPr>
              <a:t>ejercicio 6 · subir y publicar</a:t>
            </a:r>
            <a:r>
              <a:rPr sz="1100">
                <a:solidFill>
                  <a:srgbClr val="8A8A8A"/>
                </a:solidFill>
                <a:latin typeface="Menlo"/>
              </a:rPr>
              <a:t>     30 min</a:t>
            </a:r>
          </a:p>
        </p:txBody>
      </p:sp>
      <p:sp>
        <p:nvSpPr>
          <p:cNvPr id="9" name="Rectangle 8"/>
          <p:cNvSpPr/>
          <p:nvPr/>
        </p:nvSpPr>
        <p:spPr>
          <a:xfrm>
            <a:off x="777240" y="2871216"/>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980944"/>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01:15     </a:t>
            </a:r>
            <a:r>
              <a:rPr sz="1700">
                <a:solidFill>
                  <a:srgbClr val="0A0A0A"/>
                </a:solidFill>
                <a:latin typeface="Iowan Old Style"/>
              </a:rPr>
              <a:t>un dominio propio</a:t>
            </a:r>
            <a:r>
              <a:rPr sz="1100">
                <a:solidFill>
                  <a:srgbClr val="8A8A8A"/>
                </a:solidFill>
                <a:latin typeface="Menlo"/>
              </a:rPr>
              <a:t>     15 min</a:t>
            </a:r>
          </a:p>
        </p:txBody>
      </p:sp>
      <p:sp>
        <p:nvSpPr>
          <p:cNvPr id="11" name="Rectangle 10"/>
          <p:cNvSpPr/>
          <p:nvPr/>
        </p:nvSpPr>
        <p:spPr>
          <a:xfrm>
            <a:off x="777240" y="3346704"/>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456432"/>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01:30     </a:t>
            </a:r>
            <a:r>
              <a:rPr sz="1700">
                <a:solidFill>
                  <a:srgbClr val="0A0A0A"/>
                </a:solidFill>
                <a:latin typeface="Iowan Old Style"/>
              </a:rPr>
              <a:t>pausa</a:t>
            </a:r>
            <a:r>
              <a:rPr sz="1100">
                <a:solidFill>
                  <a:srgbClr val="8A8A8A"/>
                </a:solidFill>
                <a:latin typeface="Menlo"/>
              </a:rPr>
              <a:t>     15 min</a:t>
            </a:r>
          </a:p>
        </p:txBody>
      </p:sp>
      <p:sp>
        <p:nvSpPr>
          <p:cNvPr id="13" name="Rectangle 12"/>
          <p:cNvSpPr/>
          <p:nvPr/>
        </p:nvSpPr>
        <p:spPr>
          <a:xfrm>
            <a:off x="777240" y="3822192"/>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31920"/>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01:45     </a:t>
            </a:r>
            <a:r>
              <a:rPr sz="1700">
                <a:solidFill>
                  <a:srgbClr val="0A0A0A"/>
                </a:solidFill>
                <a:latin typeface="Iowan Old Style"/>
              </a:rPr>
              <a:t>el ciclo de mantenimiento</a:t>
            </a:r>
            <a:r>
              <a:rPr sz="1100">
                <a:solidFill>
                  <a:srgbClr val="8A8A8A"/>
                </a:solidFill>
                <a:latin typeface="Menlo"/>
              </a:rPr>
              <a:t>     10 min</a:t>
            </a:r>
          </a:p>
        </p:txBody>
      </p:sp>
      <p:sp>
        <p:nvSpPr>
          <p:cNvPr id="15" name="Rectangle 14"/>
          <p:cNvSpPr/>
          <p:nvPr/>
        </p:nvSpPr>
        <p:spPr>
          <a:xfrm>
            <a:off x="777240" y="4297680"/>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407408"/>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01:55     </a:t>
            </a:r>
            <a:r>
              <a:rPr sz="1700">
                <a:solidFill>
                  <a:srgbClr val="0A0A0A"/>
                </a:solidFill>
                <a:latin typeface="Iowan Old Style"/>
              </a:rPr>
              <a:t>ejercicio 7 · cambiar y volver a subir</a:t>
            </a:r>
            <a:r>
              <a:rPr sz="1100">
                <a:solidFill>
                  <a:srgbClr val="8A8A8A"/>
                </a:solidFill>
                <a:latin typeface="Menlo"/>
              </a:rPr>
              <a:t>     35 min</a:t>
            </a:r>
          </a:p>
        </p:txBody>
      </p:sp>
      <p:sp>
        <p:nvSpPr>
          <p:cNvPr id="17" name="Rectangle 16"/>
          <p:cNvSpPr/>
          <p:nvPr/>
        </p:nvSpPr>
        <p:spPr>
          <a:xfrm>
            <a:off x="777240" y="477316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82896"/>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02:30     </a:t>
            </a:r>
            <a:r>
              <a:rPr sz="1700">
                <a:solidFill>
                  <a:srgbClr val="0A0A0A"/>
                </a:solidFill>
                <a:latin typeface="Iowan Old Style"/>
              </a:rPr>
              <a:t>remates y cómo seguir</a:t>
            </a:r>
            <a:r>
              <a:rPr sz="1100">
                <a:solidFill>
                  <a:srgbClr val="8A8A8A"/>
                </a:solidFill>
                <a:latin typeface="Menlo"/>
              </a:rPr>
              <a:t>     20 min</a:t>
            </a:r>
          </a:p>
        </p:txBody>
      </p:sp>
      <p:sp>
        <p:nvSpPr>
          <p:cNvPr id="19" name="Rectangle 18"/>
          <p:cNvSpPr/>
          <p:nvPr/>
        </p:nvSpPr>
        <p:spPr>
          <a:xfrm>
            <a:off x="777240" y="5248656"/>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58384"/>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02:50     </a:t>
            </a:r>
            <a:r>
              <a:rPr sz="1700">
                <a:solidFill>
                  <a:srgbClr val="0A0A0A"/>
                </a:solidFill>
                <a:latin typeface="Iowan Old Style"/>
              </a:rPr>
              <a:t>consultorio</a:t>
            </a:r>
            <a:r>
              <a:rPr sz="1100">
                <a:solidFill>
                  <a:srgbClr val="8A8A8A"/>
                </a:solidFill>
                <a:latin typeface="Menlo"/>
              </a:rPr>
              <a:t>     10 min</a:t>
            </a:r>
          </a:p>
        </p:txBody>
      </p:sp>
      <p:sp>
        <p:nvSpPr>
          <p:cNvPr id="21" name="Rectangle 20"/>
          <p:cNvSpPr/>
          <p:nvPr/>
        </p:nvSpPr>
        <p:spPr>
          <a:xfrm>
            <a:off x="777240" y="5724144"/>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00:00 · 30 MINUTOS</a:t>
            </a:r>
          </a:p>
          <a:p>
            <a:pPr>
              <a:lnSpc>
                <a:spcPct val="110000"/>
              </a:lnSpc>
              <a:spcBef>
                <a:spcPts val="0"/>
              </a:spcBef>
              <a:spcAft>
                <a:spcPts val="1800"/>
              </a:spcAft>
            </a:pPr>
            <a:r>
              <a:rPr sz="4000" b="0" i="0">
                <a:solidFill>
                  <a:srgbClr val="FFFFFF"/>
                </a:solidFill>
                <a:latin typeface="Inknut Antiqua"/>
              </a:rPr>
              <a:t>qué es todo esto</a:t>
            </a:r>
          </a:p>
          <a:p>
            <a:pPr>
              <a:lnSpc>
                <a:spcPct val="140000"/>
              </a:lnSpc>
              <a:spcBef>
                <a:spcPts val="0"/>
              </a:spcBef>
              <a:spcAft>
                <a:spcPts val="600"/>
              </a:spcAft>
            </a:pPr>
            <a:r>
              <a:rPr sz="1700" b="0" i="0">
                <a:solidFill>
                  <a:srgbClr val="BBBBBB"/>
                </a:solidFill>
                <a:latin typeface="Iowan Old Style"/>
              </a:rPr>
              <a:t>GitHub, Pages, Cloudflare, dominio, DNS. Cinco palabras que dan miedo y no son nada.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   ·   EL MAPA ENTERO</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el camino de tu carpeta a internet</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Cada casilla resuelve un problema distinto. Puedes cambiar cualquiera de ellas sin tocar las demás, y por eso esto no caduca.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el camino de tu carpeta a internet</a:t>
            </a:r>
          </a:p>
        </p:txBody>
      </p:sp>
      <p:sp>
        <p:nvSpPr>
          <p:cNvPr id="5" name="Rectangle 4"/>
          <p:cNvSpPr/>
          <p:nvPr/>
        </p:nvSpPr>
        <p:spPr>
          <a:xfrm>
            <a:off x="777240" y="1874520"/>
            <a:ext cx="10637215" cy="1874519"/>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472183"/>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tu carpeta          →   el repositorio   →   el servidor    →   la dirección</a:t>
            </a:r>
          </a:p>
          <a:p>
            <a:pPr>
              <a:lnSpc>
                <a:spcPct val="132000"/>
              </a:lnSpc>
              <a:spcBef>
                <a:spcPts val="0"/>
              </a:spcBef>
              <a:spcAft>
                <a:spcPts val="0"/>
              </a:spcAft>
            </a:pPr>
            <a:r>
              <a:rPr sz="1600" b="0" i="0">
                <a:solidFill>
                  <a:srgbClr val="0A0A0A"/>
                </a:solidFill>
                <a:latin typeface="Menlo"/>
              </a:rPr>
              <a:t>en tu ordenador         (GitHub)             (Pages)            (el dominio)</a:t>
            </a:r>
          </a:p>
          <a:p>
            <a:pPr>
              <a:lnSpc>
                <a:spcPct val="132000"/>
              </a:lnSpc>
              <a:spcBef>
                <a:spcPts val="0"/>
              </a:spcBef>
              <a:spcAft>
                <a:spcPts val="0"/>
              </a:spcAft>
            </a:pPr>
            <a:r>
              <a:rPr sz="1600" b="0" i="0">
                <a:solidFill>
                  <a:srgbClr val="0A0A0A"/>
                </a:solidFill>
                <a:latin typeface="Menlo"/>
              </a:rPr>
              <a:t> </a:t>
            </a:r>
          </a:p>
          <a:p>
            <a:pPr>
              <a:lnSpc>
                <a:spcPct val="132000"/>
              </a:lnSpc>
              <a:spcBef>
                <a:spcPts val="0"/>
              </a:spcBef>
              <a:spcAft>
                <a:spcPts val="0"/>
              </a:spcAft>
            </a:pPr>
            <a:r>
              <a:rPr sz="1600" b="0" i="0">
                <a:solidFill>
                  <a:srgbClr val="0A0A0A"/>
                </a:solidFill>
                <a:latin typeface="Menlo"/>
              </a:rPr>
              <a:t>editas aquí             guarda copia         la sirve a         la gente</a:t>
            </a:r>
          </a:p>
          <a:p>
            <a:pPr>
              <a:lnSpc>
                <a:spcPct val="132000"/>
              </a:lnSpc>
              <a:spcBef>
                <a:spcPts val="0"/>
              </a:spcBef>
              <a:spcAft>
                <a:spcPts val="0"/>
              </a:spcAft>
            </a:pPr>
            <a:r>
              <a:rPr sz="1600" b="0" i="0">
                <a:solidFill>
                  <a:srgbClr val="0A0A0A"/>
                </a:solidFill>
                <a:latin typeface="Menlo"/>
              </a:rPr>
              <a:t>                        e histórico          quien la pida      la escribe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qué es un repositorio, y qué es github</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33480"/>
              </a:lnSpc>
              <a:spcBef>
                <a:spcPts val="0"/>
              </a:spcBef>
              <a:spcAft>
                <a:spcPts val="879"/>
              </a:spcAft>
            </a:pPr>
            <a:r>
              <a:rPr sz="1465" b="0" i="0">
                <a:solidFill>
                  <a:srgbClr val="444444"/>
                </a:solidFill>
                <a:latin typeface="Iowan Old Style"/>
              </a:rPr>
              <a:t>Una carpeta que además guarda el histórico de sus cambios. Cada vez que subes algo queda registrado qué cambió, cuándo y por qué. Puedes volver a cualquier momento anterior.</a:t>
            </a:r>
          </a:p>
          <a:p>
            <a:pPr>
              <a:lnSpc>
                <a:spcPct val="133480"/>
              </a:lnSpc>
              <a:spcBef>
                <a:spcPts val="0"/>
              </a:spcBef>
              <a:spcAft>
                <a:spcPts val="879"/>
              </a:spcAft>
            </a:pPr>
            <a:r>
              <a:rPr sz="1465" b="0" i="0">
                <a:solidFill>
                  <a:srgbClr val="444444"/>
                </a:solidFill>
                <a:latin typeface="Iowan Old Style"/>
              </a:rPr>
              <a:t>Es la diferencia entre una carpeta normal y un repositorio. Nada más.</a:t>
            </a:r>
          </a:p>
          <a:p>
            <a:pPr>
              <a:lnSpc>
                <a:spcPct val="133480"/>
              </a:lnSpc>
              <a:spcBef>
                <a:spcPts val="0"/>
              </a:spcBef>
              <a:spcAft>
                <a:spcPts val="879"/>
              </a:spcAft>
            </a:pPr>
            <a:r>
              <a:rPr sz="1465" b="0" i="0">
                <a:solidFill>
                  <a:srgbClr val="444444"/>
                </a:solidFill>
                <a:latin typeface="Iowan Old Style"/>
              </a:rPr>
              <a:t>Una empresa que aloja repositorios gratis. Es de Microsoft. Usarla no te ata: tu carpeta sigue en tu ordenador, y si mañana GitHub cierra o te deja de gustar, subes esa misma carpeta a otro sitio en diez minutos.</a:t>
            </a:r>
          </a:p>
          <a:p>
            <a:pPr>
              <a:lnSpc>
                <a:spcPct val="133480"/>
              </a:lnSpc>
              <a:spcBef>
                <a:spcPts val="0"/>
              </a:spcBef>
              <a:spcAft>
                <a:spcPts val="879"/>
              </a:spcAft>
            </a:pPr>
            <a:r>
              <a:rPr sz="1465" b="0" i="0">
                <a:solidFill>
                  <a:srgbClr val="444444"/>
                </a:solidFill>
                <a:latin typeface="Iowan Old Style"/>
              </a:rPr>
              <a:t>Eso es lo que hace que esto sea autogestionado: la copia buena la tienes tú.</a:t>
            </a:r>
          </a:p>
          <a:p>
            <a:pPr>
              <a:lnSpc>
                <a:spcPct val="117500"/>
              </a:lnSpc>
              <a:spcBef>
                <a:spcPts val="1000"/>
              </a:spcBef>
              <a:spcAft>
                <a:spcPts val="293"/>
              </a:spcAft>
            </a:pPr>
            <a:r>
              <a:rPr sz="977" b="0" i="0" spc="300">
                <a:solidFill>
                  <a:srgbClr val="8A8A8A"/>
                </a:solidFill>
                <a:latin typeface="Menlo"/>
              </a:rPr>
              <a:t>NADA DE LÍNEA DE COMANDOS</a:t>
            </a:r>
          </a:p>
          <a:p>
            <a:pPr>
              <a:lnSpc>
                <a:spcPct val="131600"/>
              </a:lnSpc>
              <a:spcBef>
                <a:spcPts val="0"/>
              </a:spcBef>
              <a:spcAft>
                <a:spcPts val="781"/>
              </a:spcAft>
            </a:pPr>
            <a:r>
              <a:rPr sz="1367" b="0" i="0">
                <a:solidFill>
                  <a:srgbClr val="444444"/>
                </a:solidFill>
                <a:latin typeface="Iowan Old Style"/>
              </a:rPr>
              <a:t>Existe una forma de hacer esto escribiendo comandos, y es más cómoda a la larga. Hoy no la necesitas para nada. Todo con el ratón, en la web.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github pages y cloudflare pages</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33480"/>
              </a:lnSpc>
              <a:spcBef>
                <a:spcPts val="0"/>
              </a:spcBef>
              <a:spcAft>
                <a:spcPts val="714"/>
              </a:spcAft>
            </a:pPr>
            <a:r>
              <a:rPr sz="1190" b="0" i="0">
                <a:solidFill>
                  <a:srgbClr val="444444"/>
                </a:solidFill>
                <a:latin typeface="Iowan Old Style"/>
              </a:rPr>
              <a:t>Un repositorio, por sí solo, solo guarda archivos. Para que alguien pueda visitarlos hace falta un servidor que los entregue. Eso es lo que hacen estos dos, gratis:</a:t>
            </a:r>
          </a:p>
          <a:p>
            <a:pPr>
              <a:lnSpc>
                <a:spcPct val="126900"/>
              </a:lnSpc>
              <a:spcAft>
                <a:spcPts val="396"/>
              </a:spcAft>
            </a:pPr>
            <a:r>
              <a:rPr sz="991">
                <a:solidFill>
                  <a:srgbClr val="0A0A0A"/>
                </a:solidFill>
                <a:latin typeface="Menlo"/>
              </a:rPr>
              <a:t>servicio    </a:t>
            </a:r>
            <a:r>
              <a:rPr sz="1071">
                <a:solidFill>
                  <a:srgbClr val="444444"/>
                </a:solidFill>
                <a:latin typeface="Iowan Old Style"/>
              </a:rPr>
              <a:t>qué hace   —   cuándo</a:t>
            </a:r>
          </a:p>
          <a:p>
            <a:pPr>
              <a:lnSpc>
                <a:spcPct val="126900"/>
              </a:lnSpc>
              <a:spcAft>
                <a:spcPts val="396"/>
              </a:spcAft>
            </a:pPr>
            <a:r>
              <a:rPr sz="991">
                <a:solidFill>
                  <a:srgbClr val="0A0A0A"/>
                </a:solidFill>
                <a:latin typeface="Menlo"/>
              </a:rPr>
              <a:t>GitHub Pages    </a:t>
            </a:r>
            <a:r>
              <a:rPr sz="1071">
                <a:solidFill>
                  <a:srgbClr val="444444"/>
                </a:solidFill>
                <a:latin typeface="Iowan Old Style"/>
              </a:rPr>
              <a:t>Coge tu repositorio y lo publica en tunombre.github.io/mi-web. Cuatro clics, sin configurar nada.   —   Lo que usamos hoy.</a:t>
            </a:r>
          </a:p>
          <a:p>
            <a:pPr>
              <a:lnSpc>
                <a:spcPct val="126900"/>
              </a:lnSpc>
              <a:spcAft>
                <a:spcPts val="396"/>
              </a:spcAft>
            </a:pPr>
            <a:r>
              <a:rPr sz="991">
                <a:solidFill>
                  <a:srgbClr val="0A0A0A"/>
                </a:solidFill>
                <a:latin typeface="Menlo"/>
              </a:rPr>
              <a:t>Cloudflare Pages    </a:t>
            </a:r>
            <a:r>
              <a:rPr sz="1071">
                <a:solidFill>
                  <a:srgbClr val="444444"/>
                </a:solidFill>
                <a:latin typeface="Iowan Old Style"/>
              </a:rPr>
              <a:t>Lo mismo, pero conectado al repositorio: cada vez que subes un cambio, republica sola. Y va más rápido en el resto del mundo.   —   Buen segundo paso, cuando ya te aburra el proceso manual.</a:t>
            </a:r>
          </a:p>
          <a:p>
            <a:pPr>
              <a:lnSpc>
                <a:spcPct val="126900"/>
              </a:lnSpc>
              <a:spcAft>
                <a:spcPts val="396"/>
              </a:spcAft>
            </a:pPr>
            <a:r>
              <a:rPr sz="991">
                <a:solidFill>
                  <a:srgbClr val="0A0A0A"/>
                </a:solidFill>
                <a:latin typeface="Menlo"/>
              </a:rPr>
              <a:t>Neocities    </a:t>
            </a:r>
            <a:r>
              <a:rPr sz="1071">
                <a:solidFill>
                  <a:srgbClr val="444444"/>
                </a:solidFill>
                <a:latin typeface="Iowan Old Style"/>
              </a:rPr>
              <a:t>Más artesanal, con comunidad de webs personales y editor propio en la web.   —   Si te apetece la parte social.</a:t>
            </a:r>
          </a:p>
          <a:p>
            <a:pPr>
              <a:lnSpc>
                <a:spcPct val="117500"/>
              </a:lnSpc>
              <a:spcBef>
                <a:spcPts val="1000"/>
              </a:spcBef>
              <a:spcAft>
                <a:spcPts val="238"/>
              </a:spcAft>
            </a:pPr>
            <a:r>
              <a:rPr sz="950" b="0" i="0" spc="300">
                <a:solidFill>
                  <a:srgbClr val="8A8A8A"/>
                </a:solidFill>
                <a:latin typeface="Menlo"/>
              </a:rPr>
              <a:t>HOY, UN SOLO CAMINO</a:t>
            </a:r>
          </a:p>
          <a:p>
            <a:pPr>
              <a:lnSpc>
                <a:spcPct val="131600"/>
              </a:lnSpc>
              <a:spcBef>
                <a:spcPts val="0"/>
              </a:spcBef>
              <a:spcAft>
                <a:spcPts val="634"/>
              </a:spcAft>
            </a:pPr>
            <a:r>
              <a:rPr sz="1110" b="0" i="0">
                <a:solidFill>
                  <a:srgbClr val="444444"/>
                </a:solidFill>
                <a:latin typeface="Iowan Old Style"/>
              </a:rPr>
              <a:t>Montamos GitHub Pages y ya está. Cloudflare queda apuntado en la guía para cuando quieras. Dos caminos abiertos a la vez en clase es la manera de que nadie acabe ninguno.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qué es un dominio, y qué es el dns</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33480"/>
              </a:lnSpc>
              <a:spcBef>
                <a:spcPts val="0"/>
              </a:spcBef>
              <a:spcAft>
                <a:spcPts val="724"/>
              </a:spcAft>
            </a:pPr>
            <a:r>
              <a:rPr sz="1207" b="0" i="0">
                <a:solidFill>
                  <a:srgbClr val="444444"/>
                </a:solidFill>
                <a:latin typeface="Iowan Old Style"/>
              </a:rPr>
              <a:t>Cada servidor de internet tiene un número, algo como 185.199.108.153. Nadie se acuerda de eso.</a:t>
            </a:r>
          </a:p>
          <a:p>
            <a:pPr>
              <a:lnSpc>
                <a:spcPct val="133480"/>
              </a:lnSpc>
              <a:spcBef>
                <a:spcPts val="0"/>
              </a:spcBef>
              <a:spcAft>
                <a:spcPts val="724"/>
              </a:spcAft>
            </a:pPr>
            <a:r>
              <a:rPr sz="1207" b="0" i="0">
                <a:solidFill>
                  <a:srgbClr val="444444"/>
                </a:solidFill>
                <a:latin typeface="Iowan Old Style"/>
              </a:rPr>
              <a:t>Un dominio es un nombre alquilado que apunta a ese número: ritamestre.com. Lo alquilas por años, entre 10 y 15 € al año.</a:t>
            </a:r>
          </a:p>
          <a:p>
            <a:pPr>
              <a:lnSpc>
                <a:spcPct val="133480"/>
              </a:lnSpc>
              <a:spcBef>
                <a:spcPts val="0"/>
              </a:spcBef>
              <a:spcAft>
                <a:spcPts val="724"/>
              </a:spcAft>
            </a:pPr>
            <a:r>
              <a:rPr sz="1207" b="0" i="0">
                <a:solidFill>
                  <a:srgbClr val="444444"/>
                </a:solidFill>
                <a:latin typeface="Iowan Old Style"/>
              </a:rPr>
              <a:t>El DNS es la agenda de teléfonos que traduce el nombre al número. Cuando «conectas» un dominio a tu web, lo que haces es escribir una línea en esa agenda.</a:t>
            </a:r>
          </a:p>
          <a:p>
            <a:pPr>
              <a:lnSpc>
                <a:spcPct val="133480"/>
              </a:lnSpc>
              <a:spcBef>
                <a:spcPts val="0"/>
              </a:spcBef>
              <a:spcAft>
                <a:spcPts val="724"/>
              </a:spcAft>
            </a:pPr>
            <a:r>
              <a:rPr sz="1207" b="0" i="0">
                <a:solidFill>
                  <a:srgbClr val="444444"/>
                </a:solidFill>
                <a:latin typeface="Iowan Old Style"/>
              </a:rPr>
              <a:t>Tarda un rato en propagarse — de minutos a un día — porque esa agenda está copiada en medio mundo y cada copia se actualiza a su ritmo.</a:t>
            </a:r>
          </a:p>
          <a:p>
            <a:pPr>
              <a:lnSpc>
                <a:spcPct val="117500"/>
              </a:lnSpc>
              <a:spcBef>
                <a:spcPts val="1000"/>
              </a:spcBef>
              <a:spcAft>
                <a:spcPts val="241"/>
              </a:spcAft>
            </a:pPr>
            <a:r>
              <a:rPr sz="950" b="0" i="0" spc="300">
                <a:solidFill>
                  <a:srgbClr val="887000"/>
                </a:solidFill>
                <a:latin typeface="Menlo"/>
              </a:rPr>
              <a:t>LA REGLA QUE NO SE SALTA NUNCA</a:t>
            </a:r>
          </a:p>
          <a:p>
            <a:pPr>
              <a:lnSpc>
                <a:spcPct val="131600"/>
              </a:lnSpc>
              <a:spcBef>
                <a:spcPts val="0"/>
              </a:spcBef>
              <a:spcAft>
                <a:spcPts val="643"/>
              </a:spcAft>
            </a:pPr>
            <a:r>
              <a:rPr sz="1126" b="1" i="0">
                <a:solidFill>
                  <a:srgbClr val="0A0A0A"/>
                </a:solidFill>
                <a:latin typeface="Iowan Old Style"/>
              </a:rPr>
              <a:t>El dominio se pone a tu nombre y con tu correo. Siempre. Aunque te lo configure otra persona, aunque sea de confianza, aunque sea más cómodo. Es lo único de todo esto que se puede perder de verdad. La carpeta la tienes tú, el repositorio se rehace — pero un dominio a nombre de otro es un dominio que no es tuyo.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qué es un dominio, y qué es el dns</a:t>
            </a:r>
          </a:p>
        </p:txBody>
      </p:sp>
      <p:sp>
        <p:nvSpPr>
          <p:cNvPr id="5" name="Rectangle 4"/>
          <p:cNvSpPr/>
          <p:nvPr/>
        </p:nvSpPr>
        <p:spPr>
          <a:xfrm>
            <a:off x="777240" y="1874520"/>
            <a:ext cx="10637215" cy="1874519"/>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472183"/>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ritamestre.com</a:t>
            </a:r>
          </a:p>
          <a:p>
            <a:pPr>
              <a:lnSpc>
                <a:spcPct val="132000"/>
              </a:lnSpc>
              <a:spcBef>
                <a:spcPts val="0"/>
              </a:spcBef>
              <a:spcAft>
                <a:spcPts val="0"/>
              </a:spcAft>
            </a:pPr>
            <a:r>
              <a:rPr sz="1600" b="0" i="0">
                <a:solidFill>
                  <a:srgbClr val="0A0A0A"/>
                </a:solidFill>
                <a:latin typeface="Menlo"/>
              </a:rPr>
              <a:t>     ↓  el DNS traduce</a:t>
            </a:r>
          </a:p>
          <a:p>
            <a:pPr>
              <a:lnSpc>
                <a:spcPct val="132000"/>
              </a:lnSpc>
              <a:spcBef>
                <a:spcPts val="0"/>
              </a:spcBef>
              <a:spcAft>
                <a:spcPts val="0"/>
              </a:spcAft>
            </a:pPr>
            <a:r>
              <a:rPr sz="1600" b="0" i="0">
                <a:solidFill>
                  <a:srgbClr val="0A0A0A"/>
                </a:solidFill>
                <a:latin typeface="Menlo"/>
              </a:rPr>
              <a:t>185.199.108.153</a:t>
            </a:r>
          </a:p>
          <a:p>
            <a:pPr>
              <a:lnSpc>
                <a:spcPct val="132000"/>
              </a:lnSpc>
              <a:spcBef>
                <a:spcPts val="0"/>
              </a:spcBef>
              <a:spcAft>
                <a:spcPts val="0"/>
              </a:spcAft>
            </a:pPr>
            <a:r>
              <a:rPr sz="1600" b="0" i="0">
                <a:solidFill>
                  <a:srgbClr val="0A0A0A"/>
                </a:solidFill>
                <a:latin typeface="Menlo"/>
              </a:rPr>
              <a:t>     ↓  ahí vive</a:t>
            </a:r>
          </a:p>
          <a:p>
            <a:pPr>
              <a:lnSpc>
                <a:spcPct val="132000"/>
              </a:lnSpc>
              <a:spcBef>
                <a:spcPts val="0"/>
              </a:spcBef>
              <a:spcAft>
                <a:spcPts val="0"/>
              </a:spcAft>
            </a:pPr>
            <a:r>
              <a:rPr sz="1600" b="0" i="0">
                <a:solidFill>
                  <a:srgbClr val="0A0A0A"/>
                </a:solidFill>
                <a:latin typeface="Menlo"/>
              </a:rPr>
              <a:t>tu carpeta publicada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00:30 · 15 MINUTOS</a:t>
            </a:r>
          </a:p>
          <a:p>
            <a:pPr>
              <a:lnSpc>
                <a:spcPct val="110000"/>
              </a:lnSpc>
              <a:spcBef>
                <a:spcPts val="0"/>
              </a:spcBef>
              <a:spcAft>
                <a:spcPts val="1800"/>
              </a:spcAft>
            </a:pPr>
            <a:r>
              <a:rPr sz="4000" b="0" i="0">
                <a:solidFill>
                  <a:srgbClr val="0A0A0A"/>
                </a:solidFill>
                <a:latin typeface="Inknut Antiqua"/>
              </a:rPr>
              <a:t>checklist antes de publicar</a:t>
            </a:r>
          </a:p>
          <a:p>
            <a:pPr>
              <a:lnSpc>
                <a:spcPct val="140000"/>
              </a:lnSpc>
              <a:spcBef>
                <a:spcPts val="0"/>
              </a:spcBef>
              <a:spcAft>
                <a:spcPts val="600"/>
              </a:spcAft>
            </a:pPr>
            <a:r>
              <a:rPr sz="1700" b="0" i="0">
                <a:solidFill>
                  <a:srgbClr val="33300A"/>
                </a:solidFill>
                <a:latin typeface="Iowan Old Style"/>
              </a:rPr>
              <a:t>Cinco minutos repasando la carpeta, persona a persona. Ahorran media hora de depuración después.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D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7C14"/>
                </a:solidFill>
                <a:latin typeface="Menlo"/>
              </a:rPr>
              <a:t>PRÁCTICA</a:t>
            </a:r>
          </a:p>
        </p:txBody>
      </p:sp>
      <p:sp>
        <p:nvSpPr>
          <p:cNvPr id="5" name="TextBox 4"/>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ANTES DE SUBIR NADA   ·   5 MIN QUE AHORRAN 30</a:t>
            </a:r>
          </a:p>
        </p:txBody>
      </p:sp>
      <p:sp>
        <p:nvSpPr>
          <p:cNvPr id="6" name="Rectangle 5"/>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checklist antes de publicar</a:t>
            </a:r>
          </a:p>
        </p:txBody>
      </p:sp>
      <p:sp>
        <p:nvSpPr>
          <p:cNvPr id="8" name="TextBox 7"/>
          <p:cNvSpPr txBox="1"/>
          <p:nvPr/>
        </p:nvSpPr>
        <p:spPr>
          <a:xfrm>
            <a:off x="777240" y="2057400"/>
            <a:ext cx="10637215" cy="4251960"/>
          </a:xfrm>
          <a:prstGeom prst="rect">
            <a:avLst/>
          </a:prstGeom>
          <a:noFill/>
        </p:spPr>
        <p:txBody>
          <a:bodyPr wrap="square" lIns="0" rIns="0" tIns="0" bIns="0">
            <a:spAutoFit/>
          </a:bodyPr>
          <a:lstStyle/>
          <a:p>
            <a:pPr>
              <a:lnSpc>
                <a:spcPct val="131600"/>
              </a:lnSpc>
              <a:spcBef>
                <a:spcPts val="0"/>
              </a:spcBef>
              <a:spcAft>
                <a:spcPts val="419"/>
              </a:spcAft>
            </a:pPr>
            <a:r>
              <a:rPr sz="1215" b="0" i="0">
                <a:solidFill>
                  <a:srgbClr val="444444"/>
                </a:solidFill>
                <a:latin typeface="Iowan Old Style"/>
              </a:rPr>
              <a:t>☐  La portada se llama exactamente index.html</a:t>
            </a:r>
          </a:p>
          <a:p>
            <a:pPr>
              <a:lnSpc>
                <a:spcPct val="131600"/>
              </a:lnSpc>
              <a:spcBef>
                <a:spcPts val="0"/>
              </a:spcBef>
              <a:spcAft>
                <a:spcPts val="419"/>
              </a:spcAft>
            </a:pPr>
            <a:r>
              <a:rPr sz="1215" b="0" i="0">
                <a:solidFill>
                  <a:srgbClr val="444444"/>
                </a:solidFill>
                <a:latin typeface="Iowan Old Style"/>
              </a:rPr>
              <a:t>☐  Todas las imágenes están dentro de img/</a:t>
            </a:r>
          </a:p>
          <a:p>
            <a:pPr>
              <a:lnSpc>
                <a:spcPct val="131600"/>
              </a:lnSpc>
              <a:spcBef>
                <a:spcPts val="0"/>
              </a:spcBef>
              <a:spcAft>
                <a:spcPts val="419"/>
              </a:spcAft>
            </a:pPr>
            <a:r>
              <a:rPr sz="1215" b="0" i="0">
                <a:solidFill>
                  <a:srgbClr val="444444"/>
                </a:solidFill>
                <a:latin typeface="Iowan Old Style"/>
              </a:rPr>
              <a:t>☐  Ningún nombre tiene espacios, acentos ni mayúsculas</a:t>
            </a:r>
          </a:p>
          <a:p>
            <a:pPr>
              <a:lnSpc>
                <a:spcPct val="131600"/>
              </a:lnSpc>
              <a:spcBef>
                <a:spcPts val="0"/>
              </a:spcBef>
              <a:spcAft>
                <a:spcPts val="419"/>
              </a:spcAft>
            </a:pPr>
            <a:r>
              <a:rPr sz="1215" b="0" i="0">
                <a:solidFill>
                  <a:srgbClr val="444444"/>
                </a:solidFill>
                <a:latin typeface="Iowan Old Style"/>
              </a:rPr>
              <a:t>☐  Cada página tiene su &lt;title&gt; propio y descriptivo</a:t>
            </a:r>
          </a:p>
          <a:p>
            <a:pPr>
              <a:lnSpc>
                <a:spcPct val="131600"/>
              </a:lnSpc>
              <a:spcBef>
                <a:spcPts val="0"/>
              </a:spcBef>
              <a:spcAft>
                <a:spcPts val="419"/>
              </a:spcAft>
            </a:pPr>
            <a:r>
              <a:rPr sz="1215" b="0" i="0">
                <a:solidFill>
                  <a:srgbClr val="444444"/>
                </a:solidFill>
                <a:latin typeface="Iowan Old Style"/>
              </a:rPr>
              <a:t>☐  Todas llevan &lt;meta charset="UTF-8"&gt;</a:t>
            </a:r>
          </a:p>
          <a:p>
            <a:pPr>
              <a:lnSpc>
                <a:spcPct val="131600"/>
              </a:lnSpc>
              <a:spcBef>
                <a:spcPts val="0"/>
              </a:spcBef>
              <a:spcAft>
                <a:spcPts val="419"/>
              </a:spcAft>
            </a:pPr>
            <a:r>
              <a:rPr sz="1215" b="0" i="0">
                <a:solidFill>
                  <a:srgbClr val="444444"/>
                </a:solidFill>
                <a:latin typeface="Iowan Old Style"/>
              </a:rPr>
              <a:t>☐  Todas las imágenes tienen alt escrito</a:t>
            </a:r>
          </a:p>
          <a:p>
            <a:pPr>
              <a:lnSpc>
                <a:spcPct val="131600"/>
              </a:lnSpc>
              <a:spcBef>
                <a:spcPts val="0"/>
              </a:spcBef>
              <a:spcAft>
                <a:spcPts val="419"/>
              </a:spcAft>
            </a:pPr>
            <a:r>
              <a:rPr sz="1215" b="0" i="0">
                <a:solidFill>
                  <a:srgbClr val="444444"/>
                </a:solidFill>
                <a:latin typeface="Iowan Old Style"/>
              </a:rPr>
              <a:t>☐  El menú es idéntico en todas las páginas</a:t>
            </a:r>
          </a:p>
          <a:p>
            <a:pPr>
              <a:lnSpc>
                <a:spcPct val="131600"/>
              </a:lnSpc>
              <a:spcBef>
                <a:spcPts val="0"/>
              </a:spcBef>
              <a:spcAft>
                <a:spcPts val="419"/>
              </a:spcAft>
            </a:pPr>
            <a:r>
              <a:rPr sz="1215" b="0" i="0">
                <a:solidFill>
                  <a:srgbClr val="444444"/>
                </a:solidFill>
                <a:latin typeface="Iowan Old Style"/>
              </a:rPr>
              <a:t>☐  Todos los enlaces funcionan en local, en los dos sentidos</a:t>
            </a:r>
          </a:p>
          <a:p>
            <a:pPr>
              <a:lnSpc>
                <a:spcPct val="131600"/>
              </a:lnSpc>
              <a:spcBef>
                <a:spcPts val="0"/>
              </a:spcBef>
              <a:spcAft>
                <a:spcPts val="419"/>
              </a:spcAft>
            </a:pPr>
            <a:r>
              <a:rPr sz="1215" b="0" i="0">
                <a:solidFill>
                  <a:srgbClr val="444444"/>
                </a:solidFill>
                <a:latin typeface="Iowan Old Style"/>
              </a:rPr>
              <a:t>☐  No quedan comentarios de instrucciones ni texto de relleno</a:t>
            </a:r>
          </a:p>
          <a:p>
            <a:pPr>
              <a:lnSpc>
                <a:spcPct val="131600"/>
              </a:lnSpc>
              <a:spcBef>
                <a:spcPts val="0"/>
              </a:spcBef>
              <a:spcAft>
                <a:spcPts val="419"/>
              </a:spcAft>
            </a:pPr>
            <a:r>
              <a:rPr sz="1215" b="0" i="0">
                <a:solidFill>
                  <a:srgbClr val="444444"/>
                </a:solidFill>
                <a:latin typeface="Iowan Old Style"/>
              </a:rPr>
              <a:t>☐  El &lt;link&gt; al CSS está en todas las páginas</a:t>
            </a:r>
          </a:p>
          <a:p>
            <a:pPr>
              <a:lnSpc>
                <a:spcPct val="131600"/>
              </a:lnSpc>
              <a:spcBef>
                <a:spcPts val="0"/>
              </a:spcBef>
              <a:spcAft>
                <a:spcPts val="419"/>
              </a:spcAft>
            </a:pPr>
            <a:r>
              <a:rPr sz="1215" b="0" i="0">
                <a:solidFill>
                  <a:srgbClr val="444444"/>
                </a:solidFill>
                <a:latin typeface="Iowan Old Style"/>
              </a:rPr>
              <a:t>☐  img { max-width: 100%; } está puesto</a:t>
            </a:r>
          </a:p>
          <a:p>
            <a:pPr>
              <a:lnSpc>
                <a:spcPct val="131600"/>
              </a:lnSpc>
              <a:spcBef>
                <a:spcPts val="0"/>
              </a:spcBef>
              <a:spcAft>
                <a:spcPts val="419"/>
              </a:spcAft>
            </a:pPr>
            <a:r>
              <a:rPr sz="1215" b="0" i="0">
                <a:solidFill>
                  <a:srgbClr val="444444"/>
                </a:solidFill>
                <a:latin typeface="Iowan Old Style"/>
              </a:rPr>
              <a:t>☐  Se ve bien estrechando la ventana hasta tamaño móvil</a:t>
            </a:r>
          </a:p>
          <a:p>
            <a:pPr>
              <a:lnSpc>
                <a:spcPct val="131600"/>
              </a:lnSpc>
              <a:spcBef>
                <a:spcPts val="0"/>
              </a:spcBef>
              <a:spcAft>
                <a:spcPts val="419"/>
              </a:spcAft>
            </a:pPr>
            <a:r>
              <a:rPr sz="1215" b="0" i="0">
                <a:solidFill>
                  <a:srgbClr val="444444"/>
                </a:solidFill>
                <a:latin typeface="Iowan Old Style"/>
              </a:rPr>
              <a:t>☐  Ninguna imagen pasa de 1 MB</a:t>
            </a:r>
          </a:p>
          <a:p>
            <a:pPr>
              <a:lnSpc>
                <a:spcPct val="131600"/>
              </a:lnSpc>
              <a:spcBef>
                <a:spcPts val="0"/>
              </a:spcBef>
              <a:spcAft>
                <a:spcPts val="419"/>
              </a:spcAft>
            </a:pPr>
            <a:r>
              <a:rPr sz="1215" b="0" i="0">
                <a:solidFill>
                  <a:srgbClr val="444444"/>
                </a:solidFill>
                <a:latin typeface="Iowan Old Style"/>
              </a:rPr>
              <a:t>☐  La carpeta entera pesa menos de 25 MB</a:t>
            </a:r>
          </a:p>
          <a:p>
            <a:pPr>
              <a:lnSpc>
                <a:spcPct val="131600"/>
              </a:lnSpc>
              <a:spcBef>
                <a:spcPts val="0"/>
              </a:spcBef>
              <a:spcAft>
                <a:spcPts val="419"/>
              </a:spcAft>
            </a:pPr>
            <a:r>
              <a:rPr sz="1215" b="0" i="0">
                <a:solidFill>
                  <a:srgbClr val="444444"/>
                </a:solidFill>
                <a:latin typeface="Iowan Old Style"/>
              </a:rPr>
              <a:t>☐  La web abre en el móvil</a:t>
            </a:r>
          </a:p>
          <a:p>
            <a:pPr>
              <a:lnSpc>
                <a:spcPct val="131600"/>
              </a:lnSpc>
              <a:spcBef>
                <a:spcPts val="0"/>
              </a:spcBef>
              <a:spcAft>
                <a:spcPts val="419"/>
              </a:spcAft>
            </a:pPr>
            <a:r>
              <a:rPr sz="1215" b="0" i="0">
                <a:solidFill>
                  <a:srgbClr val="444444"/>
                </a:solidFill>
                <a:latin typeface="Iowan Old Style"/>
              </a:rPr>
              <a:t>☐  Las imágenes se ven publicadas, no solo en local</a:t>
            </a:r>
          </a:p>
          <a:p>
            <a:pPr>
              <a:lnSpc>
                <a:spcPct val="131600"/>
              </a:lnSpc>
              <a:spcBef>
                <a:spcPts val="0"/>
              </a:spcBef>
              <a:spcAft>
                <a:spcPts val="419"/>
              </a:spcAft>
            </a:pPr>
            <a:r>
              <a:rPr sz="1215" b="0" i="0">
                <a:solidFill>
                  <a:srgbClr val="444444"/>
                </a:solidFill>
                <a:latin typeface="Iowan Old Style"/>
              </a:rPr>
              <a:t>☐  Los enlaces del menú funcionan también publicados</a:t>
            </a:r>
          </a:p>
          <a:p>
            <a:pPr>
              <a:lnSpc>
                <a:spcPct val="131600"/>
              </a:lnSpc>
              <a:spcBef>
                <a:spcPts val="0"/>
              </a:spcBef>
              <a:spcAft>
                <a:spcPts val="419"/>
              </a:spcAft>
            </a:pPr>
            <a:r>
              <a:rPr sz="1215" b="0" i="0">
                <a:solidFill>
                  <a:srgbClr val="444444"/>
                </a:solidFill>
                <a:latin typeface="Iowan Old Style"/>
              </a:rPr>
              <a:t>☐  La dirección está apuntada en papel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00:45 · 30 MINUTOS</a:t>
            </a:r>
          </a:p>
          <a:p>
            <a:pPr>
              <a:lnSpc>
                <a:spcPct val="110000"/>
              </a:lnSpc>
              <a:spcBef>
                <a:spcPts val="0"/>
              </a:spcBef>
              <a:spcAft>
                <a:spcPts val="1800"/>
              </a:spcAft>
            </a:pPr>
            <a:r>
              <a:rPr sz="4000" b="0" i="0">
                <a:solidFill>
                  <a:srgbClr val="0A0A0A"/>
                </a:solidFill>
                <a:latin typeface="Inknut Antiqua"/>
              </a:rPr>
              <a:t>ejercicio 6 · subir y publicar</a:t>
            </a:r>
          </a:p>
          <a:p>
            <a:pPr>
              <a:lnSpc>
                <a:spcPct val="140000"/>
              </a:lnSpc>
              <a:spcBef>
                <a:spcPts val="0"/>
              </a:spcBef>
              <a:spcAft>
                <a:spcPts val="600"/>
              </a:spcAft>
            </a:pPr>
            <a:r>
              <a:rPr sz="1700" b="0" i="0">
                <a:solidFill>
                  <a:srgbClr val="33300A"/>
                </a:solidFill>
                <a:latin typeface="Iowan Old Style"/>
              </a:rPr>
              <a:t>Ahora entendiendo cada paso. Nadie pasa al siguiente bloque sin su dirección funcionando.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D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7C14"/>
                </a:solidFill>
                <a:latin typeface="Menlo"/>
              </a:rPr>
              <a:t>PRÁCTICA</a:t>
            </a:r>
          </a:p>
        </p:txBody>
      </p:sp>
      <p:sp>
        <p:nvSpPr>
          <p:cNvPr id="5" name="TextBox 4"/>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EJERCICIO 6   ·   30 MIN · PASO A PASO</a:t>
            </a:r>
          </a:p>
        </p:txBody>
      </p:sp>
      <p:sp>
        <p:nvSpPr>
          <p:cNvPr id="6" name="Rectangle 5"/>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subir y publicar</a:t>
            </a:r>
          </a:p>
        </p:txBody>
      </p:sp>
      <p:sp>
        <p:nvSpPr>
          <p:cNvPr id="8" name="TextBox 7"/>
          <p:cNvSpPr txBox="1"/>
          <p:nvPr/>
        </p:nvSpPr>
        <p:spPr>
          <a:xfrm>
            <a:off x="777240" y="2057400"/>
            <a:ext cx="10637215" cy="4251960"/>
          </a:xfrm>
          <a:prstGeom prst="rect">
            <a:avLst/>
          </a:prstGeom>
          <a:noFill/>
        </p:spPr>
        <p:txBody>
          <a:bodyPr wrap="square" lIns="0" rIns="0" tIns="0" bIns="0">
            <a:spAutoFit/>
          </a:bodyPr>
          <a:lstStyle/>
          <a:p>
            <a:pPr>
              <a:lnSpc>
                <a:spcPct val="117500"/>
              </a:lnSpc>
              <a:spcBef>
                <a:spcPts val="1000"/>
              </a:spcBef>
              <a:spcAft>
                <a:spcPts val="328"/>
              </a:spcAft>
            </a:pPr>
            <a:r>
              <a:rPr sz="950" b="0" i="0" spc="500">
                <a:solidFill>
                  <a:srgbClr val="8A7C14"/>
                </a:solidFill>
                <a:latin typeface="Menlo"/>
              </a:rPr>
              <a:t>HAY QUE</a:t>
            </a:r>
          </a:p>
          <a:p>
            <a:pPr>
              <a:lnSpc>
                <a:spcPct val="126900"/>
              </a:lnSpc>
              <a:spcBef>
                <a:spcPts val="0"/>
              </a:spcBef>
              <a:spcAft>
                <a:spcPts val="246"/>
              </a:spcAft>
            </a:pPr>
            <a:r>
              <a:rPr sz="1110" b="0" i="0">
                <a:solidFill>
                  <a:srgbClr val="444444"/>
                </a:solidFill>
                <a:latin typeface="Iowan Old Style"/>
              </a:rPr>
              <a:t>☐  La checklist repasada entera</a:t>
            </a:r>
          </a:p>
          <a:p>
            <a:pPr>
              <a:lnSpc>
                <a:spcPct val="126900"/>
              </a:lnSpc>
              <a:spcBef>
                <a:spcPts val="0"/>
              </a:spcBef>
              <a:spcAft>
                <a:spcPts val="246"/>
              </a:spcAft>
            </a:pPr>
            <a:r>
              <a:rPr sz="1110" b="0" i="0">
                <a:solidFill>
                  <a:srgbClr val="444444"/>
                </a:solidFill>
                <a:latin typeface="Iowan Old Style"/>
              </a:rPr>
              <a:t>☐  New repository → nombre → Public</a:t>
            </a:r>
          </a:p>
          <a:p>
            <a:pPr>
              <a:lnSpc>
                <a:spcPct val="126900"/>
              </a:lnSpc>
              <a:spcBef>
                <a:spcPts val="0"/>
              </a:spcBef>
              <a:spcAft>
                <a:spcPts val="246"/>
              </a:spcAft>
            </a:pPr>
            <a:r>
              <a:rPr sz="1110" b="0" i="0">
                <a:solidFill>
                  <a:srgbClr val="444444"/>
                </a:solidFill>
                <a:latin typeface="Iowan Old Style"/>
              </a:rPr>
              <a:t>☐  Arrastrar el contenido, no la carpeta</a:t>
            </a:r>
          </a:p>
          <a:p>
            <a:pPr>
              <a:lnSpc>
                <a:spcPct val="126900"/>
              </a:lnSpc>
              <a:spcBef>
                <a:spcPts val="0"/>
              </a:spcBef>
              <a:spcAft>
                <a:spcPts val="246"/>
              </a:spcAft>
            </a:pPr>
            <a:r>
              <a:rPr sz="1110" b="0" i="0">
                <a:solidFill>
                  <a:srgbClr val="444444"/>
                </a:solidFill>
                <a:latin typeface="Iowan Old Style"/>
              </a:rPr>
              <a:t>☐  Commit changes</a:t>
            </a:r>
          </a:p>
          <a:p>
            <a:pPr>
              <a:lnSpc>
                <a:spcPct val="126900"/>
              </a:lnSpc>
              <a:spcBef>
                <a:spcPts val="0"/>
              </a:spcBef>
              <a:spcAft>
                <a:spcPts val="246"/>
              </a:spcAft>
            </a:pPr>
            <a:r>
              <a:rPr sz="1110" b="0" i="0">
                <a:solidFill>
                  <a:srgbClr val="444444"/>
                </a:solidFill>
                <a:latin typeface="Iowan Old Style"/>
              </a:rPr>
              <a:t>☐  Settings → Pages → main → Save</a:t>
            </a:r>
          </a:p>
          <a:p>
            <a:pPr>
              <a:lnSpc>
                <a:spcPct val="126900"/>
              </a:lnSpc>
              <a:spcBef>
                <a:spcPts val="0"/>
              </a:spcBef>
              <a:spcAft>
                <a:spcPts val="246"/>
              </a:spcAft>
            </a:pPr>
            <a:r>
              <a:rPr sz="1110" b="0" i="0">
                <a:solidFill>
                  <a:srgbClr val="444444"/>
                </a:solidFill>
                <a:latin typeface="Iowan Old Style"/>
              </a:rPr>
              <a:t>☐  La dirección apuntada en papel</a:t>
            </a:r>
          </a:p>
          <a:p>
            <a:pPr>
              <a:lnSpc>
                <a:spcPct val="117500"/>
              </a:lnSpc>
              <a:spcBef>
                <a:spcPts val="1000"/>
              </a:spcBef>
              <a:spcAft>
                <a:spcPts val="328"/>
              </a:spcAft>
            </a:pPr>
            <a:r>
              <a:rPr sz="950" b="0" i="0" spc="500">
                <a:solidFill>
                  <a:srgbClr val="8A7C14"/>
                </a:solidFill>
                <a:latin typeface="Menlo"/>
              </a:rPr>
              <a:t>PUEDES</a:t>
            </a:r>
          </a:p>
          <a:p>
            <a:pPr>
              <a:lnSpc>
                <a:spcPct val="126900"/>
              </a:lnSpc>
              <a:spcBef>
                <a:spcPts val="0"/>
              </a:spcBef>
              <a:spcAft>
                <a:spcPts val="246"/>
              </a:spcAft>
            </a:pPr>
            <a:r>
              <a:rPr sz="1110" b="0" i="0">
                <a:solidFill>
                  <a:srgbClr val="444444"/>
                </a:solidFill>
                <a:latin typeface="Iowan Old Style"/>
              </a:rPr>
              <a:t>☐  Abrirla en tu móvil</a:t>
            </a:r>
          </a:p>
          <a:p>
            <a:pPr>
              <a:lnSpc>
                <a:spcPct val="126900"/>
              </a:lnSpc>
              <a:spcBef>
                <a:spcPts val="0"/>
              </a:spcBef>
              <a:spcAft>
                <a:spcPts val="246"/>
              </a:spcAft>
            </a:pPr>
            <a:r>
              <a:rPr sz="1110" b="0" i="0">
                <a:solidFill>
                  <a:srgbClr val="444444"/>
                </a:solidFill>
                <a:latin typeface="Iowan Old Style"/>
              </a:rPr>
              <a:t>☐  Comprobar que los enlaces funcionan publicados</a:t>
            </a:r>
          </a:p>
          <a:p>
            <a:pPr>
              <a:lnSpc>
                <a:spcPct val="126900"/>
              </a:lnSpc>
              <a:spcBef>
                <a:spcPts val="0"/>
              </a:spcBef>
              <a:spcAft>
                <a:spcPts val="246"/>
              </a:spcAft>
            </a:pPr>
            <a:r>
              <a:rPr sz="1110" b="0" i="0">
                <a:solidFill>
                  <a:srgbClr val="444444"/>
                </a:solidFill>
                <a:latin typeface="Iowan Old Style"/>
              </a:rPr>
              <a:t>☐  Comprobar que las imágenes se ven</a:t>
            </a:r>
          </a:p>
          <a:p>
            <a:pPr>
              <a:lnSpc>
                <a:spcPct val="126900"/>
              </a:lnSpc>
              <a:spcBef>
                <a:spcPts val="0"/>
              </a:spcBef>
              <a:spcAft>
                <a:spcPts val="246"/>
              </a:spcAft>
            </a:pPr>
            <a:r>
              <a:rPr sz="1110" b="0" i="0">
                <a:solidFill>
                  <a:srgbClr val="444444"/>
                </a:solidFill>
                <a:latin typeface="Iowan Old Style"/>
              </a:rPr>
              <a:t>☐  Poner un favicon</a:t>
            </a:r>
          </a:p>
          <a:p>
            <a:pPr>
              <a:lnSpc>
                <a:spcPct val="117500"/>
              </a:lnSpc>
              <a:spcBef>
                <a:spcPts val="1000"/>
              </a:spcBef>
              <a:spcAft>
                <a:spcPts val="328"/>
              </a:spcAft>
            </a:pPr>
            <a:r>
              <a:rPr sz="950" b="0" i="0" spc="500">
                <a:solidFill>
                  <a:srgbClr val="8A7C14"/>
                </a:solidFill>
                <a:latin typeface="Menlo"/>
              </a:rPr>
              <a:t>PODRÍAS</a:t>
            </a:r>
          </a:p>
          <a:p>
            <a:pPr>
              <a:lnSpc>
                <a:spcPct val="126900"/>
              </a:lnSpc>
              <a:spcBef>
                <a:spcPts val="0"/>
              </a:spcBef>
              <a:spcAft>
                <a:spcPts val="246"/>
              </a:spcAft>
            </a:pPr>
            <a:r>
              <a:rPr sz="1110" b="0" i="0">
                <a:solidFill>
                  <a:srgbClr val="444444"/>
                </a:solidFill>
                <a:latin typeface="Iowan Old Style"/>
              </a:rPr>
              <a:t>☐  Una meta description por página</a:t>
            </a:r>
          </a:p>
          <a:p>
            <a:pPr>
              <a:lnSpc>
                <a:spcPct val="126900"/>
              </a:lnSpc>
              <a:spcBef>
                <a:spcPts val="0"/>
              </a:spcBef>
              <a:spcAft>
                <a:spcPts val="246"/>
              </a:spcAft>
            </a:pPr>
            <a:r>
              <a:rPr sz="1110" b="0" i="0">
                <a:solidFill>
                  <a:srgbClr val="444444"/>
                </a:solidFill>
                <a:latin typeface="Iowan Old Style"/>
              </a:rPr>
              <a:t>☐  Cloudflare Pages sobre el mismo repositorio</a:t>
            </a:r>
          </a:p>
          <a:p>
            <a:pPr>
              <a:lnSpc>
                <a:spcPct val="126900"/>
              </a:lnSpc>
              <a:spcBef>
                <a:spcPts val="0"/>
              </a:spcBef>
              <a:spcAft>
                <a:spcPts val="246"/>
              </a:spcAft>
            </a:pPr>
            <a:r>
              <a:rPr sz="1110" b="0" i="0">
                <a:solidFill>
                  <a:srgbClr val="444444"/>
                </a:solidFill>
                <a:latin typeface="Iowan Old Style"/>
              </a:rPr>
              <a:t>☐  Un dominio propio (en casa, con calma)</a:t>
            </a:r>
          </a:p>
          <a:p>
            <a:pPr>
              <a:lnSpc>
                <a:spcPct val="126900"/>
              </a:lnSpc>
              <a:spcBef>
                <a:spcPts val="0"/>
              </a:spcBef>
              <a:spcAft>
                <a:spcPts val="246"/>
              </a:spcAft>
            </a:pPr>
            <a:r>
              <a:rPr sz="1110" b="0" i="0">
                <a:solidFill>
                  <a:srgbClr val="444444"/>
                </a:solidFill>
                <a:latin typeface="Iowan Old Style"/>
              </a:rPr>
              <a:t>☐  Una página 404.html tuya</a:t>
            </a:r>
          </a:p>
          <a:p>
            <a:pPr>
              <a:lnSpc>
                <a:spcPct val="117500"/>
              </a:lnSpc>
              <a:spcBef>
                <a:spcPts val="1000"/>
              </a:spcBef>
              <a:spcAft>
                <a:spcPts val="246"/>
              </a:spcAft>
            </a:pPr>
            <a:r>
              <a:rPr sz="950" b="0" i="0" spc="300">
                <a:solidFill>
                  <a:srgbClr val="8A8A8A"/>
                </a:solidFill>
                <a:latin typeface="Menlo"/>
              </a:rPr>
              <a:t>SI SALE UN 404</a:t>
            </a:r>
          </a:p>
          <a:p>
            <a:pPr>
              <a:lnSpc>
                <a:spcPct val="131600"/>
              </a:lnSpc>
              <a:spcBef>
                <a:spcPts val="0"/>
              </a:spcBef>
              <a:spcAft>
                <a:spcPts val="657"/>
              </a:spcAft>
            </a:pPr>
            <a:r>
              <a:rPr sz="1151" b="0" i="0">
                <a:solidFill>
                  <a:srgbClr val="444444"/>
                </a:solidFill>
                <a:latin typeface="Iowan Old Style"/>
              </a:rPr>
              <a:t>Entra en tu repositorio: ¿ves index.html nada más abrirlo? Si lo que ves es una carpeta, subiste la carpeta contenedora. Bórralo y vuelve a subir solo el contenido.</a:t>
            </a:r>
          </a:p>
          <a:p>
            <a:pPr>
              <a:lnSpc>
                <a:spcPct val="117500"/>
              </a:lnSpc>
              <a:spcBef>
                <a:spcPts val="1000"/>
              </a:spcBef>
              <a:spcAft>
                <a:spcPts val="246"/>
              </a:spcAft>
            </a:pPr>
            <a:r>
              <a:rPr sz="950" b="0" i="0" spc="300">
                <a:solidFill>
                  <a:srgbClr val="887000"/>
                </a:solidFill>
                <a:latin typeface="Menlo"/>
              </a:rPr>
              <a:t>APUNTA AQUÍ TU DIRECCIÓN</a:t>
            </a:r>
          </a:p>
          <a:p>
            <a:pPr>
              <a:lnSpc>
                <a:spcPct val="131600"/>
              </a:lnSpc>
              <a:spcBef>
                <a:spcPts val="0"/>
              </a:spcBef>
              <a:spcAft>
                <a:spcPts val="657"/>
              </a:spcAft>
            </a:pPr>
            <a:r>
              <a:rPr sz="1151" b="1" i="0">
                <a:solidFill>
                  <a:srgbClr val="0A0A0A"/>
                </a:solidFill>
                <a:latin typeface="Iowan Old Style"/>
              </a:rPr>
              <a:t>tunombre.github.io / _______________ En papel. Ahora. Y ábrela en el móvil: es donde se ve para qué servía la media query de la sesión pasada.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01:00 · 20 MINUTOS</a:t>
            </a:r>
          </a:p>
          <a:p>
            <a:pPr>
              <a:lnSpc>
                <a:spcPct val="110000"/>
              </a:lnSpc>
              <a:spcBef>
                <a:spcPts val="0"/>
              </a:spcBef>
              <a:spcAft>
                <a:spcPts val="1800"/>
              </a:spcAft>
            </a:pPr>
            <a:r>
              <a:rPr sz="4000" b="0" i="0">
                <a:solidFill>
                  <a:srgbClr val="FFFFFF"/>
                </a:solidFill>
                <a:latin typeface="Inknut Antiqua"/>
              </a:rPr>
              <a:t>un dominio propio</a:t>
            </a:r>
          </a:p>
          <a:p>
            <a:pPr>
              <a:lnSpc>
                <a:spcPct val="140000"/>
              </a:lnSpc>
              <a:spcBef>
                <a:spcPts val="0"/>
              </a:spcBef>
              <a:spcAft>
                <a:spcPts val="600"/>
              </a:spcAft>
            </a:pPr>
            <a:r>
              <a:rPr sz="1700" b="0" i="0">
                <a:solidFill>
                  <a:srgbClr val="BBBBBB"/>
                </a:solidFill>
                <a:latin typeface="Iowan Old Style"/>
              </a:rPr>
              <a:t>Opcional, cuesta unos 12 € al año, y hay una regla que ya sabes.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01:00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si quieres tunombre.com</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0000"/>
              </a:lnSpc>
              <a:spcBef>
                <a:spcPts val="0"/>
              </a:spcBef>
              <a:spcAft>
                <a:spcPts val="500"/>
              </a:spcAft>
            </a:pPr>
            <a:r>
              <a:rPr sz="1450" b="0" i="0">
                <a:solidFill>
                  <a:srgbClr val="444444"/>
                </a:solidFill>
                <a:latin typeface="Iowan Old Style"/>
              </a:rPr>
              <a:t>·  Se compra aparte: entre 10 y 15 € al año en Porkbun, Namecheap o Gandi.</a:t>
            </a:r>
          </a:p>
          <a:p>
            <a:pPr>
              <a:lnSpc>
                <a:spcPct val="140000"/>
              </a:lnSpc>
              <a:spcBef>
                <a:spcPts val="0"/>
              </a:spcBef>
              <a:spcAft>
                <a:spcPts val="500"/>
              </a:spcAft>
            </a:pPr>
            <a:r>
              <a:rPr sz="1450" b="0" i="0">
                <a:solidFill>
                  <a:srgbClr val="444444"/>
                </a:solidFill>
                <a:latin typeface="Iowan Old Style"/>
              </a:rPr>
              <a:t>·  Se conecta desde los ajustes del dominio, apuntándolo a GitHub.</a:t>
            </a:r>
          </a:p>
          <a:p>
            <a:pPr>
              <a:lnSpc>
                <a:spcPct val="140000"/>
              </a:lnSpc>
              <a:spcBef>
                <a:spcPts val="0"/>
              </a:spcBef>
              <a:spcAft>
                <a:spcPts val="500"/>
              </a:spcAft>
            </a:pPr>
            <a:r>
              <a:rPr sz="1450" b="0" i="0">
                <a:solidFill>
                  <a:srgbClr val="444444"/>
                </a:solidFill>
                <a:latin typeface="Iowan Old Style"/>
              </a:rPr>
              <a:t>·  Evita los que regalan el primer año y multiplican el precio del segundo.</a:t>
            </a:r>
          </a:p>
          <a:p>
            <a:pPr>
              <a:lnSpc>
                <a:spcPct val="140000"/>
              </a:lnSpc>
              <a:spcBef>
                <a:spcPts val="0"/>
              </a:spcBef>
              <a:spcAft>
                <a:spcPts val="500"/>
              </a:spcAft>
            </a:pPr>
            <a:r>
              <a:rPr sz="1450" b="0" i="0">
                <a:solidFill>
                  <a:srgbClr val="444444"/>
                </a:solidFill>
                <a:latin typeface="Iowan Old Style"/>
              </a:rPr>
              <a:t>·  La dirección de GitHub sigue funcionando igual, y es gratis para siempre.</a:t>
            </a:r>
          </a:p>
          <a:p>
            <a:pPr>
              <a:lnSpc>
                <a:spcPct val="125000"/>
              </a:lnSpc>
              <a:spcBef>
                <a:spcPts val="1000"/>
              </a:spcBef>
              <a:spcAft>
                <a:spcPts val="300"/>
              </a:spcAft>
            </a:pPr>
            <a:r>
              <a:rPr sz="1000" b="0" i="0" spc="300">
                <a:solidFill>
                  <a:srgbClr val="8A8A8A"/>
                </a:solidFill>
                <a:latin typeface="Menlo"/>
              </a:rPr>
              <a:t>HOY NO COMPRAMOS NADA</a:t>
            </a:r>
          </a:p>
          <a:p>
            <a:pPr>
              <a:lnSpc>
                <a:spcPct val="140000"/>
              </a:lnSpc>
              <a:spcBef>
                <a:spcPts val="0"/>
              </a:spcBef>
              <a:spcAft>
                <a:spcPts val="800"/>
              </a:spcAft>
            </a:pPr>
            <a:r>
              <a:rPr sz="1400" b="0" i="0">
                <a:solidFill>
                  <a:srgbClr val="444444"/>
                </a:solidFill>
                <a:latin typeface="Iowan Old Style"/>
              </a:rPr>
              <a:t>Nadie mete su tarjeta con catorce personas mirando. Esto se hace en casa, con calma.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2000"/>
              </a:spcAft>
            </a:pPr>
            <a:r>
              <a:rPr sz="1100" b="0" i="0" spc="300">
                <a:solidFill>
                  <a:srgbClr val="8A8A8A"/>
                </a:solidFill>
                <a:latin typeface="Menlo"/>
              </a:rPr>
              <a:t>01:20 · 15 MINUTOS</a:t>
            </a:r>
          </a:p>
          <a:p>
            <a:pPr>
              <a:lnSpc>
                <a:spcPct val="110000"/>
              </a:lnSpc>
              <a:spcBef>
                <a:spcPts val="0"/>
              </a:spcBef>
              <a:spcAft>
                <a:spcPts val="1800"/>
              </a:spcAft>
            </a:pPr>
            <a:r>
              <a:rPr sz="4000" b="0" i="0">
                <a:solidFill>
                  <a:srgbClr val="FFFFFF"/>
                </a:solidFill>
                <a:latin typeface="Inknut Antiqua"/>
              </a:rPr>
              <a:t>pausa</a:t>
            </a:r>
          </a:p>
          <a:p>
            <a:pPr>
              <a:lnSpc>
                <a:spcPct val="140000"/>
              </a:lnSpc>
              <a:spcBef>
                <a:spcPts val="0"/>
              </a:spcBef>
              <a:spcAft>
                <a:spcPts val="600"/>
              </a:spcAft>
            </a:pPr>
            <a:r>
              <a:rPr sz="1700" b="0" i="0">
                <a:solidFill>
                  <a:srgbClr val="BBBBBB"/>
                </a:solidFill>
                <a:latin typeface="Iowan Old Style"/>
              </a:rPr>
              <a:t>Después viene la parte importante del día.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01:35 · 40 MINUTOS</a:t>
            </a:r>
          </a:p>
          <a:p>
            <a:pPr>
              <a:lnSpc>
                <a:spcPct val="110000"/>
              </a:lnSpc>
              <a:spcBef>
                <a:spcPts val="0"/>
              </a:spcBef>
              <a:spcAft>
                <a:spcPts val="1800"/>
              </a:spcAft>
            </a:pPr>
            <a:r>
              <a:rPr sz="4000" b="0" i="0">
                <a:solidFill>
                  <a:srgbClr val="FFFFFF"/>
                </a:solidFill>
                <a:latin typeface="Inknut Antiqua"/>
              </a:rPr>
              <a:t>actualizar tu web</a:t>
            </a:r>
          </a:p>
          <a:p>
            <a:pPr>
              <a:lnSpc>
                <a:spcPct val="140000"/>
              </a:lnSpc>
              <a:spcBef>
                <a:spcPts val="0"/>
              </a:spcBef>
              <a:spcAft>
                <a:spcPts val="600"/>
              </a:spcAft>
            </a:pPr>
            <a:r>
              <a:rPr sz="1700" b="0" i="0">
                <a:solidFill>
                  <a:srgbClr val="BBBBBB"/>
                </a:solidFill>
                <a:latin typeface="Iowan Old Style"/>
              </a:rPr>
              <a:t>El ciclo que hace que la web sea tuya de verdad. Lo hace cada una, entera, sola.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01:35</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el ciclo, siempre igual</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Subir un archivo cambiado: Add file → Upload files → arrastras el nuevo encima del viejo → Commit changes.</a:t>
            </a:r>
          </a:p>
          <a:p>
            <a:pPr>
              <a:lnSpc>
                <a:spcPct val="125000"/>
              </a:lnSpc>
              <a:spcBef>
                <a:spcPts val="1000"/>
              </a:spcBef>
              <a:spcAft>
                <a:spcPts val="300"/>
              </a:spcAft>
            </a:pPr>
            <a:r>
              <a:rPr sz="1000" b="0" i="0" spc="300">
                <a:solidFill>
                  <a:srgbClr val="887000"/>
                </a:solidFill>
                <a:latin typeface="Menlo"/>
              </a:rPr>
              <a:t>LAS DOS COSTUMBRES</a:t>
            </a:r>
          </a:p>
          <a:p>
            <a:pPr>
              <a:lnSpc>
                <a:spcPct val="140000"/>
              </a:lnSpc>
              <a:spcBef>
                <a:spcPts val="0"/>
              </a:spcBef>
              <a:spcAft>
                <a:spcPts val="800"/>
              </a:spcAft>
            </a:pPr>
            <a:r>
              <a:rPr sz="1400" b="1" i="0">
                <a:solidFill>
                  <a:srgbClr val="0A0A0A"/>
                </a:solidFill>
                <a:latin typeface="Iowan Old Style"/>
              </a:rPr>
              <a:t>Comprueba en local antes de subir. Siempre. Así lo que se rompe se rompe en tu ordenador y no delante de todo el mundo. Copia de la carpeta antes de cambios grandes, con la fecha en el nombre. Es la manera más simple de poder volver atrás.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01:35</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el ciclo, siempre igual</a:t>
            </a:r>
          </a:p>
        </p:txBody>
      </p:sp>
      <p:sp>
        <p:nvSpPr>
          <p:cNvPr id="5" name="Rectangle 4"/>
          <p:cNvSpPr/>
          <p:nvPr/>
        </p:nvSpPr>
        <p:spPr>
          <a:xfrm>
            <a:off x="777240" y="1874520"/>
            <a:ext cx="10637215" cy="105156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64922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1  Editas          2  Guardas y miras     3  Subes           4  Un minuto</a:t>
            </a:r>
          </a:p>
          <a:p>
            <a:pPr>
              <a:lnSpc>
                <a:spcPct val="132000"/>
              </a:lnSpc>
              <a:spcBef>
                <a:spcPts val="0"/>
              </a:spcBef>
              <a:spcAft>
                <a:spcPts val="0"/>
              </a:spcAft>
            </a:pPr>
            <a:r>
              <a:rPr sz="1600" b="0" i="0">
                <a:solidFill>
                  <a:srgbClr val="0A0A0A"/>
                </a:solidFill>
                <a:latin typeface="Menlo"/>
              </a:rPr>
              <a:t>   en VS Code   →     en local         →     a GitHub     →     y está online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01:55 · 35 MINUTOS</a:t>
            </a:r>
          </a:p>
          <a:p>
            <a:pPr>
              <a:lnSpc>
                <a:spcPct val="110000"/>
              </a:lnSpc>
              <a:spcBef>
                <a:spcPts val="0"/>
              </a:spcBef>
              <a:spcAft>
                <a:spcPts val="1800"/>
              </a:spcAft>
            </a:pPr>
            <a:r>
              <a:rPr sz="4000" b="0" i="0">
                <a:solidFill>
                  <a:srgbClr val="0A0A0A"/>
                </a:solidFill>
                <a:latin typeface="Inknut Antiqua"/>
              </a:rPr>
              <a:t>ejercicio 7 · cambiar y volver a subir</a:t>
            </a:r>
          </a:p>
          <a:p>
            <a:pPr>
              <a:lnSpc>
                <a:spcPct val="140000"/>
              </a:lnSpc>
              <a:spcBef>
                <a:spcPts val="0"/>
              </a:spcBef>
              <a:spcAft>
                <a:spcPts val="600"/>
              </a:spcAft>
            </a:pPr>
            <a:r>
              <a:rPr sz="1700" b="0" i="0">
                <a:solidFill>
                  <a:srgbClr val="33300A"/>
                </a:solidFill>
                <a:latin typeface="Iowan Old Style"/>
              </a:rPr>
              <a:t>El ejercicio más importante del taller. Lo hace cada una, entera, sola, y yo no toco ningún teclado.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D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7C14"/>
                </a:solidFill>
                <a:latin typeface="Menlo"/>
              </a:rPr>
              <a:t>PRÁCTICA</a:t>
            </a:r>
          </a:p>
        </p:txBody>
      </p:sp>
      <p:sp>
        <p:nvSpPr>
          <p:cNvPr id="5" name="TextBox 4"/>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EJERCICIO 7   ·   30 MIN · EL MÁS IMPORTANTE DEL TALLER</a:t>
            </a:r>
          </a:p>
        </p:txBody>
      </p:sp>
      <p:sp>
        <p:nvSpPr>
          <p:cNvPr id="6" name="Rectangle 5"/>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cambiar algo y volver a subirlo</a:t>
            </a:r>
          </a:p>
        </p:txBody>
      </p:sp>
      <p:sp>
        <p:nvSpPr>
          <p:cNvPr id="8" name="TextBox 7"/>
          <p:cNvSpPr txBox="1"/>
          <p:nvPr/>
        </p:nvSpPr>
        <p:spPr>
          <a:xfrm>
            <a:off x="777240" y="2057400"/>
            <a:ext cx="10637215" cy="4251960"/>
          </a:xfrm>
          <a:prstGeom prst="rect">
            <a:avLst/>
          </a:prstGeom>
          <a:noFill/>
        </p:spPr>
        <p:txBody>
          <a:bodyPr wrap="square" lIns="0" rIns="0" tIns="0" bIns="0">
            <a:spAutoFit/>
          </a:bodyPr>
          <a:lstStyle/>
          <a:p>
            <a:pPr>
              <a:lnSpc>
                <a:spcPct val="133480"/>
              </a:lnSpc>
              <a:spcBef>
                <a:spcPts val="0"/>
              </a:spcBef>
              <a:spcAft>
                <a:spcPts val="780"/>
              </a:spcAft>
            </a:pPr>
            <a:r>
              <a:rPr sz="1301" b="0" i="0">
                <a:solidFill>
                  <a:srgbClr val="444444"/>
                </a:solidFill>
                <a:latin typeface="Iowan Old Style"/>
              </a:rPr>
              <a:t>Publicar lo hace cualquiera una vez. Lo que hace que la web sea tuya es saber cambiarla dentro de seis meses. Hazlo tú sola, entera.</a:t>
            </a:r>
          </a:p>
          <a:p>
            <a:pPr>
              <a:lnSpc>
                <a:spcPct val="117500"/>
              </a:lnSpc>
              <a:spcBef>
                <a:spcPts val="1000"/>
              </a:spcBef>
              <a:spcAft>
                <a:spcPts val="346"/>
              </a:spcAft>
            </a:pPr>
            <a:r>
              <a:rPr sz="950" b="0" i="0" spc="500">
                <a:solidFill>
                  <a:srgbClr val="8A7C14"/>
                </a:solidFill>
                <a:latin typeface="Menlo"/>
              </a:rPr>
              <a:t>HAY QUE</a:t>
            </a:r>
          </a:p>
          <a:p>
            <a:pPr>
              <a:lnSpc>
                <a:spcPct val="126900"/>
              </a:lnSpc>
              <a:spcBef>
                <a:spcPts val="0"/>
              </a:spcBef>
              <a:spcAft>
                <a:spcPts val="260"/>
              </a:spcAft>
            </a:pPr>
            <a:r>
              <a:rPr sz="1170" b="0" i="0">
                <a:solidFill>
                  <a:srgbClr val="444444"/>
                </a:solidFill>
                <a:latin typeface="Iowan Old Style"/>
              </a:rPr>
              <a:t>☐  Cambiar algo que se note, en VS Code</a:t>
            </a:r>
          </a:p>
          <a:p>
            <a:pPr>
              <a:lnSpc>
                <a:spcPct val="126900"/>
              </a:lnSpc>
              <a:spcBef>
                <a:spcPts val="0"/>
              </a:spcBef>
              <a:spcAft>
                <a:spcPts val="260"/>
              </a:spcAft>
            </a:pPr>
            <a:r>
              <a:rPr sz="1170" b="0" i="0">
                <a:solidFill>
                  <a:srgbClr val="444444"/>
                </a:solidFill>
                <a:latin typeface="Iowan Old Style"/>
              </a:rPr>
              <a:t>☐  Guardar y comprobarlo en local</a:t>
            </a:r>
          </a:p>
          <a:p>
            <a:pPr>
              <a:lnSpc>
                <a:spcPct val="126900"/>
              </a:lnSpc>
              <a:spcBef>
                <a:spcPts val="0"/>
              </a:spcBef>
              <a:spcAft>
                <a:spcPts val="260"/>
              </a:spcAft>
            </a:pPr>
            <a:r>
              <a:rPr sz="1170" b="0" i="0">
                <a:solidFill>
                  <a:srgbClr val="444444"/>
                </a:solidFill>
                <a:latin typeface="Iowan Old Style"/>
              </a:rPr>
              <a:t>☐  Add file → Upload files</a:t>
            </a:r>
          </a:p>
          <a:p>
            <a:pPr>
              <a:lnSpc>
                <a:spcPct val="126900"/>
              </a:lnSpc>
              <a:spcBef>
                <a:spcPts val="0"/>
              </a:spcBef>
              <a:spcAft>
                <a:spcPts val="260"/>
              </a:spcAft>
            </a:pPr>
            <a:r>
              <a:rPr sz="1170" b="0" i="0">
                <a:solidFill>
                  <a:srgbClr val="444444"/>
                </a:solidFill>
                <a:latin typeface="Iowan Old Style"/>
              </a:rPr>
              <a:t>☐  Arrastrar el archivo encima del viejo</a:t>
            </a:r>
          </a:p>
          <a:p>
            <a:pPr>
              <a:lnSpc>
                <a:spcPct val="126900"/>
              </a:lnSpc>
              <a:spcBef>
                <a:spcPts val="0"/>
              </a:spcBef>
              <a:spcAft>
                <a:spcPts val="260"/>
              </a:spcAft>
            </a:pPr>
            <a:r>
              <a:rPr sz="1170" b="0" i="0">
                <a:solidFill>
                  <a:srgbClr val="444444"/>
                </a:solidFill>
                <a:latin typeface="Iowan Old Style"/>
              </a:rPr>
              <a:t>☐  Commit changes y ver el cambio online</a:t>
            </a:r>
          </a:p>
          <a:p>
            <a:pPr>
              <a:lnSpc>
                <a:spcPct val="126900"/>
              </a:lnSpc>
              <a:spcBef>
                <a:spcPts val="0"/>
              </a:spcBef>
              <a:spcAft>
                <a:spcPts val="260"/>
              </a:spcAft>
            </a:pPr>
            <a:r>
              <a:rPr sz="1170" b="0" i="0">
                <a:solidFill>
                  <a:srgbClr val="444444"/>
                </a:solidFill>
                <a:latin typeface="Iowan Old Style"/>
              </a:rPr>
              <a:t>☐  Repetirlo una segunda vez, sin mirar los pasos</a:t>
            </a:r>
          </a:p>
          <a:p>
            <a:pPr>
              <a:lnSpc>
                <a:spcPct val="117500"/>
              </a:lnSpc>
              <a:spcBef>
                <a:spcPts val="1000"/>
              </a:spcBef>
              <a:spcAft>
                <a:spcPts val="346"/>
              </a:spcAft>
            </a:pPr>
            <a:r>
              <a:rPr sz="950" b="0" i="0" spc="500">
                <a:solidFill>
                  <a:srgbClr val="8A7C14"/>
                </a:solidFill>
                <a:latin typeface="Menlo"/>
              </a:rPr>
              <a:t>PUEDES</a:t>
            </a:r>
          </a:p>
          <a:p>
            <a:pPr>
              <a:lnSpc>
                <a:spcPct val="126900"/>
              </a:lnSpc>
              <a:spcBef>
                <a:spcPts val="0"/>
              </a:spcBef>
              <a:spcAft>
                <a:spcPts val="260"/>
              </a:spcAft>
            </a:pPr>
            <a:r>
              <a:rPr sz="1170" b="0" i="0">
                <a:solidFill>
                  <a:srgbClr val="444444"/>
                </a:solidFill>
                <a:latin typeface="Iowan Old Style"/>
              </a:rPr>
              <a:t>☐  Añadir un proyecto nuevo entero</a:t>
            </a:r>
          </a:p>
          <a:p>
            <a:pPr>
              <a:lnSpc>
                <a:spcPct val="126900"/>
              </a:lnSpc>
              <a:spcBef>
                <a:spcPts val="0"/>
              </a:spcBef>
              <a:spcAft>
                <a:spcPts val="260"/>
              </a:spcAft>
            </a:pPr>
            <a:r>
              <a:rPr sz="1170" b="0" i="0">
                <a:solidFill>
                  <a:srgbClr val="444444"/>
                </a:solidFill>
                <a:latin typeface="Iowan Old Style"/>
              </a:rPr>
              <a:t>☐  Duplicar la carpeta con la fecha antes de tocar</a:t>
            </a:r>
          </a:p>
          <a:p>
            <a:pPr>
              <a:lnSpc>
                <a:spcPct val="126900"/>
              </a:lnSpc>
              <a:spcBef>
                <a:spcPts val="0"/>
              </a:spcBef>
              <a:spcAft>
                <a:spcPts val="260"/>
              </a:spcAft>
            </a:pPr>
            <a:r>
              <a:rPr sz="1170" b="0" i="0">
                <a:solidFill>
                  <a:srgbClr val="444444"/>
                </a:solidFill>
                <a:latin typeface="Iowan Old Style"/>
              </a:rPr>
              <a:t>☐  Mirar el History del archivo en GitHub</a:t>
            </a:r>
          </a:p>
          <a:p>
            <a:pPr>
              <a:lnSpc>
                <a:spcPct val="117500"/>
              </a:lnSpc>
              <a:spcBef>
                <a:spcPts val="1000"/>
              </a:spcBef>
              <a:spcAft>
                <a:spcPts val="346"/>
              </a:spcAft>
            </a:pPr>
            <a:r>
              <a:rPr sz="950" b="0" i="0" spc="500">
                <a:solidFill>
                  <a:srgbClr val="8A7C14"/>
                </a:solidFill>
                <a:latin typeface="Menlo"/>
              </a:rPr>
              <a:t>PODRÍAS</a:t>
            </a:r>
          </a:p>
          <a:p>
            <a:pPr>
              <a:lnSpc>
                <a:spcPct val="126900"/>
              </a:lnSpc>
              <a:spcBef>
                <a:spcPts val="0"/>
              </a:spcBef>
              <a:spcAft>
                <a:spcPts val="260"/>
              </a:spcAft>
            </a:pPr>
            <a:r>
              <a:rPr sz="1170" b="0" i="0">
                <a:solidFill>
                  <a:srgbClr val="444444"/>
                </a:solidFill>
                <a:latin typeface="Iowan Old Style"/>
              </a:rPr>
              <a:t>☐  Editar directamente en GitHub con el lápiz</a:t>
            </a:r>
          </a:p>
          <a:p>
            <a:pPr>
              <a:lnSpc>
                <a:spcPct val="126900"/>
              </a:lnSpc>
              <a:spcBef>
                <a:spcPts val="0"/>
              </a:spcBef>
              <a:spcAft>
                <a:spcPts val="260"/>
              </a:spcAft>
            </a:pPr>
            <a:r>
              <a:rPr sz="1170" b="0" i="0">
                <a:solidFill>
                  <a:srgbClr val="444444"/>
                </a:solidFill>
                <a:latin typeface="Iowan Old Style"/>
              </a:rPr>
              <a:t>☐  El panel Control de código fuente de VS Code</a:t>
            </a:r>
          </a:p>
          <a:p>
            <a:pPr>
              <a:lnSpc>
                <a:spcPct val="126900"/>
              </a:lnSpc>
              <a:spcBef>
                <a:spcPts val="0"/>
              </a:spcBef>
              <a:spcAft>
                <a:spcPts val="260"/>
              </a:spcAft>
            </a:pPr>
            <a:r>
              <a:rPr sz="1170" b="0" i="0">
                <a:solidFill>
                  <a:srgbClr val="444444"/>
                </a:solidFill>
                <a:latin typeface="Iowan Old Style"/>
              </a:rPr>
              <a:t>☐  Un README.md en el repositorio</a:t>
            </a:r>
          </a:p>
          <a:p>
            <a:pPr>
              <a:lnSpc>
                <a:spcPct val="117500"/>
              </a:lnSpc>
              <a:spcBef>
                <a:spcPts val="1000"/>
              </a:spcBef>
              <a:spcAft>
                <a:spcPts val="260"/>
              </a:spcAft>
            </a:pPr>
            <a:r>
              <a:rPr sz="950" b="0" i="0" spc="300">
                <a:solidFill>
                  <a:srgbClr val="8A8A8A"/>
                </a:solidFill>
                <a:latin typeface="Menlo"/>
              </a:rPr>
              <a:t>POR QUÉ ESTO Y NO OTRA COSA</a:t>
            </a:r>
          </a:p>
          <a:p>
            <a:pPr>
              <a:lnSpc>
                <a:spcPct val="131600"/>
              </a:lnSpc>
              <a:spcBef>
                <a:spcPts val="0"/>
              </a:spcBef>
              <a:spcAft>
                <a:spcPts val="693"/>
              </a:spcAft>
            </a:pPr>
            <a:r>
              <a:rPr sz="1214" b="0" i="0">
                <a:solidFill>
                  <a:srgbClr val="444444"/>
                </a:solidFill>
                <a:latin typeface="Iowan Old Style"/>
              </a:rPr>
              <a:t>Hasta que no lo has hecho sola una vez, no lo sabes hacer. Todo lo demás del taller se puede recuperar leyendo la guía; esto no.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02:15 · 25 MINUTOS</a:t>
            </a:r>
          </a:p>
          <a:p>
            <a:pPr>
              <a:lnSpc>
                <a:spcPct val="110000"/>
              </a:lnSpc>
              <a:spcBef>
                <a:spcPts val="0"/>
              </a:spcBef>
              <a:spcAft>
                <a:spcPts val="1800"/>
              </a:spcAft>
            </a:pPr>
            <a:r>
              <a:rPr sz="4000" b="0" i="0">
                <a:solidFill>
                  <a:srgbClr val="FFFFFF"/>
                </a:solidFill>
                <a:latin typeface="Inknut Antiqua"/>
              </a:rPr>
              <a:t>remates y cómo seguir</a:t>
            </a:r>
          </a:p>
          <a:p>
            <a:pPr>
              <a:lnSpc>
                <a:spcPct val="140000"/>
              </a:lnSpc>
              <a:spcBef>
                <a:spcPts val="0"/>
              </a:spcBef>
              <a:spcAft>
                <a:spcPts val="600"/>
              </a:spcAft>
            </a:pPr>
            <a:r>
              <a:rPr sz="1700" b="0" i="0">
                <a:solidFill>
                  <a:srgbClr val="BBBBBB"/>
                </a:solidFill>
                <a:latin typeface="Iowan Old Style"/>
              </a:rPr>
              <a:t>Los detalles que faltan, dónde buscar, y cómo pedir ayuda sin perder tu web.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02:15</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cuando algo no funciona</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0000"/>
              </a:lnSpc>
              <a:spcBef>
                <a:spcPts val="0"/>
              </a:spcBef>
              <a:spcAft>
                <a:spcPts val="500"/>
              </a:spcAft>
            </a:pPr>
            <a:r>
              <a:rPr sz="1450" b="0" i="0">
                <a:solidFill>
                  <a:srgbClr val="444444"/>
                </a:solidFill>
                <a:latin typeface="Iowan Old Style"/>
              </a:rPr>
              <a:t>·  ¿Has guardado el archivo?</a:t>
            </a:r>
          </a:p>
          <a:p>
            <a:pPr>
              <a:lnSpc>
                <a:spcPct val="140000"/>
              </a:lnSpc>
              <a:spcBef>
                <a:spcPts val="0"/>
              </a:spcBef>
              <a:spcAft>
                <a:spcPts val="500"/>
              </a:spcAft>
            </a:pPr>
            <a:r>
              <a:rPr sz="1450" b="0" i="0">
                <a:solidFill>
                  <a:srgbClr val="444444"/>
                </a:solidFill>
                <a:latin typeface="Iowan Old Style"/>
              </a:rPr>
              <a:t>·  ¿Has recargado? Recarga forzada: Cmd+Shift+R o Ctrl+F5.</a:t>
            </a:r>
          </a:p>
          <a:p>
            <a:pPr>
              <a:lnSpc>
                <a:spcPct val="140000"/>
              </a:lnSpc>
              <a:spcBef>
                <a:spcPts val="0"/>
              </a:spcBef>
              <a:spcAft>
                <a:spcPts val="500"/>
              </a:spcAft>
            </a:pPr>
            <a:r>
              <a:rPr sz="1450" b="0" i="0">
                <a:solidFill>
                  <a:srgbClr val="444444"/>
                </a:solidFill>
                <a:latin typeface="Iowan Old Style"/>
              </a:rPr>
              <a:t>·  ¿Falta cerrar una etiqueta, una comilla o un punto y coma? VS Code lo marca en color.</a:t>
            </a:r>
          </a:p>
          <a:p>
            <a:pPr>
              <a:lnSpc>
                <a:spcPct val="140000"/>
              </a:lnSpc>
              <a:spcBef>
                <a:spcPts val="0"/>
              </a:spcBef>
              <a:spcAft>
                <a:spcPts val="500"/>
              </a:spcAft>
            </a:pPr>
            <a:r>
              <a:rPr sz="1450" b="0" i="0">
                <a:solidFill>
                  <a:srgbClr val="444444"/>
                </a:solidFill>
                <a:latin typeface="Iowan Old Style"/>
              </a:rPr>
              <a:t>·  ¿Una imagen no sale? El nombre del archivo y el src tienen que coincidir exactamente — mayúsculas y extensión incluidas. .JPG no es .jpg.</a:t>
            </a:r>
          </a:p>
          <a:p>
            <a:pPr>
              <a:lnSpc>
                <a:spcPct val="140000"/>
              </a:lnSpc>
              <a:spcBef>
                <a:spcPts val="0"/>
              </a:spcBef>
              <a:spcAft>
                <a:spcPts val="500"/>
              </a:spcAft>
            </a:pPr>
            <a:r>
              <a:rPr sz="1450" b="0" i="0">
                <a:solidFill>
                  <a:srgbClr val="444444"/>
                </a:solidFill>
                <a:latin typeface="Iowan Old Style"/>
              </a:rPr>
              <a:t>·  Botón derecho → Inspeccionar → pestaña Console. Si hay un error, está escrito ahí.</a:t>
            </a:r>
          </a:p>
          <a:p>
            <a:pPr>
              <a:lnSpc>
                <a:spcPct val="140000"/>
              </a:lnSpc>
              <a:spcBef>
                <a:spcPts val="0"/>
              </a:spcBef>
              <a:spcAft>
                <a:spcPts val="500"/>
              </a:spcAft>
            </a:pPr>
            <a:r>
              <a:rPr sz="1450" b="0" i="0">
                <a:solidFill>
                  <a:srgbClr val="444444"/>
                </a:solidFill>
                <a:latin typeface="Iowan Old Style"/>
              </a:rPr>
              <a:t>·  Vuelve a la última copia que iba bien y avanza otra vez desde ahí.</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02:15</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pedirle ayuda a una inteligencia artificial</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0000"/>
              </a:lnSpc>
              <a:spcBef>
                <a:spcPts val="0"/>
              </a:spcBef>
              <a:spcAft>
                <a:spcPts val="500"/>
              </a:spcAft>
            </a:pPr>
            <a:r>
              <a:rPr sz="1450" b="0" i="0">
                <a:solidFill>
                  <a:srgbClr val="444444"/>
                </a:solidFill>
                <a:latin typeface="Iowan Old Style"/>
              </a:rPr>
              <a:t>·  Pega solo el trozo que falla, no la web entera.</a:t>
            </a:r>
          </a:p>
          <a:p>
            <a:pPr>
              <a:lnSpc>
                <a:spcPct val="140000"/>
              </a:lnSpc>
              <a:spcBef>
                <a:spcPts val="0"/>
              </a:spcBef>
              <a:spcAft>
                <a:spcPts val="500"/>
              </a:spcAft>
            </a:pPr>
            <a:r>
              <a:rPr sz="1450" b="0" i="0">
                <a:solidFill>
                  <a:srgbClr val="444444"/>
                </a:solidFill>
                <a:latin typeface="Iowan Old Style"/>
              </a:rPr>
              <a:t>·  Pídele que te explique el cambio, no solo el código.</a:t>
            </a:r>
          </a:p>
          <a:p>
            <a:pPr>
              <a:lnSpc>
                <a:spcPct val="140000"/>
              </a:lnSpc>
              <a:spcBef>
                <a:spcPts val="0"/>
              </a:spcBef>
              <a:spcAft>
                <a:spcPts val="500"/>
              </a:spcAft>
            </a:pPr>
            <a:r>
              <a:rPr sz="1450" b="0" i="0">
                <a:solidFill>
                  <a:srgbClr val="444444"/>
                </a:solidFill>
                <a:latin typeface="Iowan Old Style"/>
              </a:rPr>
              <a:t>·  No aceptes una reescritura completa.</a:t>
            </a:r>
          </a:p>
          <a:p>
            <a:pPr>
              <a:lnSpc>
                <a:spcPct val="125000"/>
              </a:lnSpc>
              <a:spcBef>
                <a:spcPts val="1000"/>
              </a:spcBef>
              <a:spcAft>
                <a:spcPts val="300"/>
              </a:spcAft>
            </a:pPr>
            <a:r>
              <a:rPr sz="1000" b="0" i="0" spc="300">
                <a:solidFill>
                  <a:srgbClr val="887000"/>
                </a:solidFill>
                <a:latin typeface="Menlo"/>
              </a:rPr>
              <a:t>POR QUÉ IMPORTA</a:t>
            </a:r>
          </a:p>
          <a:p>
            <a:pPr>
              <a:lnSpc>
                <a:spcPct val="140000"/>
              </a:lnSpc>
              <a:spcBef>
                <a:spcPts val="0"/>
              </a:spcBef>
              <a:spcAft>
                <a:spcPts val="800"/>
              </a:spcAft>
            </a:pPr>
            <a:r>
              <a:rPr sz="1400" b="1" i="0">
                <a:solidFill>
                  <a:srgbClr val="0A0A0A"/>
                </a:solidFill>
                <a:latin typeface="Iowan Old Style"/>
              </a:rPr>
              <a:t>Si le das la web entera te la devuelve reescrita de arriba abajo. Funcionará, pero ya no sabrás dónde tocar — y eso es justo lo que has venido a aprender.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02:15   ·   SEGUIR POR TU CUENTA</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dónde buscar</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32000"/>
              </a:lnSpc>
              <a:spcAft>
                <a:spcPts val="600"/>
              </a:spcAft>
            </a:pPr>
            <a:r>
              <a:rPr sz="1300">
                <a:solidFill>
                  <a:srgbClr val="0A0A0A"/>
                </a:solidFill>
                <a:latin typeface="Inknut Antiqua"/>
                <a:hlinkClick r:id="rId2"/>
              </a:rPr>
              <a:t>→ mdn   </a:t>
            </a:r>
            <a:r>
              <a:rPr sz="1250">
                <a:solidFill>
                  <a:srgbClr val="8A8A8A"/>
                </a:solidFill>
                <a:latin typeface="Iowan Old Style"/>
              </a:rPr>
              <a:t>La documentación de referencia de HTML y CSS. Es lo que consulta quien se dedica a esto.</a:t>
            </a:r>
          </a:p>
          <a:p>
            <a:pPr>
              <a:lnSpc>
                <a:spcPct val="132000"/>
              </a:lnSpc>
              <a:spcAft>
                <a:spcPts val="600"/>
              </a:spcAft>
            </a:pPr>
            <a:r>
              <a:rPr sz="1300">
                <a:solidFill>
                  <a:srgbClr val="0A0A0A"/>
                </a:solidFill>
                <a:latin typeface="Inknut Antiqua"/>
                <a:hlinkClick r:id="rId3"/>
              </a:rPr>
              <a:t>→ neocities   </a:t>
            </a:r>
            <a:r>
              <a:rPr sz="1250">
                <a:solidFill>
                  <a:srgbClr val="8A8A8A"/>
                </a:solidFill>
                <a:latin typeface="Iowan Old Style"/>
              </a:rPr>
              <a:t>Miles de webs personales hechas a mano. Para mirar cómo están hechas y para no sentirse sola.</a:t>
            </a:r>
          </a:p>
          <a:p>
            <a:pPr>
              <a:lnSpc>
                <a:spcPct val="132000"/>
              </a:lnSpc>
              <a:spcAft>
                <a:spcPts val="600"/>
              </a:spcAft>
            </a:pPr>
            <a:r>
              <a:rPr sz="1300">
                <a:solidFill>
                  <a:srgbClr val="0A0A0A"/>
                </a:solidFill>
                <a:latin typeface="Inknut Antiqua"/>
                <a:hlinkClick r:id="rId4"/>
              </a:rPr>
              <a:t>→ p5.js   </a:t>
            </a:r>
            <a:r>
              <a:rPr sz="1250">
                <a:solidFill>
                  <a:srgbClr val="8A8A8A"/>
                </a:solidFill>
                <a:latin typeface="Iowan Old Style"/>
              </a:rPr>
              <a:t>Dibujo y animación con código, con editor online.</a:t>
            </a:r>
          </a:p>
          <a:p>
            <a:pPr>
              <a:lnSpc>
                <a:spcPct val="132000"/>
              </a:lnSpc>
              <a:spcAft>
                <a:spcPts val="600"/>
              </a:spcAft>
            </a:pPr>
            <a:r>
              <a:rPr sz="1300">
                <a:solidFill>
                  <a:srgbClr val="0A0A0A"/>
                </a:solidFill>
                <a:latin typeface="Inknut Antiqua"/>
                <a:hlinkClick r:id="rId5"/>
              </a:rPr>
              <a:t>→ caniuse   </a:t>
            </a:r>
            <a:r>
              <a:rPr sz="1250">
                <a:solidFill>
                  <a:srgbClr val="8A8A8A"/>
                </a:solidFill>
                <a:latin typeface="Iowan Old Style"/>
              </a:rPr>
              <a:t>Comprobar si algo funciona en todos los navegadores.</a:t>
            </a:r>
          </a:p>
          <a:p>
            <a:pPr>
              <a:lnSpc>
                <a:spcPct val="132000"/>
              </a:lnSpc>
              <a:spcAft>
                <a:spcPts val="600"/>
              </a:spcAft>
            </a:pPr>
            <a:r>
              <a:rPr sz="1300">
                <a:solidFill>
                  <a:srgbClr val="0A0A0A"/>
                </a:solidFill>
                <a:latin typeface="Inknut Antiqua"/>
                <a:hlinkClick r:id="rId6"/>
              </a:rPr>
              <a:t>→ squoosh   </a:t>
            </a:r>
            <a:r>
              <a:rPr sz="1250">
                <a:solidFill>
                  <a:srgbClr val="8A8A8A"/>
                </a:solidFill>
                <a:latin typeface="Iowan Old Style"/>
              </a:rPr>
              <a:t>Reducir imágenes en el navegador, sin instalar nada.</a:t>
            </a:r>
          </a:p>
          <a:p>
            <a:pPr>
              <a:lnSpc>
                <a:spcPct val="132000"/>
              </a:lnSpc>
              <a:spcAft>
                <a:spcPts val="600"/>
              </a:spcAft>
            </a:pPr>
            <a:r>
              <a:rPr sz="1300">
                <a:solidFill>
                  <a:srgbClr val="0A0A0A"/>
                </a:solidFill>
                <a:latin typeface="Inknut Antiqua"/>
                <a:hlinkClick r:id="rId7"/>
              </a:rPr>
              <a:t>→ coolors   </a:t>
            </a:r>
            <a:r>
              <a:rPr sz="1250">
                <a:solidFill>
                  <a:srgbClr val="8A8A8A"/>
                </a:solidFill>
                <a:latin typeface="Iowan Old Style"/>
              </a:rPr>
              <a:t>Generador de paletas de color.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02:40   ·   CONSULTORIO</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las preguntas de siempre</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26900"/>
              </a:lnSpc>
              <a:spcAft>
                <a:spcPts val="332"/>
              </a:spcAft>
            </a:pPr>
            <a:r>
              <a:rPr sz="950">
                <a:solidFill>
                  <a:srgbClr val="0A0A0A"/>
                </a:solidFill>
                <a:latin typeface="Menlo"/>
              </a:rPr>
              <a:t>¿un formulario de contacto?    </a:t>
            </a:r>
            <a:r>
              <a:rPr sz="950">
                <a:solidFill>
                  <a:srgbClr val="444444"/>
                </a:solidFill>
                <a:latin typeface="Iowan Old Style"/>
              </a:rPr>
              <a:t>Necesita un servidor. Hay servicios que lo resuelven pegando unas líneas (Formspree, Tally). El consejo honesto: pon tu correo con mailto:. No se rompe nunca y a nadie le ha costado nunca un encargo.</a:t>
            </a:r>
          </a:p>
          <a:p>
            <a:pPr>
              <a:lnSpc>
                <a:spcPct val="126900"/>
              </a:lnSpc>
              <a:spcAft>
                <a:spcPts val="332"/>
              </a:spcAft>
            </a:pPr>
            <a:r>
              <a:rPr sz="950">
                <a:solidFill>
                  <a:srgbClr val="0A0A0A"/>
                </a:solidFill>
                <a:latin typeface="Menlo"/>
              </a:rPr>
              <a:t>¿un blog?    </a:t>
            </a:r>
            <a:r>
              <a:rPr sz="950">
                <a:solidFill>
                  <a:srgbClr val="444444"/>
                </a:solidFill>
                <a:latin typeface="Iowan Old Style"/>
              </a:rPr>
              <a:t>Sí, con una limitación: cada entrada es un archivo que creas a mano. Para tres o cuatro al año, perfecto. Para escribir cada semana, cansa.</a:t>
            </a:r>
          </a:p>
          <a:p>
            <a:pPr>
              <a:lnSpc>
                <a:spcPct val="126900"/>
              </a:lnSpc>
              <a:spcAft>
                <a:spcPts val="332"/>
              </a:spcAft>
            </a:pPr>
            <a:r>
              <a:rPr sz="950">
                <a:solidFill>
                  <a:srgbClr val="0A0A0A"/>
                </a:solidFill>
                <a:latin typeface="Menlo"/>
              </a:rPr>
              <a:t>¿mejor que wordpress o cargo?    </a:t>
            </a:r>
            <a:r>
              <a:rPr sz="950">
                <a:solidFill>
                  <a:srgbClr val="444444"/>
                </a:solidFill>
                <a:latin typeface="Iowan Old Style"/>
              </a:rPr>
              <a:t>Depende. Ganas: no pagas al mes, nadie puede cerrarte la web, carga rápido y dentro de diez años seguirá igual. Pierdes: no hay panel bonito, ni tienda, ni comentarios.</a:t>
            </a:r>
          </a:p>
          <a:p>
            <a:pPr>
              <a:lnSpc>
                <a:spcPct val="126900"/>
              </a:lnSpc>
              <a:spcAft>
                <a:spcPts val="332"/>
              </a:spcAft>
            </a:pPr>
            <a:r>
              <a:rPr sz="950">
                <a:solidFill>
                  <a:srgbClr val="0A0A0A"/>
                </a:solidFill>
                <a:latin typeface="Menlo"/>
              </a:rPr>
              <a:t>¿puedo vender?    </a:t>
            </a:r>
            <a:r>
              <a:rPr sz="950">
                <a:solidFill>
                  <a:srgbClr val="444444"/>
                </a:solidFill>
                <a:latin typeface="Iowan Old Style"/>
              </a:rPr>
              <a:t>No con esto. Enlaza a Bandcamp o Big Cartel, que es lo que hace mucha gente.</a:t>
            </a:r>
          </a:p>
          <a:p>
            <a:pPr>
              <a:lnSpc>
                <a:spcPct val="126900"/>
              </a:lnSpc>
              <a:spcAft>
                <a:spcPts val="332"/>
              </a:spcAft>
            </a:pPr>
            <a:r>
              <a:rPr sz="950">
                <a:solidFill>
                  <a:srgbClr val="0A0A0A"/>
                </a:solidFill>
                <a:latin typeface="Menlo"/>
              </a:rPr>
              <a:t>¿cómo salgo en google?    </a:t>
            </a:r>
            <a:r>
              <a:rPr sz="950">
                <a:solidFill>
                  <a:srgbClr val="444444"/>
                </a:solidFill>
                <a:latin typeface="Iowan Old Style"/>
              </a:rPr>
              <a:t>Tres cosas gratis: un &lt;title&gt; propio por página, los textos como texto y no dentro de imágenes, y que otras webs te enlacen. Lo demás que te vendan sobre SEO, para una web de artista, es humo.</a:t>
            </a:r>
          </a:p>
          <a:p>
            <a:pPr>
              <a:lnSpc>
                <a:spcPct val="126900"/>
              </a:lnSpc>
              <a:spcAft>
                <a:spcPts val="332"/>
              </a:spcAft>
            </a:pPr>
            <a:r>
              <a:rPr sz="950">
                <a:solidFill>
                  <a:srgbClr val="0A0A0A"/>
                </a:solidFill>
                <a:latin typeface="Menlo"/>
              </a:rPr>
              <a:t>¿cuánta gente entra?    </a:t>
            </a:r>
            <a:r>
              <a:rPr sz="950">
                <a:solidFill>
                  <a:srgbClr val="444444"/>
                </a:solidFill>
                <a:latin typeface="Iowan Old Style"/>
              </a:rPr>
              <a:t>Hay contadores que respetan la privacidad. Pero pregúntate primero si el dato te va a servir para algo.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MUESTRARIO   ·   SI TE QUEDAS CON GANAS</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hasta dónde se puede llegar</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Todo esto son archivos sueltos que se publican igual que tu web: los subes y ya está.</a:t>
            </a:r>
          </a:p>
          <a:p>
            <a:pPr>
              <a:lnSpc>
                <a:spcPct val="132000"/>
              </a:lnSpc>
              <a:spcAft>
                <a:spcPts val="600"/>
              </a:spcAft>
            </a:pPr>
            <a:r>
              <a:rPr sz="1300">
                <a:solidFill>
                  <a:srgbClr val="0A0A0A"/>
                </a:solidFill>
                <a:latin typeface="Inknut Antiqua"/>
                <a:hlinkClick r:id="rId2"/>
              </a:rPr>
              <a:t>→ save the date   </a:t>
            </a:r>
            <a:r>
              <a:rPr sz="1250">
                <a:solidFill>
                  <a:srgbClr val="8A8A8A"/>
                </a:solidFill>
                <a:latin typeface="Iowan Old Style"/>
              </a:rPr>
              <a:t>Cuenta atrás en vivo y botón «añadir al calendario».</a:t>
            </a:r>
          </a:p>
          <a:p>
            <a:pPr>
              <a:lnSpc>
                <a:spcPct val="132000"/>
              </a:lnSpc>
              <a:spcAft>
                <a:spcPts val="600"/>
              </a:spcAft>
            </a:pPr>
            <a:r>
              <a:rPr sz="1300">
                <a:solidFill>
                  <a:srgbClr val="0A0A0A"/>
                </a:solidFill>
                <a:latin typeface="Inknut Antiqua"/>
                <a:hlinkClick r:id="rId3"/>
              </a:rPr>
              <a:t>→ cuaderno p5   </a:t>
            </a:r>
            <a:r>
              <a:rPr sz="1250">
                <a:solidFill>
                  <a:srgbClr val="8A8A8A"/>
                </a:solidFill>
                <a:latin typeface="Iowan Old Style"/>
              </a:rPr>
              <a:t>Dibujar con código dentro de tu propia web.</a:t>
            </a:r>
          </a:p>
          <a:p>
            <a:pPr>
              <a:lnSpc>
                <a:spcPct val="132000"/>
              </a:lnSpc>
              <a:spcAft>
                <a:spcPts val="600"/>
              </a:spcAft>
            </a:pPr>
            <a:r>
              <a:rPr sz="1300">
                <a:solidFill>
                  <a:srgbClr val="0A0A0A"/>
                </a:solidFill>
                <a:latin typeface="Inknut Antiqua"/>
                <a:hlinkClick r:id="rId4"/>
              </a:rPr>
              <a:t>→ mesa de trabajo   </a:t>
            </a:r>
            <a:r>
              <a:rPr sz="1250">
                <a:solidFill>
                  <a:srgbClr val="8A8A8A"/>
                </a:solidFill>
                <a:latin typeface="Iowan Old Style"/>
              </a:rPr>
              <a:t>Moodboard con memoria: añades notas e imágenes y guarda el resultado.</a:t>
            </a:r>
          </a:p>
          <a:p>
            <a:pPr>
              <a:lnSpc>
                <a:spcPct val="132000"/>
              </a:lnSpc>
              <a:spcAft>
                <a:spcPts val="600"/>
              </a:spcAft>
            </a:pPr>
            <a:r>
              <a:rPr sz="1300">
                <a:solidFill>
                  <a:srgbClr val="0A0A0A"/>
                </a:solidFill>
                <a:latin typeface="Inknut Antiqua"/>
                <a:hlinkClick r:id="rId5"/>
              </a:rPr>
              <a:t>→ hydra   </a:t>
            </a:r>
            <a:r>
              <a:rPr sz="1250">
                <a:solidFill>
                  <a:srgbClr val="8A8A8A"/>
                </a:solidFill>
                <a:latin typeface="Iowan Old Style"/>
              </a:rPr>
              <a:t>Visuales en vivo, escritos en código, dentro de una página.</a:t>
            </a:r>
          </a:p>
          <a:p>
            <a:pPr>
              <a:lnSpc>
                <a:spcPct val="132000"/>
              </a:lnSpc>
              <a:spcAft>
                <a:spcPts val="600"/>
              </a:spcAft>
            </a:pPr>
            <a:r>
              <a:rPr sz="1300">
                <a:solidFill>
                  <a:srgbClr val="0A0A0A"/>
                </a:solidFill>
                <a:latin typeface="Inknut Antiqua"/>
                <a:hlinkClick r:id="rId6"/>
              </a:rPr>
              <a:t>→ cajita de música   </a:t>
            </a:r>
            <a:r>
              <a:rPr sz="1250">
                <a:solidFill>
                  <a:srgbClr val="8A8A8A"/>
                </a:solidFill>
                <a:latin typeface="Iowan Old Style"/>
              </a:rPr>
              <a:t>Sonido generado en el navegador.</a:t>
            </a:r>
          </a:p>
          <a:p>
            <a:pPr>
              <a:lnSpc>
                <a:spcPct val="132000"/>
              </a:lnSpc>
              <a:spcAft>
                <a:spcPts val="600"/>
              </a:spcAft>
            </a:pPr>
            <a:r>
              <a:rPr sz="1300">
                <a:solidFill>
                  <a:srgbClr val="0A0A0A"/>
                </a:solidFill>
                <a:latin typeface="Inknut Antiqua"/>
                <a:hlinkClick r:id="rId7"/>
              </a:rPr>
              <a:t>→ ver las 26   </a:t>
            </a:r>
            <a:r>
              <a:rPr sz="1250">
                <a:solidFill>
                  <a:srgbClr val="8A8A8A"/>
                </a:solidFill>
                <a:latin typeface="Iowan Old Style"/>
              </a:rPr>
              <a:t>El muestrario entero, ordenado por tipo.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02:40 · 20 MINUTOS</a:t>
            </a:r>
          </a:p>
          <a:p>
            <a:pPr>
              <a:lnSpc>
                <a:spcPct val="110000"/>
              </a:lnSpc>
              <a:spcBef>
                <a:spcPts val="0"/>
              </a:spcBef>
              <a:spcAft>
                <a:spcPts val="1800"/>
              </a:spcAft>
            </a:pPr>
            <a:r>
              <a:rPr sz="4000" b="0" i="0">
                <a:solidFill>
                  <a:srgbClr val="0A0A0A"/>
                </a:solidFill>
                <a:latin typeface="Inknut Antiqua"/>
              </a:rPr>
              <a:t>lo que te llevas</a:t>
            </a:r>
          </a:p>
          <a:p>
            <a:pPr>
              <a:lnSpc>
                <a:spcPct val="140000"/>
              </a:lnSpc>
              <a:spcBef>
                <a:spcPts val="0"/>
              </a:spcBef>
              <a:spcAft>
                <a:spcPts val="600"/>
              </a:spcAft>
            </a:pPr>
            <a:r>
              <a:rPr sz="1700" b="0" i="0">
                <a:solidFill>
                  <a:srgbClr val="33300A"/>
                </a:solidFill>
                <a:latin typeface="Iowan Old Style"/>
              </a:rPr>
              <a:t>Y el correo de dudas de las dos semanas siguientes.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5532120"/>
          </a:xfrm>
          <a:prstGeom prst="rect">
            <a:avLst/>
          </a:prstGeom>
          <a:noFill/>
        </p:spPr>
        <p:txBody>
          <a:bodyPr wrap="square" lIns="0" rIns="0" tIns="0" bIns="0">
            <a:spAutoFit/>
          </a:bodyPr>
          <a:lstStyle/>
          <a:p>
            <a:pPr>
              <a:lnSpc>
                <a:spcPct val="142000"/>
              </a:lnSpc>
              <a:spcBef>
                <a:spcPts val="0"/>
              </a:spcBef>
              <a:spcAft>
                <a:spcPts val="900"/>
              </a:spcAft>
            </a:pPr>
            <a:r>
              <a:rPr sz="1800" b="0" i="0">
                <a:solidFill>
                  <a:srgbClr val="444444"/>
                </a:solidFill>
                <a:latin typeface="Iowan Old Style"/>
              </a:rPr>
              <a:t>No caduca, no tiene suscripción y no se lo lleva nadie al cerrar. Son archivos de texto en una carpeta: el formato más duradero que existe en internet.</a:t>
            </a:r>
          </a:p>
          <a:p>
            <a:pPr>
              <a:lnSpc>
                <a:spcPct val="140000"/>
              </a:lnSpc>
              <a:spcBef>
                <a:spcPts val="0"/>
              </a:spcBef>
              <a:spcAft>
                <a:spcPts val="500"/>
              </a:spcAft>
            </a:pPr>
            <a:r>
              <a:rPr sz="1450" b="0" i="0">
                <a:solidFill>
                  <a:srgbClr val="444444"/>
                </a:solidFill>
                <a:latin typeface="Iowan Old Style"/>
              </a:rPr>
              <a:t>☐  Una web publicada, con dirección propia.</a:t>
            </a:r>
          </a:p>
          <a:p>
            <a:pPr>
              <a:lnSpc>
                <a:spcPct val="140000"/>
              </a:lnSpc>
              <a:spcBef>
                <a:spcPts val="0"/>
              </a:spcBef>
              <a:spcAft>
                <a:spcPts val="500"/>
              </a:spcAft>
            </a:pPr>
            <a:r>
              <a:rPr sz="1450" b="0" i="0">
                <a:solidFill>
                  <a:srgbClr val="444444"/>
                </a:solidFill>
                <a:latin typeface="Iowan Old Style"/>
              </a:rPr>
              <a:t>☐  Una carpeta en tu ordenador que puedes cambiar cuando quieras.</a:t>
            </a:r>
          </a:p>
          <a:p>
            <a:pPr>
              <a:lnSpc>
                <a:spcPct val="140000"/>
              </a:lnSpc>
              <a:spcBef>
                <a:spcPts val="0"/>
              </a:spcBef>
              <a:spcAft>
                <a:spcPts val="500"/>
              </a:spcAft>
            </a:pPr>
            <a:r>
              <a:rPr sz="1450" b="0" i="0">
                <a:solidFill>
                  <a:srgbClr val="444444"/>
                </a:solidFill>
                <a:latin typeface="Iowan Old Style"/>
              </a:rPr>
              <a:t>☐  Una guía escrita y una chuleta para dentro de tres meses.</a:t>
            </a:r>
          </a:p>
          <a:p>
            <a:pPr>
              <a:lnSpc>
                <a:spcPct val="140000"/>
              </a:lnSpc>
              <a:spcBef>
                <a:spcPts val="0"/>
              </a:spcBef>
              <a:spcAft>
                <a:spcPts val="500"/>
              </a:spcAft>
            </a:pPr>
            <a:r>
              <a:rPr sz="1450" b="0" i="0">
                <a:solidFill>
                  <a:srgbClr val="444444"/>
                </a:solidFill>
                <a:latin typeface="Iowan Old Style"/>
              </a:rPr>
              <a:t>☐  Dos semanas de dudas por correo.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3 · Publicar y mantener</dc:title>
  <dc:subject/>
  <dc:creator>meowrhino.studio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