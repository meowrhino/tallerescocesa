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meowrhino.github.io/tallerEscocesa/muestrario/01-web-que-se-explica.html" TargetMode="External"/><Relationship Id="rId3" Type="http://schemas.openxmlformats.org/officeDocument/2006/relationships/hyperlink" Target="https://meowrhino.github.io/tallerEscocesa/muestrario/04-cadaver-exquisito.html" TargetMode="External"/><Relationship Id="rId4" Type="http://schemas.openxmlformats.org/officeDocument/2006/relationships/hyperlink" Target="https://meowrhino.github.io/tallerEscocesa/muestrario/03-archivador-textos.html" TargetMode="External"/><Relationship Id="rId5" Type="http://schemas.openxmlformats.org/officeDocument/2006/relationships/hyperlink" Target="https://meowrhino.github.io/tallerEscocesa/muestrario/" TargetMode="Externa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1737360"/>
            <a:ext cx="10637215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2200"/>
              </a:spcAft>
            </a:pPr>
            <a:r>
              <a:rPr sz="1100" b="0" i="0" spc="300">
                <a:solidFill>
                  <a:srgbClr val="8A8A8A"/>
                </a:solidFill>
                <a:latin typeface="Menlo"/>
              </a:rPr>
              <a:t>SESIÓN 1 DE 3</a:t>
            </a:r>
          </a:p>
          <a:p>
            <a:pPr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4600" b="0" i="0">
                <a:solidFill>
                  <a:srgbClr val="FFFFFF"/>
                </a:solidFill>
                <a:latin typeface="Inknut Antiqua"/>
              </a:rPr>
              <a:t>html:</a:t>
            </a:r>
          </a:p>
          <a:p>
            <a:pPr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4600" b="0" i="0">
                <a:solidFill>
                  <a:srgbClr val="FFFFFF"/>
                </a:solidFill>
                <a:latin typeface="Inknut Antiqua"/>
              </a:rPr>
              <a:t>lo que dice</a:t>
            </a:r>
          </a:p>
          <a:p>
            <a:pPr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4600" b="0" i="0">
                <a:solidFill>
                  <a:srgbClr val="FFFFFF"/>
                </a:solidFill>
                <a:latin typeface="Inknut Antiqua"/>
              </a:rPr>
              <a:t>qué es cada cosa</a:t>
            </a:r>
          </a:p>
          <a:p>
            <a:pPr>
              <a:lnSpc>
                <a:spcPct val="140000"/>
              </a:lnSpc>
              <a:spcBef>
                <a:spcPts val="2600"/>
              </a:spcBef>
              <a:spcAft>
                <a:spcPts val="600"/>
              </a:spcAft>
            </a:pPr>
            <a:r>
              <a:rPr sz="1700" b="0" i="0">
                <a:solidFill>
                  <a:srgbClr val="BBBBBB"/>
                </a:solidFill>
                <a:latin typeface="Iowan Old Style"/>
              </a:rPr>
              <a:t>Tres horas. Al final de hoy tienes dos páginas tuyas, enlazadas, con tu contenido de verdad — y publicadas en internet.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5989320"/>
            <a:ext cx="1063721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 spc="200">
                <a:solidFill>
                  <a:srgbClr val="8A8A8A"/>
                </a:solidFill>
                <a:latin typeface="Menlo"/>
              </a:rPr>
              <a:t>taller de web autogestionada · la escocesa · meowrhino.studio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777240"/>
            <a:ext cx="1063721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 spc="300">
                <a:solidFill>
                  <a:srgbClr val="8A8A8A"/>
                </a:solidFill>
                <a:latin typeface="Menlo"/>
              </a:rPr>
              <a:t>EL PLAN DE HOY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554480"/>
            <a:ext cx="10637215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8A8A8A"/>
                </a:solidFill>
                <a:latin typeface="Menlo"/>
              </a:rPr>
              <a:t>00:00     </a:t>
            </a:r>
            <a:r>
              <a:rPr sz="1700">
                <a:solidFill>
                  <a:srgbClr val="0A0A0A"/>
                </a:solidFill>
                <a:latin typeface="Iowan Old Style"/>
              </a:rPr>
              <a:t>puesta a punto</a:t>
            </a:r>
            <a:r>
              <a:rPr sz="1100">
                <a:solidFill>
                  <a:srgbClr val="8A8A8A"/>
                </a:solidFill>
                <a:latin typeface="Menlo"/>
              </a:rPr>
              <a:t>     20 min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920240"/>
            <a:ext cx="10637215" cy="9525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2029968"/>
            <a:ext cx="10637215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8A8A8A"/>
                </a:solidFill>
                <a:latin typeface="Menlo"/>
              </a:rPr>
              <a:t>00:20     </a:t>
            </a:r>
            <a:r>
              <a:rPr sz="1700">
                <a:solidFill>
                  <a:srgbClr val="0A0A0A"/>
                </a:solidFill>
                <a:latin typeface="Iowan Old Style"/>
              </a:rPr>
              <a:t>webs hechas a mano</a:t>
            </a:r>
            <a:r>
              <a:rPr sz="1100">
                <a:solidFill>
                  <a:srgbClr val="8A8A8A"/>
                </a:solidFill>
                <a:latin typeface="Menlo"/>
              </a:rPr>
              <a:t>     10 min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2395728"/>
            <a:ext cx="10637215" cy="9525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0637215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8A8A8A"/>
                </a:solidFill>
                <a:latin typeface="Menlo"/>
              </a:rPr>
              <a:t>00:30     </a:t>
            </a:r>
            <a:r>
              <a:rPr sz="1700">
                <a:solidFill>
                  <a:srgbClr val="0A0A0A"/>
                </a:solidFill>
                <a:latin typeface="Iowan Old Style"/>
              </a:rPr>
              <a:t>qué es el html</a:t>
            </a:r>
            <a:r>
              <a:rPr sz="1100">
                <a:solidFill>
                  <a:srgbClr val="8A8A8A"/>
                </a:solidFill>
                <a:latin typeface="Menlo"/>
              </a:rPr>
              <a:t>     15 min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2871216"/>
            <a:ext cx="10637215" cy="9525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980944"/>
            <a:ext cx="10637215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8A8A8A"/>
                </a:solidFill>
                <a:latin typeface="Menlo"/>
              </a:rPr>
              <a:t>00:45     </a:t>
            </a:r>
            <a:r>
              <a:rPr sz="1700">
                <a:solidFill>
                  <a:srgbClr val="0A0A0A"/>
                </a:solidFill>
                <a:latin typeface="Iowan Old Style"/>
              </a:rPr>
              <a:t>las etiquetas</a:t>
            </a:r>
            <a:r>
              <a:rPr sz="1100">
                <a:solidFill>
                  <a:srgbClr val="8A8A8A"/>
                </a:solidFill>
                <a:latin typeface="Menlo"/>
              </a:rPr>
              <a:t>     30 min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3346704"/>
            <a:ext cx="10637215" cy="9525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3456432"/>
            <a:ext cx="10637215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8A8A8A"/>
                </a:solidFill>
                <a:latin typeface="Menlo"/>
              </a:rPr>
              <a:t>01:15     </a:t>
            </a:r>
            <a:r>
              <a:rPr sz="1700">
                <a:solidFill>
                  <a:srgbClr val="0A0A0A"/>
                </a:solidFill>
                <a:latin typeface="Iowan Old Style"/>
              </a:rPr>
              <a:t>ejercicio 1 · tu portada</a:t>
            </a:r>
            <a:r>
              <a:rPr sz="1100">
                <a:solidFill>
                  <a:srgbClr val="8A8A8A"/>
                </a:solidFill>
                <a:latin typeface="Menlo"/>
              </a:rPr>
              <a:t>     30 min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3822192"/>
            <a:ext cx="10637215" cy="9525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3931920"/>
            <a:ext cx="10637215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8A8A8A"/>
                </a:solidFill>
                <a:latin typeface="Menlo"/>
              </a:rPr>
              <a:t>01:45     </a:t>
            </a:r>
            <a:r>
              <a:rPr sz="1700">
                <a:solidFill>
                  <a:srgbClr val="0A0A0A"/>
                </a:solidFill>
                <a:latin typeface="Iowan Old Style"/>
              </a:rPr>
              <a:t>pausa</a:t>
            </a:r>
            <a:r>
              <a:rPr sz="1100">
                <a:solidFill>
                  <a:srgbClr val="8A8A8A"/>
                </a:solidFill>
                <a:latin typeface="Menlo"/>
              </a:rPr>
              <a:t>     15 min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240" y="4297680"/>
            <a:ext cx="10637215" cy="9525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4407408"/>
            <a:ext cx="10637215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8A8A8A"/>
                </a:solidFill>
                <a:latin typeface="Menlo"/>
              </a:rPr>
              <a:t>02:00     </a:t>
            </a:r>
            <a:r>
              <a:rPr sz="1700">
                <a:solidFill>
                  <a:srgbClr val="0A0A0A"/>
                </a:solidFill>
                <a:latin typeface="Iowan Old Style"/>
              </a:rPr>
              <a:t>la segunda página</a:t>
            </a:r>
            <a:r>
              <a:rPr sz="1100">
                <a:solidFill>
                  <a:srgbClr val="8A8A8A"/>
                </a:solidFill>
                <a:latin typeface="Menlo"/>
              </a:rPr>
              <a:t>     10 min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773168"/>
            <a:ext cx="10637215" cy="9525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4882896"/>
            <a:ext cx="10637215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8A8A8A"/>
                </a:solidFill>
                <a:latin typeface="Menlo"/>
              </a:rPr>
              <a:t>02:10     </a:t>
            </a:r>
            <a:r>
              <a:rPr sz="1700">
                <a:solidFill>
                  <a:srgbClr val="0A0A0A"/>
                </a:solidFill>
                <a:latin typeface="Iowan Old Style"/>
              </a:rPr>
              <a:t>ejercicio 2 · dos páginas</a:t>
            </a:r>
            <a:r>
              <a:rPr sz="1100">
                <a:solidFill>
                  <a:srgbClr val="8A8A8A"/>
                </a:solidFill>
                <a:latin typeface="Menlo"/>
              </a:rPr>
              <a:t>     30 min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5248656"/>
            <a:ext cx="10637215" cy="9525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5358384"/>
            <a:ext cx="10637215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8A8A8A"/>
                </a:solidFill>
                <a:latin typeface="Menlo"/>
              </a:rPr>
              <a:t>02:40     </a:t>
            </a:r>
            <a:r>
              <a:rPr sz="1700">
                <a:solidFill>
                  <a:srgbClr val="0A0A0A"/>
                </a:solidFill>
                <a:latin typeface="Iowan Old Style"/>
              </a:rPr>
              <a:t>publicarla ya</a:t>
            </a:r>
            <a:r>
              <a:rPr sz="1100">
                <a:solidFill>
                  <a:srgbClr val="8A8A8A"/>
                </a:solidFill>
                <a:latin typeface="Menlo"/>
              </a:rPr>
              <a:t>     10 min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77240" y="5724144"/>
            <a:ext cx="10637215" cy="9525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7240" y="5833872"/>
            <a:ext cx="10637215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8A8A8A"/>
                </a:solidFill>
                <a:latin typeface="Menlo"/>
              </a:rPr>
              <a:t>02:50     </a:t>
            </a:r>
            <a:r>
              <a:rPr sz="1700">
                <a:solidFill>
                  <a:srgbClr val="0A0A0A"/>
                </a:solidFill>
                <a:latin typeface="Iowan Old Style"/>
              </a:rPr>
              <a:t>cierre y encargo</a:t>
            </a:r>
            <a:r>
              <a:rPr sz="1100">
                <a:solidFill>
                  <a:srgbClr val="8A8A8A"/>
                </a:solidFill>
                <a:latin typeface="Menlo"/>
              </a:rPr>
              <a:t>     10 min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77240" y="6199632"/>
            <a:ext cx="10637215" cy="9525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E9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1920240"/>
            <a:ext cx="10637215" cy="3108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1400"/>
              </a:spcAft>
            </a:pPr>
            <a:r>
              <a:rPr sz="1200" b="0" i="0" spc="600">
                <a:solidFill>
                  <a:srgbClr val="6A6418"/>
                </a:solidFill>
                <a:latin typeface="Menlo"/>
              </a:rPr>
              <a:t>PRÁCTICA · LO HACÉIS VOSOTRAS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2000"/>
              </a:spcAft>
            </a:pPr>
            <a:r>
              <a:rPr sz="1100" b="0" i="0" spc="300">
                <a:solidFill>
                  <a:srgbClr val="6A6418"/>
                </a:solidFill>
                <a:latin typeface="Menlo"/>
              </a:rPr>
              <a:t>00:00 · 20 MINUTOS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1800"/>
              </a:spcAft>
            </a:pPr>
            <a:r>
              <a:rPr sz="4000" b="0" i="0">
                <a:solidFill>
                  <a:srgbClr val="0A0A0A"/>
                </a:solidFill>
                <a:latin typeface="Inknut Antiqua"/>
              </a:rPr>
              <a:t>puesta a punto</a:t>
            </a:r>
          </a:p>
          <a:p>
            <a:pPr>
              <a:lnSpc>
                <a:spcPct val="14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0" i="0">
                <a:solidFill>
                  <a:srgbClr val="33300A"/>
                </a:solidFill>
                <a:latin typeface="Iowan Old Style"/>
              </a:rPr>
              <a:t>Antes de escribir nada: el programa instalado, la carpeta abierta y la cuenta creada. Nadie sigue hasta que lo tenga todo el mundo.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B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E8DD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10896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950" b="0" i="0" spc="800">
                <a:solidFill>
                  <a:srgbClr val="8A7C14"/>
                </a:solidFill>
                <a:latin typeface="Menlo"/>
              </a:rPr>
              <a:t>PRÁCTICA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7724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 spc="300">
                <a:solidFill>
                  <a:srgbClr val="8A8A8A"/>
                </a:solidFill>
                <a:latin typeface="Menlo"/>
              </a:rPr>
              <a:t>00:00   ·   TRES COSAS Y YA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161288"/>
            <a:ext cx="10637215" cy="9525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417320"/>
            <a:ext cx="10637215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0" i="0">
                <a:solidFill>
                  <a:srgbClr val="0A0A0A"/>
                </a:solidFill>
                <a:latin typeface="Inknut Antiqua"/>
              </a:rPr>
              <a:t>lo que hay que tener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057400"/>
            <a:ext cx="10637215" cy="4251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44444"/>
                </a:solidFill>
                <a:latin typeface="Iowan Old Style"/>
              </a:rPr>
              <a:t>El programa donde se escribe. Es un editor de texto, como un Word pero para código. Gratis, en code.visualstudio.com.</a:t>
            </a:r>
          </a:p>
          <a:p>
            <a:pPr>
              <a:lnSpc>
                <a:spcPct val="14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44444"/>
                </a:solidFill>
                <a:latin typeface="Iowan Old Style"/>
              </a:rPr>
              <a:t>Descarga, abre el archivo, arrastra a Aplicaciones. Nada más.</a:t>
            </a:r>
          </a:p>
          <a:p>
            <a:pPr>
              <a:lnSpc>
                <a:spcPct val="14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44444"/>
                </a:solidFill>
                <a:latin typeface="Iowan Old Style"/>
              </a:rPr>
              <a:t>Copiadla del pendrive o descargadla de la web del taller. Ponla donde guardes tus cosas importantes, no en Descargas.</a:t>
            </a:r>
          </a:p>
          <a:p>
            <a:pPr>
              <a:lnSpc>
                <a:spcPct val="14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44444"/>
                </a:solidFill>
                <a:latin typeface="Iowan Old Style"/>
              </a:rPr>
              <a:t>Gratis, sin tarjeta, en github.com. Hace falta al final de hoy para publicar.</a:t>
            </a:r>
          </a:p>
          <a:p>
            <a:pPr>
              <a:lnSpc>
                <a:spcPct val="14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44444"/>
                </a:solidFill>
                <a:latin typeface="Iowan Old Style"/>
              </a:rPr>
              <a:t>Apunta la contraseña en un papel. Cada edición hay alguien que no puede entrar.</a:t>
            </a:r>
          </a:p>
          <a:p>
            <a:pPr>
              <a:lnSpc>
                <a:spcPct val="125000"/>
              </a:lnSpc>
              <a:spcBef>
                <a:spcPts val="1000"/>
              </a:spcBef>
              <a:spcAft>
                <a:spcPts val="300"/>
              </a:spcAft>
            </a:pPr>
            <a:r>
              <a:rPr sz="1000" b="0" i="0" spc="300">
                <a:solidFill>
                  <a:srgbClr val="8A8A8A"/>
                </a:solidFill>
                <a:latin typeface="Menlo"/>
              </a:rPr>
              <a:t>SI EL CORREO DE VERIFICACIÓN NO LLEGA</a:t>
            </a:r>
          </a:p>
          <a:p>
            <a:pPr>
              <a:lnSpc>
                <a:spcPct val="140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0" i="0">
                <a:solidFill>
                  <a:srgbClr val="444444"/>
                </a:solidFill>
                <a:latin typeface="Iowan Old Style"/>
              </a:rPr>
              <a:t>Mira en spam, y si no está, sigue sin cuenta: la creas en la pausa. No te quedes parada esperando.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B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E8DD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10896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950" b="0" i="0" spc="800">
                <a:solidFill>
                  <a:srgbClr val="8A7C14"/>
                </a:solidFill>
                <a:latin typeface="Menlo"/>
              </a:rPr>
              <a:t>PRÁCTICA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7724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 spc="300">
                <a:solidFill>
                  <a:srgbClr val="8A8A8A"/>
                </a:solidFill>
                <a:latin typeface="Menlo"/>
              </a:rPr>
              <a:t>00:00   ·   HACEDLO TODAS AHORA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161288"/>
            <a:ext cx="10637215" cy="9525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417320"/>
            <a:ext cx="10637215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0" i="0">
                <a:solidFill>
                  <a:srgbClr val="0A0A0A"/>
                </a:solidFill>
                <a:latin typeface="Inknut Antiqua"/>
              </a:rPr>
              <a:t>abrir la carpeta, no el archivo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057400"/>
            <a:ext cx="10637215" cy="4251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44444"/>
                </a:solidFill>
                <a:latin typeface="Iowan Old Style"/>
              </a:rPr>
              <a:t>Archivo → Abrir carpeta, y eliges la carpeta entera. Nunca un archivo suelto.</a:t>
            </a:r>
          </a:p>
          <a:p>
            <a:pPr>
              <a:lnSpc>
                <a:spcPct val="14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44444"/>
                </a:solidFill>
                <a:latin typeface="Iowan Old Style"/>
              </a:rPr>
              <a:t>Así ves toda tu web en la columna de la izquierda y puedes saltar entre archivos.</a:t>
            </a:r>
          </a:p>
          <a:p>
            <a:pPr>
              <a:lnSpc>
                <a:spcPct val="14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44444"/>
                </a:solidFill>
                <a:latin typeface="Iowan Old Style"/>
              </a:rPr>
              <a:t>Doble clic en index.html. Arriba no pone https:// sino una ruta de tu ordenador: todavía es una web privada, solo tuya.</a:t>
            </a:r>
          </a:p>
          <a:p>
            <a:pPr>
              <a:lnSpc>
                <a:spcPct val="14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44444"/>
                </a:solidFill>
                <a:latin typeface="Iowan Old Style"/>
              </a:rPr>
              <a:t>Coloca las dos ventanas lado a lado. Este bucle es el 90% del trabajo, hoy y siempre.</a:t>
            </a:r>
          </a:p>
          <a:p>
            <a:pPr>
              <a:lnSpc>
                <a:spcPct val="125000"/>
              </a:lnSpc>
              <a:spcBef>
                <a:spcPts val="1000"/>
              </a:spcBef>
              <a:spcAft>
                <a:spcPts val="300"/>
              </a:spcAft>
            </a:pPr>
            <a:r>
              <a:rPr sz="1000" b="0" i="0" spc="300">
                <a:solidFill>
                  <a:srgbClr val="887000"/>
                </a:solidFill>
                <a:latin typeface="Menlo"/>
              </a:rPr>
              <a:t>NO SEGUIMOS HASTA QUE</a:t>
            </a:r>
          </a:p>
          <a:p>
            <a:pPr>
              <a:lnSpc>
                <a:spcPct val="140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1" i="0">
                <a:solidFill>
                  <a:srgbClr val="0A0A0A"/>
                </a:solidFill>
                <a:latin typeface="Iowan Old Style"/>
              </a:rPr>
              <a:t>Todo el mundo haya cambiado una palabra del h1, guardado, recargado y visto el cambio. Una vez. Levanta la mano quien lo tenga.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B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77724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 spc="300">
                <a:solidFill>
                  <a:srgbClr val="8A8A8A"/>
                </a:solidFill>
                <a:latin typeface="Menlo"/>
              </a:rPr>
              <a:t>00:00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188720"/>
            <a:ext cx="1063721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2400" b="0" i="0">
                <a:solidFill>
                  <a:srgbClr val="0A0A0A"/>
                </a:solidFill>
                <a:latin typeface="Inknut Antiqua"/>
              </a:rPr>
              <a:t>abrir la carpeta, no el archivo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874520"/>
            <a:ext cx="10637215" cy="1874519"/>
          </a:xfrm>
          <a:prstGeom prst="rect">
            <a:avLst/>
          </a:prstGeom>
          <a:solidFill>
            <a:srgbClr val="F6F6F3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33272" y="2075688"/>
            <a:ext cx="10125151" cy="147218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0A0A0A"/>
                </a:solidFill>
                <a:latin typeface="Menlo"/>
              </a:rPr>
              <a:t>VS Code</a:t>
            </a:r>
          </a:p>
          <a:p>
            <a:pPr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0A0A0A"/>
                </a:solidFill>
                <a:latin typeface="Menlo"/>
              </a:rPr>
              <a:t>   ↓  guardas</a:t>
            </a:r>
          </a:p>
          <a:p>
            <a:pPr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0A0A0A"/>
                </a:solidFill>
                <a:latin typeface="Menlo"/>
              </a:rPr>
              <a:t>Navegador</a:t>
            </a:r>
          </a:p>
          <a:p>
            <a:pPr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0A0A0A"/>
                </a:solidFill>
                <a:latin typeface="Menlo"/>
              </a:rPr>
              <a:t>   ↓  recargas</a:t>
            </a:r>
          </a:p>
          <a:p>
            <a:pPr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0A0A0A"/>
                </a:solidFill>
                <a:latin typeface="Menlo"/>
              </a:rPr>
              <a:t>Ves el cambio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B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E8DD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10896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950" b="0" i="0" spc="800">
                <a:solidFill>
                  <a:srgbClr val="8A7C14"/>
                </a:solidFill>
                <a:latin typeface="Menlo"/>
              </a:rPr>
              <a:t>PRÁCTICA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7724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 spc="300">
                <a:solidFill>
                  <a:srgbClr val="8A8A8A"/>
                </a:solidFill>
                <a:latin typeface="Menlo"/>
              </a:rPr>
              <a:t>00:00   ·   APUNTE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161288"/>
            <a:ext cx="10637215" cy="9525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417320"/>
            <a:ext cx="10637215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0" i="0">
                <a:solidFill>
                  <a:srgbClr val="0A0A0A"/>
                </a:solidFill>
                <a:latin typeface="Inknut Antiqua"/>
              </a:rPr>
              <a:t>vs code y github, separados a propósito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057400"/>
            <a:ext cx="10637215" cy="4251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44444"/>
                </a:solidFill>
                <a:latin typeface="Iowan Old Style"/>
              </a:rPr>
              <a:t>VS Code tiene un botón para conectarse a GitHub y subir cambios sin salir del programa. Hoy no lo usamos, y es una decisión.</a:t>
            </a:r>
          </a:p>
          <a:p>
            <a:pPr>
              <a:lnSpc>
                <a:spcPct val="14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44444"/>
                </a:solidFill>
                <a:latin typeface="Iowan Old Style"/>
              </a:rPr>
              <a:t>Se aprende primero el camino largo —editar aquí, subir por la web— porque es el que deja ver qué está pasando: una carpeta tuya, y una copia en un servidor.</a:t>
            </a:r>
          </a:p>
          <a:p>
            <a:pPr>
              <a:lnSpc>
                <a:spcPct val="14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44444"/>
                </a:solidFill>
                <a:latin typeface="Iowan Old Style"/>
              </a:rPr>
              <a:t>Cuando ese camino te aburra, que te aburrirá, el atajo está en el panel Control de código fuente de VS Code. Es un botón, no una terminal.</a:t>
            </a:r>
          </a:p>
          <a:p>
            <a:pPr>
              <a:lnSpc>
                <a:spcPct val="14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44444"/>
                </a:solidFill>
                <a:latin typeface="Iowan Old Style"/>
              </a:rPr>
              <a:t>Pero para entonces ya sabrás qué hace, y si se rompe sabrás por qué.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1920240"/>
            <a:ext cx="10637215" cy="3108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1400"/>
              </a:spcAft>
            </a:pPr>
            <a:r>
              <a:rPr sz="1200" b="0" i="0" spc="600">
                <a:solidFill>
                  <a:srgbClr val="8A8A8A"/>
                </a:solidFill>
                <a:latin typeface="Menlo"/>
              </a:rPr>
              <a:t>TEORÍA · LO EXPLICO YO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2000"/>
              </a:spcAft>
            </a:pPr>
            <a:r>
              <a:rPr sz="1100" b="0" i="0" spc="300">
                <a:solidFill>
                  <a:srgbClr val="8A8A8A"/>
                </a:solidFill>
                <a:latin typeface="Menlo"/>
              </a:rPr>
              <a:t>00:20 · 10 MINUTOS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1800"/>
              </a:spcAft>
            </a:pPr>
            <a:r>
              <a:rPr sz="4000" b="0" i="0">
                <a:solidFill>
                  <a:srgbClr val="FFFFFF"/>
                </a:solidFill>
                <a:latin typeface="Inknut Antiqua"/>
              </a:rPr>
              <a:t>webs hechas a mano</a:t>
            </a:r>
          </a:p>
          <a:p>
            <a:pPr>
              <a:lnSpc>
                <a:spcPct val="14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0" i="0">
                <a:solidFill>
                  <a:srgbClr val="BBBBBB"/>
                </a:solidFill>
                <a:latin typeface="Iowan Old Style"/>
              </a:rPr>
              <a:t>Miramos webs de artistas por dentro, con el inspector abierto. Y nos presentamos.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10896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950" b="0" i="0" spc="800">
                <a:solidFill>
                  <a:srgbClr val="8A8A8A"/>
                </a:solidFill>
                <a:latin typeface="Menlo"/>
              </a:rPr>
              <a:t>TEORÍA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7724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 spc="300">
                <a:solidFill>
                  <a:srgbClr val="8A8A8A"/>
                </a:solidFill>
                <a:latin typeface="Menlo"/>
              </a:rPr>
              <a:t>00:20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161288"/>
            <a:ext cx="10637215" cy="9525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17320"/>
            <a:ext cx="10637215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0" i="0">
                <a:solidFill>
                  <a:srgbClr val="0A0A0A"/>
                </a:solidFill>
                <a:latin typeface="Inknut Antiqua"/>
              </a:rPr>
              <a:t>una web es una carpeta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057400"/>
            <a:ext cx="10637215" cy="4251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44444"/>
                </a:solidFill>
                <a:latin typeface="Iowan Old Style"/>
              </a:rPr>
              <a:t>No hay nada más. Ni servidores misteriosos, ni una empresa detrás, ni una suscripción. Archivos de texto dentro de una carpeta.</a:t>
            </a:r>
          </a:p>
          <a:p>
            <a:pPr>
              <a:lnSpc>
                <a:spcPct val="14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44444"/>
                </a:solidFill>
                <a:latin typeface="Iowan Old Style"/>
              </a:rPr>
              <a:t>En cualquier web que te guste: botón derecho → Inspeccionar. Eso que sale es todo lo que hay.</a:t>
            </a:r>
          </a:p>
          <a:p>
            <a:pPr>
              <a:lnSpc>
                <a:spcPct val="14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44444"/>
                </a:solidFill>
                <a:latin typeface="Iowan Old Style"/>
              </a:rPr>
              <a:t>Si mueves la carpeta entera, la web sigue funcionando. Si sacas un archivo de dentro, se rompe.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77724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 spc="300">
                <a:solidFill>
                  <a:srgbClr val="8A8A8A"/>
                </a:solidFill>
                <a:latin typeface="Menlo"/>
              </a:rPr>
              <a:t>00:20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188720"/>
            <a:ext cx="1063721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2400" b="0" i="0">
                <a:solidFill>
                  <a:srgbClr val="0A0A0A"/>
                </a:solidFill>
                <a:latin typeface="Inknut Antiqua"/>
              </a:rPr>
              <a:t>una web es una carpeta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874520"/>
            <a:ext cx="10637215" cy="2697480"/>
          </a:xfrm>
          <a:prstGeom prst="rect">
            <a:avLst/>
          </a:prstGeom>
          <a:solidFill>
            <a:srgbClr val="F6F6F3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33272" y="2075688"/>
            <a:ext cx="10125151" cy="22951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0A0A0A"/>
                </a:solidFill>
                <a:latin typeface="Menlo"/>
              </a:rPr>
              <a:t>mi-web/</a:t>
            </a:r>
          </a:p>
          <a:p>
            <a:pPr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0A0A0A"/>
                </a:solidFill>
                <a:latin typeface="Menlo"/>
              </a:rPr>
              <a:t>├── index.html      ← la portada</a:t>
            </a:r>
          </a:p>
          <a:p>
            <a:pPr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0A0A0A"/>
                </a:solidFill>
                <a:latin typeface="Menlo"/>
              </a:rPr>
              <a:t>├── proyectos.html</a:t>
            </a:r>
          </a:p>
          <a:p>
            <a:pPr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0A0A0A"/>
                </a:solidFill>
                <a:latin typeface="Menlo"/>
              </a:rPr>
              <a:t>├── cv.html</a:t>
            </a:r>
          </a:p>
          <a:p>
            <a:pPr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0A0A0A"/>
                </a:solidFill>
                <a:latin typeface="Menlo"/>
              </a:rPr>
              <a:t>├── estilo.css      ← el aspecto</a:t>
            </a:r>
          </a:p>
          <a:p>
            <a:pPr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0A0A0A"/>
                </a:solidFill>
                <a:latin typeface="Menlo"/>
              </a:rPr>
              <a:t>└── img/</a:t>
            </a:r>
          </a:p>
          <a:p>
            <a:pPr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0A0A0A"/>
                </a:solidFill>
                <a:latin typeface="Menlo"/>
              </a:rPr>
              <a:t>    ├── obra-1.jpg</a:t>
            </a:r>
          </a:p>
          <a:p>
            <a:pPr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0A0A0A"/>
                </a:solidFill>
                <a:latin typeface="Menlo"/>
              </a:rPr>
              <a:t>    └── retrato.jpg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1920240"/>
            <a:ext cx="10637215" cy="3108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1400"/>
              </a:spcAft>
            </a:pPr>
            <a:r>
              <a:rPr sz="1200" b="0" i="0" spc="600">
                <a:solidFill>
                  <a:srgbClr val="8A8A8A"/>
                </a:solidFill>
                <a:latin typeface="Menlo"/>
              </a:rPr>
              <a:t>TEORÍA · LO EXPLICO YO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2000"/>
              </a:spcAft>
            </a:pPr>
            <a:r>
              <a:rPr sz="1100" b="0" i="0" spc="300">
                <a:solidFill>
                  <a:srgbClr val="8A8A8A"/>
                </a:solidFill>
                <a:latin typeface="Menlo"/>
              </a:rPr>
              <a:t>00:30 · 15 MINUTOS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1800"/>
              </a:spcAft>
            </a:pPr>
            <a:r>
              <a:rPr sz="4000" b="0" i="0">
                <a:solidFill>
                  <a:srgbClr val="FFFFFF"/>
                </a:solidFill>
                <a:latin typeface="Inknut Antiqua"/>
              </a:rPr>
              <a:t>qué es el html</a:t>
            </a:r>
          </a:p>
          <a:p>
            <a:pPr>
              <a:lnSpc>
                <a:spcPct val="14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0" i="0">
                <a:solidFill>
                  <a:srgbClr val="BBBBBB"/>
                </a:solidFill>
                <a:latin typeface="Iowan Old Style"/>
              </a:rPr>
              <a:t>Antes de escribir una sola etiqueta: qué es esto y qué hace exactamente.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10896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950" b="0" i="0" spc="800">
                <a:solidFill>
                  <a:srgbClr val="8A8A8A"/>
                </a:solidFill>
                <a:latin typeface="Menlo"/>
              </a:rPr>
              <a:t>TEORÍA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7724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 spc="300">
                <a:solidFill>
                  <a:srgbClr val="8A8A8A"/>
                </a:solidFill>
                <a:latin typeface="Menlo"/>
              </a:rPr>
              <a:t>00:30   ·   EL CONCEPTO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161288"/>
            <a:ext cx="10637215" cy="9525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17320"/>
            <a:ext cx="10637215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0" i="0">
                <a:solidFill>
                  <a:srgbClr val="0A0A0A"/>
                </a:solidFill>
                <a:latin typeface="Inknut Antiqua"/>
              </a:rPr>
              <a:t>html no dibuja: estructura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057400"/>
            <a:ext cx="10637215" cy="4251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44444"/>
                </a:solidFill>
                <a:latin typeface="Iowan Old Style"/>
              </a:rPr>
              <a:t>HTML son las siglas de HyperText Markup Language. Lo importante es la palabra del medio: markup, marcado. No es un lenguaje de programación — no calcula, no decide, no tiene memoria.</a:t>
            </a:r>
          </a:p>
          <a:p>
            <a:pPr>
              <a:lnSpc>
                <a:spcPct val="14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44444"/>
                </a:solidFill>
                <a:latin typeface="Iowan Old Style"/>
              </a:rPr>
              <a:t>Lo único que hace es marcar un texto diciendo qué es cada parte.</a:t>
            </a:r>
          </a:p>
          <a:p>
            <a:pPr>
              <a:lnSpc>
                <a:spcPct val="14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44444"/>
                </a:solidFill>
                <a:latin typeface="Iowan Old Style"/>
              </a:rPr>
              <a:t>El navegador no sabe qué es cada línea. Lo pinta todo seguido, igual.</a:t>
            </a:r>
          </a:p>
          <a:p>
            <a:pPr>
              <a:lnSpc>
                <a:spcPct val="14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44444"/>
                </a:solidFill>
                <a:latin typeface="Iowan Old Style"/>
              </a:rPr>
              <a:t>Ahora sí. Y con esa información puede jerarquizarlo, y un lector de pantalla puede leerlo con sentido.</a:t>
            </a:r>
          </a:p>
          <a:p>
            <a:pPr>
              <a:lnSpc>
                <a:spcPct val="125000"/>
              </a:lnSpc>
              <a:spcBef>
                <a:spcPts val="1000"/>
              </a:spcBef>
              <a:spcAft>
                <a:spcPts val="300"/>
              </a:spcAft>
            </a:pPr>
            <a:r>
              <a:rPr sz="1000" b="0" i="0" spc="300">
                <a:solidFill>
                  <a:srgbClr val="887000"/>
                </a:solidFill>
                <a:latin typeface="Menlo"/>
              </a:rPr>
              <a:t>LA FRASE DE HOY</a:t>
            </a:r>
          </a:p>
          <a:p>
            <a:pPr>
              <a:lnSpc>
                <a:spcPct val="140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1" i="0">
                <a:solidFill>
                  <a:srgbClr val="0A0A0A"/>
                </a:solidFill>
                <a:latin typeface="Iowan Old Style"/>
              </a:rPr>
              <a:t>El HTML dice qué es cada cosa. El CSS dice cómo se ve. Hoy solo hacemos lo primero: va a quedar feo, y está bien que quede feo.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77724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 spc="300">
                <a:solidFill>
                  <a:srgbClr val="8A8A8A"/>
                </a:solidFill>
                <a:latin typeface="Menlo"/>
              </a:rPr>
              <a:t>00:30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188720"/>
            <a:ext cx="1063721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2400" b="0" i="0">
                <a:solidFill>
                  <a:srgbClr val="0A0A0A"/>
                </a:solidFill>
                <a:latin typeface="Inknut Antiqua"/>
              </a:rPr>
              <a:t>html no dibuja: estructura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874520"/>
            <a:ext cx="10637215" cy="1600200"/>
          </a:xfrm>
          <a:prstGeom prst="rect">
            <a:avLst/>
          </a:prstGeom>
          <a:solidFill>
            <a:srgbClr val="F6F6F3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33272" y="2075688"/>
            <a:ext cx="10125151" cy="11978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0A0A0A"/>
                </a:solidFill>
                <a:latin typeface="Menlo"/>
              </a:rPr>
              <a:t>Rita Mestre</a:t>
            </a:r>
          </a:p>
          <a:p>
            <a:pPr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0A0A0A"/>
                </a:solidFill>
                <a:latin typeface="Menlo"/>
              </a:rPr>
              <a:t>Trabajo con cerámica y sonido.</a:t>
            </a:r>
          </a:p>
          <a:p>
            <a:pPr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0A0A0A"/>
                </a:solidFill>
                <a:latin typeface="Menlo"/>
              </a:rPr>
              <a:t>Cámaras sordas</a:t>
            </a:r>
          </a:p>
          <a:p>
            <a:pPr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0A0A0A"/>
                </a:solidFill>
                <a:latin typeface="Menlo"/>
              </a:rPr>
              <a:t>2026 · Gres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77724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 spc="300">
                <a:solidFill>
                  <a:srgbClr val="8A8A8A"/>
                </a:solidFill>
                <a:latin typeface="Menlo"/>
              </a:rPr>
              <a:t>00:30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188720"/>
            <a:ext cx="1063721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2400" b="0" i="0">
                <a:solidFill>
                  <a:srgbClr val="0A0A0A"/>
                </a:solidFill>
                <a:latin typeface="Inknut Antiqua"/>
              </a:rPr>
              <a:t>html no dibuja: estructura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874520"/>
            <a:ext cx="10637215" cy="1600200"/>
          </a:xfrm>
          <a:prstGeom prst="rect">
            <a:avLst/>
          </a:prstGeom>
          <a:solidFill>
            <a:srgbClr val="F6F6F3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33272" y="2075688"/>
            <a:ext cx="10125151" cy="11978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0A0A0A"/>
                </a:solidFill>
                <a:latin typeface="Menlo"/>
              </a:rPr>
              <a:t>&lt;h1&gt;Rita Mestre&lt;/h1&gt;</a:t>
            </a:r>
          </a:p>
          <a:p>
            <a:pPr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0A0A0A"/>
                </a:solidFill>
                <a:latin typeface="Menlo"/>
              </a:rPr>
              <a:t>&lt;p&gt;Trabajo con cerámica y sonido.&lt;/p&gt;</a:t>
            </a:r>
          </a:p>
          <a:p>
            <a:pPr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0A0A0A"/>
                </a:solidFill>
                <a:latin typeface="Menlo"/>
              </a:rPr>
              <a:t>&lt;h3&gt;Cámaras sordas&lt;/h3&gt;</a:t>
            </a:r>
          </a:p>
          <a:p>
            <a:pPr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0A0A0A"/>
                </a:solidFill>
                <a:latin typeface="Menlo"/>
              </a:rPr>
              <a:t>&lt;p&gt;2026 · Gres&lt;/p&gt;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10896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950" b="0" i="0" spc="800">
                <a:solidFill>
                  <a:srgbClr val="8A8A8A"/>
                </a:solidFill>
                <a:latin typeface="Menlo"/>
              </a:rPr>
              <a:t>TEORÍA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7724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 spc="300">
                <a:solidFill>
                  <a:srgbClr val="8A8A8A"/>
                </a:solidFill>
                <a:latin typeface="Menlo"/>
              </a:rPr>
              <a:t>00:30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161288"/>
            <a:ext cx="10637215" cy="9525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17320"/>
            <a:ext cx="10637215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0" i="0">
                <a:solidFill>
                  <a:srgbClr val="0A0A0A"/>
                </a:solidFill>
                <a:latin typeface="Inknut Antiqua"/>
              </a:rPr>
              <a:t>tres cosas que hay que creerse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057400"/>
            <a:ext cx="10637215" cy="4251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0000"/>
              </a:lnSpc>
              <a:spcBef>
                <a:spcPts val="0"/>
              </a:spcBef>
              <a:spcAft>
                <a:spcPts val="500"/>
              </a:spcAft>
            </a:pPr>
            <a:r>
              <a:rPr sz="1450" b="0" i="0">
                <a:solidFill>
                  <a:srgbClr val="444444"/>
                </a:solidFill>
                <a:latin typeface="Iowan Old Style"/>
              </a:rPr>
              <a:t>·  La carpeta es la web. Si la mueves entera, sigue funcionando. Si sacas un archivo de dentro, se rompe.</a:t>
            </a:r>
          </a:p>
          <a:p>
            <a:pPr>
              <a:lnSpc>
                <a:spcPct val="140000"/>
              </a:lnSpc>
              <a:spcBef>
                <a:spcPts val="0"/>
              </a:spcBef>
              <a:spcAft>
                <a:spcPts val="500"/>
              </a:spcAft>
            </a:pPr>
            <a:r>
              <a:rPr sz="1450" b="0" i="0">
                <a:solidFill>
                  <a:srgbClr val="444444"/>
                </a:solidFill>
                <a:latin typeface="Iowan Old Style"/>
              </a:rPr>
              <a:t>·  index.html es la portada. Ese nombre exacto: es el que busca el servidor cuando alguien entra sin pedir ninguna página concreta.</a:t>
            </a:r>
          </a:p>
          <a:p>
            <a:pPr>
              <a:lnSpc>
                <a:spcPct val="140000"/>
              </a:lnSpc>
              <a:spcBef>
                <a:spcPts val="0"/>
              </a:spcBef>
              <a:spcAft>
                <a:spcPts val="500"/>
              </a:spcAft>
            </a:pPr>
            <a:r>
              <a:rPr sz="1450" b="0" i="0">
                <a:solidFill>
                  <a:srgbClr val="444444"/>
                </a:solidFill>
                <a:latin typeface="Iowan Old Style"/>
              </a:rPr>
              <a:t>·  img/obra.jpg significa «dentro de mi carpeta». Una imagen que esté en tu escritorio se ve en tu ordenador y en ningún otro sitio del mundo.</a:t>
            </a:r>
          </a:p>
          <a:p>
            <a:pPr>
              <a:lnSpc>
                <a:spcPct val="125000"/>
              </a:lnSpc>
              <a:spcBef>
                <a:spcPts val="1000"/>
              </a:spcBef>
              <a:spcAft>
                <a:spcPts val="300"/>
              </a:spcAft>
            </a:pPr>
            <a:r>
              <a:rPr sz="1000" b="0" i="0" spc="300">
                <a:solidFill>
                  <a:srgbClr val="8A8A8A"/>
                </a:solidFill>
                <a:latin typeface="Menlo"/>
              </a:rPr>
              <a:t>NOMBRES DE ARCHIVO</a:t>
            </a:r>
          </a:p>
          <a:p>
            <a:pPr>
              <a:lnSpc>
                <a:spcPct val="140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0" i="0">
                <a:solidFill>
                  <a:srgbClr val="444444"/>
                </a:solidFill>
                <a:latin typeface="Iowan Old Style"/>
              </a:rPr>
              <a:t>Sin espacios, sin acentos, sin ñ, sin mayúsculas. Foto Taller.JPG falla al publicar; foto-taller.jpg no. Para un servidor, .jpg y .JPG son archivos distintos. En tu Mac funciona y al publicar deja de funcionar. Es el fallo número uno del taller.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10896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950" b="0" i="0" spc="800">
                <a:solidFill>
                  <a:srgbClr val="8A8A8A"/>
                </a:solidFill>
                <a:latin typeface="Menlo"/>
              </a:rPr>
              <a:t>TEORÍA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7724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 spc="300">
                <a:solidFill>
                  <a:srgbClr val="8A8A8A"/>
                </a:solidFill>
                <a:latin typeface="Menlo"/>
              </a:rPr>
              <a:t>00:30   ·   POR QUÉ SEPARAR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161288"/>
            <a:ext cx="10637215" cy="9525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17320"/>
            <a:ext cx="10637215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0" i="0">
                <a:solidFill>
                  <a:srgbClr val="0A0A0A"/>
                </a:solidFill>
                <a:latin typeface="Inknut Antiqua"/>
              </a:rPr>
              <a:t>por qué el contenido va aparte del aspecto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057400"/>
            <a:ext cx="10637215" cy="4251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44444"/>
                </a:solidFill>
                <a:latin typeface="Iowan Old Style"/>
              </a:rPr>
              <a:t>Porque el contenido dura y el aspecto cambia. Dentro de cinco años querrás otra tipografía y otros colores, pero tu bio y tus proyectos serán los mismos.</a:t>
            </a:r>
          </a:p>
          <a:p>
            <a:pPr>
              <a:lnSpc>
                <a:spcPct val="14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44444"/>
                </a:solidFill>
                <a:latin typeface="Iowan Old Style"/>
              </a:rPr>
              <a:t>Si están separados, rediseñas la web entera tocando un solo archivo. Lo verás en la sesión 2: el mismo HTML, cuatro webs.</a:t>
            </a:r>
          </a:p>
          <a:p>
            <a:pPr>
              <a:lnSpc>
                <a:spcPct val="14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44444"/>
                </a:solidFill>
                <a:latin typeface="Iowan Old Style"/>
              </a:rPr>
              <a:t>Y porque hay lectores que no son ojos: buscadores, lectores de pantalla, el modo lectura del móvil. Todos leen la estructura.</a:t>
            </a:r>
          </a:p>
          <a:p>
            <a:pPr>
              <a:lnSpc>
                <a:spcPct val="14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44444"/>
                </a:solidFill>
                <a:latin typeface="Iowan Old Style"/>
              </a:rPr>
              <a:t>Un &lt;h1&gt; escrito como &lt;h1&gt; es un título para todo el mundo. Un texto puesto grande a mano solo lo es para quien lo ve.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1920240"/>
            <a:ext cx="10637215" cy="3108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1400"/>
              </a:spcAft>
            </a:pPr>
            <a:r>
              <a:rPr sz="1200" b="0" i="0" spc="600">
                <a:solidFill>
                  <a:srgbClr val="8A8A8A"/>
                </a:solidFill>
                <a:latin typeface="Menlo"/>
              </a:rPr>
              <a:t>TEORÍA · LO EXPLICO YO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2000"/>
              </a:spcAft>
            </a:pPr>
            <a:r>
              <a:rPr sz="1100" b="0" i="0" spc="300">
                <a:solidFill>
                  <a:srgbClr val="8A8A8A"/>
                </a:solidFill>
                <a:latin typeface="Menlo"/>
              </a:rPr>
              <a:t>00:45 · 30 MINUTOS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1800"/>
              </a:spcAft>
            </a:pPr>
            <a:r>
              <a:rPr sz="4000" b="0" i="0">
                <a:solidFill>
                  <a:srgbClr val="FFFFFF"/>
                </a:solidFill>
                <a:latin typeface="Inknut Antiqua"/>
              </a:rPr>
              <a:t>las etiquetas</a:t>
            </a:r>
          </a:p>
          <a:p>
            <a:pPr>
              <a:lnSpc>
                <a:spcPct val="14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0" i="0">
                <a:solidFill>
                  <a:srgbClr val="BBBBBB"/>
                </a:solidFill>
                <a:latin typeface="Iowan Old Style"/>
              </a:rPr>
              <a:t>Escribo en directo y me seguís. Despacio. Sin empezar todavía con vuestro contenido.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10896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950" b="0" i="0" spc="800">
                <a:solidFill>
                  <a:srgbClr val="8A8A8A"/>
                </a:solidFill>
                <a:latin typeface="Menlo"/>
              </a:rPr>
              <a:t>TEORÍA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7724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 spc="300">
                <a:solidFill>
                  <a:srgbClr val="8A8A8A"/>
                </a:solidFill>
                <a:latin typeface="Menlo"/>
              </a:rPr>
              <a:t>00:45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161288"/>
            <a:ext cx="10637215" cy="9525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17320"/>
            <a:ext cx="10637215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0" i="0">
                <a:solidFill>
                  <a:srgbClr val="0A0A0A"/>
                </a:solidFill>
                <a:latin typeface="Inknut Antiqua"/>
              </a:rPr>
              <a:t>las etiquetas van en pareja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057400"/>
            <a:ext cx="10637215" cy="4251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44444"/>
                </a:solidFill>
                <a:latin typeface="Iowan Old Style"/>
              </a:rPr>
              <a:t>Lo que escribes entre medias es lo que se ve. Y lo que anides dentro, se cierra dentro: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77724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 spc="300">
                <a:solidFill>
                  <a:srgbClr val="8A8A8A"/>
                </a:solidFill>
                <a:latin typeface="Menlo"/>
              </a:rPr>
              <a:t>00:45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188720"/>
            <a:ext cx="1063721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2400" b="0" i="0">
                <a:solidFill>
                  <a:srgbClr val="0A0A0A"/>
                </a:solidFill>
                <a:latin typeface="Inknut Antiqua"/>
              </a:rPr>
              <a:t>las etiquetas van en pareja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874520"/>
            <a:ext cx="10637215" cy="1051560"/>
          </a:xfrm>
          <a:prstGeom prst="rect">
            <a:avLst/>
          </a:prstGeom>
          <a:solidFill>
            <a:srgbClr val="F6F6F3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33272" y="2075688"/>
            <a:ext cx="10125151" cy="6492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0A0A0A"/>
                </a:solidFill>
                <a:latin typeface="Menlo"/>
              </a:rPr>
              <a:t>&lt;p&gt;Esto es un párrafo.&lt;/p&gt;</a:t>
            </a:r>
          </a:p>
          <a:p>
            <a:pPr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0A0A0A"/>
                </a:solidFill>
                <a:latin typeface="Menlo"/>
              </a:rPr>
              <a:t> ↑ abre                ↑ cierra (lleva barra)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77724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 spc="300">
                <a:solidFill>
                  <a:srgbClr val="8A8A8A"/>
                </a:solidFill>
                <a:latin typeface="Menlo"/>
              </a:rPr>
              <a:t>00:45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188720"/>
            <a:ext cx="1063721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2400" b="0" i="0">
                <a:solidFill>
                  <a:srgbClr val="0A0A0A"/>
                </a:solidFill>
                <a:latin typeface="Inknut Antiqua"/>
              </a:rPr>
              <a:t>las etiquetas van en pareja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874520"/>
            <a:ext cx="10637215" cy="1600200"/>
          </a:xfrm>
          <a:prstGeom prst="rect">
            <a:avLst/>
          </a:prstGeom>
          <a:solidFill>
            <a:srgbClr val="F6F6F3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33272" y="2075688"/>
            <a:ext cx="10125151" cy="11978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0A0A0A"/>
                </a:solidFill>
                <a:latin typeface="Menlo"/>
              </a:rPr>
              <a:t>&lt;article&gt;</a:t>
            </a:r>
          </a:p>
          <a:p>
            <a:pPr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0A0A0A"/>
                </a:solidFill>
                <a:latin typeface="Menlo"/>
              </a:rPr>
              <a:t>  &lt;h3&gt;Cámaras sordas&lt;/h3&gt;</a:t>
            </a:r>
          </a:p>
          <a:p>
            <a:pPr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0A0A0A"/>
                </a:solidFill>
                <a:latin typeface="Menlo"/>
              </a:rPr>
              <a:t>  &lt;p&gt;2026 · Gres y grabaciones de campo&lt;/p&gt;</a:t>
            </a:r>
          </a:p>
          <a:p>
            <a:pPr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0A0A0A"/>
                </a:solidFill>
                <a:latin typeface="Menlo"/>
              </a:rPr>
              <a:t>&lt;/article&gt;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10896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950" b="0" i="0" spc="800">
                <a:solidFill>
                  <a:srgbClr val="8A8A8A"/>
                </a:solidFill>
                <a:latin typeface="Menlo"/>
              </a:rPr>
              <a:t>TEORÍA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7724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 spc="300">
                <a:solidFill>
                  <a:srgbClr val="8A8A8A"/>
                </a:solidFill>
                <a:latin typeface="Menlo"/>
              </a:rPr>
              <a:t>00:45   ·   EL ESQUELETO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161288"/>
            <a:ext cx="10637215" cy="9525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17320"/>
            <a:ext cx="10637215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0" i="0">
                <a:solidFill>
                  <a:srgbClr val="0A0A0A"/>
                </a:solidFill>
                <a:latin typeface="Inknut Antiqua"/>
              </a:rPr>
              <a:t>la estructura de una página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057400"/>
            <a:ext cx="10637215" cy="4251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44444"/>
                </a:solidFill>
                <a:latin typeface="Iowan Old Style"/>
              </a:rPr>
              <a:t>head es lo que no se ve. body es lo que sí.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77724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 spc="300">
                <a:solidFill>
                  <a:srgbClr val="8A8A8A"/>
                </a:solidFill>
                <a:latin typeface="Menlo"/>
              </a:rPr>
              <a:t>00:45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188720"/>
            <a:ext cx="1063721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2400" b="0" i="0">
                <a:solidFill>
                  <a:srgbClr val="0A0A0A"/>
                </a:solidFill>
                <a:latin typeface="Inknut Antiqua"/>
              </a:rPr>
              <a:t>la estructura de una página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874520"/>
            <a:ext cx="10637215" cy="4343400"/>
          </a:xfrm>
          <a:prstGeom prst="rect">
            <a:avLst/>
          </a:prstGeom>
          <a:solidFill>
            <a:srgbClr val="F6F6F3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33272" y="2075688"/>
            <a:ext cx="10125151" cy="3941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0A0A0A"/>
                </a:solidFill>
                <a:latin typeface="Menlo"/>
              </a:rPr>
              <a:t>&lt;!DOCTYPE html&gt;</a:t>
            </a:r>
          </a:p>
          <a:p>
            <a:pPr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0A0A0A"/>
                </a:solidFill>
                <a:latin typeface="Menlo"/>
              </a:rPr>
              <a:t>&lt;html lang="es"&gt;</a:t>
            </a:r>
          </a:p>
          <a:p>
            <a:pPr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0A0A0A"/>
                </a:solidFill>
                <a:latin typeface="Menlo"/>
              </a:rPr>
              <a:t>&lt;head&gt;</a:t>
            </a:r>
          </a:p>
          <a:p>
            <a:pPr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0A0A0A"/>
                </a:solidFill>
                <a:latin typeface="Menlo"/>
              </a:rPr>
              <a:t>  &lt;meta charset="UTF-8"&gt;                     acentos y ñ</a:t>
            </a:r>
          </a:p>
          <a:p>
            <a:pPr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0A0A0A"/>
                </a:solidFill>
                <a:latin typeface="Menlo"/>
              </a:rPr>
              <a:t>  &lt;meta name="viewport" content="width=device-width, initial-scale=1"&gt;</a:t>
            </a:r>
          </a:p>
          <a:p>
            <a:pPr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0A0A0A"/>
                </a:solidFill>
                <a:latin typeface="Menlo"/>
              </a:rPr>
              <a:t>  &lt;title&gt;Rita Mestre&lt;/title&gt;                la pestaña</a:t>
            </a:r>
          </a:p>
          <a:p>
            <a:pPr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0A0A0A"/>
                </a:solidFill>
                <a:latin typeface="Menlo"/>
              </a:rPr>
              <a:t>  &lt;link rel="stylesheet" href="estilo.css"&gt; el aspecto</a:t>
            </a:r>
          </a:p>
          <a:p>
            <a:pPr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0A0A0A"/>
                </a:solidFill>
                <a:latin typeface="Menlo"/>
              </a:rPr>
              <a:t>&lt;/head&gt;</a:t>
            </a:r>
          </a:p>
          <a:p>
            <a:pPr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0A0A0A"/>
                </a:solidFill>
                <a:latin typeface="Menlo"/>
              </a:rPr>
              <a:t>&lt;body&gt;</a:t>
            </a:r>
          </a:p>
          <a:p>
            <a:pPr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0A0A0A"/>
                </a:solidFill>
                <a:latin typeface="Menlo"/>
              </a:rPr>
              <a:t>  &lt;header&gt; tu nombre y el menú &lt;/header&gt;</a:t>
            </a:r>
          </a:p>
          <a:p>
            <a:pPr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0A0A0A"/>
                </a:solidFill>
                <a:latin typeface="Menlo"/>
              </a:rPr>
              <a:t>  &lt;main&gt;   el contenido de esta página &lt;/main&gt;</a:t>
            </a:r>
          </a:p>
          <a:p>
            <a:pPr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0A0A0A"/>
                </a:solidFill>
                <a:latin typeface="Menlo"/>
              </a:rPr>
              <a:t>  &lt;footer&gt; contacto, créditos &lt;/footer&gt;</a:t>
            </a:r>
          </a:p>
          <a:p>
            <a:pPr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0A0A0A"/>
                </a:solidFill>
                <a:latin typeface="Menlo"/>
              </a:rPr>
              <a:t>&lt;/body&gt;</a:t>
            </a:r>
          </a:p>
          <a:p>
            <a:pPr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0A0A0A"/>
                </a:solidFill>
                <a:latin typeface="Menlo"/>
              </a:rPr>
              <a:t>&lt;/html&gt;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10896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950" b="0" i="0" spc="800">
                <a:solidFill>
                  <a:srgbClr val="8A8A8A"/>
                </a:solidFill>
                <a:latin typeface="Menlo"/>
              </a:rPr>
              <a:t>TEORÍA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7724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 spc="300">
                <a:solidFill>
                  <a:srgbClr val="8A8A8A"/>
                </a:solidFill>
                <a:latin typeface="Menlo"/>
              </a:rPr>
              <a:t>00:45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161288"/>
            <a:ext cx="10637215" cy="9525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17320"/>
            <a:ext cx="10637215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0" i="0">
                <a:solidFill>
                  <a:srgbClr val="0A0A0A"/>
                </a:solidFill>
                <a:latin typeface="Inknut Antiqua"/>
              </a:rPr>
              <a:t>títulos y párrafos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057400"/>
            <a:ext cx="10637215" cy="4251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Bef>
                <a:spcPts val="1000"/>
              </a:spcBef>
              <a:spcAft>
                <a:spcPts val="300"/>
              </a:spcAft>
            </a:pPr>
            <a:r>
              <a:rPr sz="1000" b="0" i="0" spc="300">
                <a:solidFill>
                  <a:srgbClr val="8A8A8A"/>
                </a:solidFill>
                <a:latin typeface="Menlo"/>
              </a:rPr>
              <a:t>UN SOLO H1 POR PÁGINA</a:t>
            </a:r>
          </a:p>
          <a:p>
            <a:pPr>
              <a:lnSpc>
                <a:spcPct val="140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0" i="0">
                <a:solidFill>
                  <a:srgbClr val="444444"/>
                </a:solidFill>
                <a:latin typeface="Iowan Old Style"/>
              </a:rPr>
              <a:t>h1 a h6 es jerarquía, no tamaño. El tamaño se decide luego, en el CSS. No uses un h4 porque quieras letra pequeña.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77724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 spc="300">
                <a:solidFill>
                  <a:srgbClr val="8A8A8A"/>
                </a:solidFill>
                <a:latin typeface="Menlo"/>
              </a:rPr>
              <a:t>00:45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188720"/>
            <a:ext cx="1063721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2400" b="0" i="0">
                <a:solidFill>
                  <a:srgbClr val="0A0A0A"/>
                </a:solidFill>
                <a:latin typeface="Inknut Antiqua"/>
              </a:rPr>
              <a:t>títulos y párrafos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874520"/>
            <a:ext cx="10637215" cy="2148839"/>
          </a:xfrm>
          <a:prstGeom prst="rect">
            <a:avLst/>
          </a:prstGeom>
          <a:solidFill>
            <a:srgbClr val="F6F6F3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33272" y="2075688"/>
            <a:ext cx="10125151" cy="174650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0A0A0A"/>
                </a:solidFill>
                <a:latin typeface="Menlo"/>
              </a:rPr>
              <a:t>&lt;h1&gt;Rita Mestre&lt;/h1&gt;          el título principal</a:t>
            </a:r>
          </a:p>
          <a:p>
            <a:pPr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0A0A0A"/>
                </a:solidFill>
                <a:latin typeface="Menlo"/>
              </a:rPr>
              <a:t>&lt;h2&gt;Proyectos&lt;/h2&gt;            un apartado</a:t>
            </a:r>
          </a:p>
          <a:p>
            <a:pPr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0A0A0A"/>
                </a:solidFill>
                <a:latin typeface="Menlo"/>
              </a:rPr>
              <a:t>&lt;h3&gt;Cámaras sordas&lt;/h3&gt;       algo dentro del apartado</a:t>
            </a:r>
          </a:p>
          <a:p>
            <a:pPr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0A0A0A"/>
                </a:solidFill>
                <a:latin typeface="Menlo"/>
              </a:rPr>
              <a:t> </a:t>
            </a:r>
          </a:p>
          <a:p>
            <a:pPr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0A0A0A"/>
                </a:solidFill>
                <a:latin typeface="Menlo"/>
              </a:rPr>
              <a:t>&lt;p&gt;Un párrafo.&lt;/p&gt;</a:t>
            </a:r>
          </a:p>
          <a:p>
            <a:pPr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0A0A0A"/>
                </a:solidFill>
                <a:latin typeface="Menlo"/>
              </a:rPr>
              <a:t>&lt;p&gt;Otro párrafo, con otra idea.&lt;/p&gt;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10896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950" b="0" i="0" spc="800">
                <a:solidFill>
                  <a:srgbClr val="8A8A8A"/>
                </a:solidFill>
                <a:latin typeface="Menlo"/>
              </a:rPr>
              <a:t>TEORÍA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7724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 spc="300">
                <a:solidFill>
                  <a:srgbClr val="8A8A8A"/>
                </a:solidFill>
                <a:latin typeface="Menlo"/>
              </a:rPr>
              <a:t>00:45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161288"/>
            <a:ext cx="10637215" cy="9525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17320"/>
            <a:ext cx="10637215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0" i="0">
                <a:solidFill>
                  <a:srgbClr val="0A0A0A"/>
                </a:solidFill>
                <a:latin typeface="Inknut Antiqua"/>
              </a:rPr>
              <a:t>enlaces e imágenes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057400"/>
            <a:ext cx="10637215" cy="4251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0000"/>
              </a:lnSpc>
              <a:spcBef>
                <a:spcPts val="0"/>
              </a:spcBef>
              <a:spcAft>
                <a:spcPts val="500"/>
              </a:spcAft>
            </a:pPr>
            <a:r>
              <a:rPr sz="1450" b="0" i="0">
                <a:solidFill>
                  <a:srgbClr val="444444"/>
                </a:solidFill>
                <a:latin typeface="Iowan Old Style"/>
              </a:rPr>
              <a:t>·  href es a dónde va. Para una web de fuera hace falta el https:// delante.</a:t>
            </a:r>
          </a:p>
          <a:p>
            <a:pPr>
              <a:lnSpc>
                <a:spcPct val="140000"/>
              </a:lnSpc>
              <a:spcBef>
                <a:spcPts val="0"/>
              </a:spcBef>
              <a:spcAft>
                <a:spcPts val="500"/>
              </a:spcAft>
            </a:pPr>
            <a:r>
              <a:rPr sz="1450" b="0" i="0">
                <a:solidFill>
                  <a:srgbClr val="444444"/>
                </a:solidFill>
                <a:latin typeface="Iowan Old Style"/>
              </a:rPr>
              <a:t>·  src es dónde está el archivo. img/ significa dentro de tu carpeta.</a:t>
            </a:r>
          </a:p>
          <a:p>
            <a:pPr>
              <a:lnSpc>
                <a:spcPct val="140000"/>
              </a:lnSpc>
              <a:spcBef>
                <a:spcPts val="0"/>
              </a:spcBef>
              <a:spcAft>
                <a:spcPts val="500"/>
              </a:spcAft>
            </a:pPr>
            <a:r>
              <a:rPr sz="1450" b="0" i="0">
                <a:solidFill>
                  <a:srgbClr val="444444"/>
                </a:solidFill>
                <a:latin typeface="Iowan Old Style"/>
              </a:rPr>
              <a:t>·  img no lleva etiqueta de cierre. Es de las pocas.</a:t>
            </a:r>
          </a:p>
          <a:p>
            <a:pPr>
              <a:lnSpc>
                <a:spcPct val="125000"/>
              </a:lnSpc>
              <a:spcBef>
                <a:spcPts val="1000"/>
              </a:spcBef>
              <a:spcAft>
                <a:spcPts val="300"/>
              </a:spcAft>
            </a:pPr>
            <a:r>
              <a:rPr sz="1000" b="0" i="0" spc="300">
                <a:solidFill>
                  <a:srgbClr val="887000"/>
                </a:solidFill>
                <a:latin typeface="Menlo"/>
              </a:rPr>
              <a:t>EL ALT NO ES OPCIONAL</a:t>
            </a:r>
          </a:p>
          <a:p>
            <a:pPr>
              <a:lnSpc>
                <a:spcPct val="140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1" i="0">
                <a:solidFill>
                  <a:srgbClr val="0A0A0A"/>
                </a:solidFill>
                <a:latin typeface="Iowan Old Style"/>
              </a:rPr>
              <a:t>Lo lee en voz alta un lector de pantalla y aparece si la imagen no carga. Descríbela como se la describirías por teléfono a alguien.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77724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 spc="300">
                <a:solidFill>
                  <a:srgbClr val="8A8A8A"/>
                </a:solidFill>
                <a:latin typeface="Menlo"/>
              </a:rPr>
              <a:t>00:45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188720"/>
            <a:ext cx="1063721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2400" b="0" i="0">
                <a:solidFill>
                  <a:srgbClr val="0A0A0A"/>
                </a:solidFill>
                <a:latin typeface="Inknut Antiqua"/>
              </a:rPr>
              <a:t>enlaces e imágenes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874520"/>
            <a:ext cx="10637215" cy="1874519"/>
          </a:xfrm>
          <a:prstGeom prst="rect">
            <a:avLst/>
          </a:prstGeom>
          <a:solidFill>
            <a:srgbClr val="F6F6F3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33272" y="2075688"/>
            <a:ext cx="10125151" cy="147218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0A0A0A"/>
                </a:solidFill>
                <a:latin typeface="Menlo"/>
              </a:rPr>
              <a:t>&lt;a href="cv.html"&gt;CV&lt;/a&gt;                      a otra página tuya</a:t>
            </a:r>
          </a:p>
          <a:p>
            <a:pPr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0A0A0A"/>
                </a:solidFill>
                <a:latin typeface="Menlo"/>
              </a:rPr>
              <a:t>&lt;a href="https://neocities.org"&gt;Neocities&lt;/a&gt;  a otra web</a:t>
            </a:r>
          </a:p>
          <a:p>
            <a:pPr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0A0A0A"/>
                </a:solidFill>
                <a:latin typeface="Menlo"/>
              </a:rPr>
              <a:t>&lt;a href="mailto:rita@ejemplo.com"&gt;Escríbeme&lt;/a&gt;  abre el correo</a:t>
            </a:r>
          </a:p>
          <a:p>
            <a:pPr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0A0A0A"/>
                </a:solidFill>
                <a:latin typeface="Menlo"/>
              </a:rPr>
              <a:t> </a:t>
            </a:r>
          </a:p>
          <a:p>
            <a:pPr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0A0A0A"/>
                </a:solidFill>
                <a:latin typeface="Menlo"/>
              </a:rPr>
              <a:t>&lt;img src="img/obra-1.jpg" alt="Cinco piezas de gres"&gt;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E9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1920240"/>
            <a:ext cx="10637215" cy="3108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1400"/>
              </a:spcAft>
            </a:pPr>
            <a:r>
              <a:rPr sz="1200" b="0" i="0" spc="600">
                <a:solidFill>
                  <a:srgbClr val="6A6418"/>
                </a:solidFill>
                <a:latin typeface="Menlo"/>
              </a:rPr>
              <a:t>PRÁCTICA · LO HACÉIS VOSOTRAS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2000"/>
              </a:spcAft>
            </a:pPr>
            <a:r>
              <a:rPr sz="1100" b="0" i="0" spc="300">
                <a:solidFill>
                  <a:srgbClr val="6A6418"/>
                </a:solidFill>
                <a:latin typeface="Menlo"/>
              </a:rPr>
              <a:t>01:15 · 30 MINUTOS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1800"/>
              </a:spcAft>
            </a:pPr>
            <a:r>
              <a:rPr sz="4000" b="0" i="0">
                <a:solidFill>
                  <a:srgbClr val="0A0A0A"/>
                </a:solidFill>
                <a:latin typeface="Inknut Antiqua"/>
              </a:rPr>
              <a:t>ejercicio 1 · tu portada</a:t>
            </a:r>
          </a:p>
          <a:p>
            <a:pPr>
              <a:lnSpc>
                <a:spcPct val="14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0" i="0">
                <a:solidFill>
                  <a:srgbClr val="33300A"/>
                </a:solidFill>
                <a:latin typeface="Iowan Old Style"/>
              </a:rPr>
              <a:t>Ahora con vuestro contenido de verdad. Nada de texto de relleno. Yo doy vueltas por la sala.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B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E8DD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10896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950" b="0" i="0" spc="800">
                <a:solidFill>
                  <a:srgbClr val="8A7C14"/>
                </a:solidFill>
                <a:latin typeface="Menlo"/>
              </a:rPr>
              <a:t>PRÁCTICA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7724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 spc="300">
                <a:solidFill>
                  <a:srgbClr val="8A8A8A"/>
                </a:solidFill>
                <a:latin typeface="Menlo"/>
              </a:rPr>
              <a:t>EJERCICIO 1   ·   30 MIN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161288"/>
            <a:ext cx="10637215" cy="9525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417320"/>
            <a:ext cx="10637215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0" i="0">
                <a:solidFill>
                  <a:srgbClr val="0A0A0A"/>
                </a:solidFill>
                <a:latin typeface="Inknut Antiqua"/>
              </a:rPr>
              <a:t>tu portada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057400"/>
            <a:ext cx="10637215" cy="4251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0000"/>
              </a:lnSpc>
              <a:spcBef>
                <a:spcPts val="0"/>
              </a:spcBef>
              <a:spcAft>
                <a:spcPts val="500"/>
              </a:spcAft>
            </a:pPr>
            <a:r>
              <a:rPr sz="1450" b="0" i="0">
                <a:solidFill>
                  <a:srgbClr val="444444"/>
                </a:solidFill>
                <a:latin typeface="Iowan Old Style"/>
              </a:rPr>
              <a:t>☐  Tu nombre en el &lt;h1&gt; y también en el &lt;title&gt;.</a:t>
            </a:r>
          </a:p>
          <a:p>
            <a:pPr>
              <a:lnSpc>
                <a:spcPct val="140000"/>
              </a:lnSpc>
              <a:spcBef>
                <a:spcPts val="0"/>
              </a:spcBef>
              <a:spcAft>
                <a:spcPts val="500"/>
              </a:spcAft>
            </a:pPr>
            <a:r>
              <a:rPr sz="1450" b="0" i="0">
                <a:solidFill>
                  <a:srgbClr val="444444"/>
                </a:solidFill>
                <a:latin typeface="Iowan Old Style"/>
              </a:rPr>
              <a:t>☐  Tu bio en dos o tres &lt;p&gt; separados, uno por idea.</a:t>
            </a:r>
          </a:p>
          <a:p>
            <a:pPr>
              <a:lnSpc>
                <a:spcPct val="140000"/>
              </a:lnSpc>
              <a:spcBef>
                <a:spcPts val="0"/>
              </a:spcBef>
              <a:spcAft>
                <a:spcPts val="500"/>
              </a:spcAft>
            </a:pPr>
            <a:r>
              <a:rPr sz="1450" b="0" i="0">
                <a:solidFill>
                  <a:srgbClr val="444444"/>
                </a:solidFill>
                <a:latin typeface="Iowan Old Style"/>
              </a:rPr>
              <a:t>☐  Una imagen tuya o de tu trabajo, con su alt escrito.</a:t>
            </a:r>
          </a:p>
          <a:p>
            <a:pPr>
              <a:lnSpc>
                <a:spcPct val="140000"/>
              </a:lnSpc>
              <a:spcBef>
                <a:spcPts val="0"/>
              </a:spcBef>
              <a:spcAft>
                <a:spcPts val="500"/>
              </a:spcAft>
            </a:pPr>
            <a:r>
              <a:rPr sz="1450" b="0" i="0">
                <a:solidFill>
                  <a:srgbClr val="444444"/>
                </a:solidFill>
                <a:latin typeface="Iowan Old Style"/>
              </a:rPr>
              <a:t>☐  Tu correo en el pie, funcionando con mailto:.</a:t>
            </a:r>
          </a:p>
          <a:p>
            <a:pPr>
              <a:lnSpc>
                <a:spcPct val="140000"/>
              </a:lnSpc>
              <a:spcBef>
                <a:spcPts val="0"/>
              </a:spcBef>
              <a:spcAft>
                <a:spcPts val="500"/>
              </a:spcAft>
            </a:pPr>
            <a:r>
              <a:rPr sz="1450" b="0" i="0">
                <a:solidFill>
                  <a:srgbClr val="444444"/>
                </a:solidFill>
                <a:latin typeface="Iowan Old Style"/>
              </a:rPr>
              <a:t>☐  Todos los comentarios de instrucciones borrados.</a:t>
            </a:r>
          </a:p>
          <a:p>
            <a:pPr>
              <a:lnSpc>
                <a:spcPct val="140000"/>
              </a:lnSpc>
              <a:spcBef>
                <a:spcPts val="0"/>
              </a:spcBef>
              <a:spcAft>
                <a:spcPts val="500"/>
              </a:spcAft>
            </a:pPr>
            <a:r>
              <a:rPr sz="1450" b="0" i="0">
                <a:solidFill>
                  <a:srgbClr val="444444"/>
                </a:solidFill>
                <a:latin typeface="Iowan Old Style"/>
              </a:rPr>
              <a:t>·  Un enlace a alguna web tuya o de alguien que admires.</a:t>
            </a:r>
          </a:p>
          <a:p>
            <a:pPr>
              <a:lnSpc>
                <a:spcPct val="140000"/>
              </a:lnSpc>
              <a:spcBef>
                <a:spcPts val="0"/>
              </a:spcBef>
              <a:spcAft>
                <a:spcPts val="500"/>
              </a:spcAft>
            </a:pPr>
            <a:r>
              <a:rPr sz="1450" b="0" i="0">
                <a:solidFill>
                  <a:srgbClr val="444444"/>
                </a:solidFill>
                <a:latin typeface="Iowan Old Style"/>
              </a:rPr>
              <a:t>·  Una segunda imagen.</a:t>
            </a:r>
          </a:p>
          <a:p>
            <a:pPr>
              <a:lnSpc>
                <a:spcPct val="140000"/>
              </a:lnSpc>
              <a:spcBef>
                <a:spcPts val="0"/>
              </a:spcBef>
              <a:spcAft>
                <a:spcPts val="500"/>
              </a:spcAft>
            </a:pPr>
            <a:r>
              <a:rPr sz="1450" b="0" i="0">
                <a:solidFill>
                  <a:srgbClr val="444444"/>
                </a:solidFill>
                <a:latin typeface="Iowan Old Style"/>
              </a:rPr>
              <a:t>·  Cambiar background-color en estilo.css. Solo eso.</a:t>
            </a:r>
          </a:p>
          <a:p>
            <a:pPr>
              <a:lnSpc>
                <a:spcPct val="125000"/>
              </a:lnSpc>
              <a:spcBef>
                <a:spcPts val="1000"/>
              </a:spcBef>
              <a:spcAft>
                <a:spcPts val="300"/>
              </a:spcAft>
            </a:pPr>
            <a:r>
              <a:rPr sz="1000" b="0" i="0" spc="300">
                <a:solidFill>
                  <a:srgbClr val="8A8A8A"/>
                </a:solidFill>
                <a:latin typeface="Menlo"/>
              </a:rPr>
              <a:t>SI HAS PEGADO TEXTO DESDE WORD</a:t>
            </a:r>
          </a:p>
          <a:p>
            <a:pPr>
              <a:lnSpc>
                <a:spcPct val="140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0" i="0">
                <a:solidFill>
                  <a:srgbClr val="444444"/>
                </a:solidFill>
                <a:latin typeface="Iowan Old Style"/>
              </a:rPr>
              <a:t>Mira las comillas y los guiones: vienen curvados y a veces rompen el código. Bórralos y reescríbelos a mano.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1920240"/>
            <a:ext cx="10637215" cy="3108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2000"/>
              </a:spcAft>
            </a:pPr>
            <a:r>
              <a:rPr sz="1100" b="0" i="0" spc="300">
                <a:solidFill>
                  <a:srgbClr val="8A8A8A"/>
                </a:solidFill>
                <a:latin typeface="Menlo"/>
              </a:rPr>
              <a:t>01:45 · 15 MINUTOS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1800"/>
              </a:spcAft>
            </a:pPr>
            <a:r>
              <a:rPr sz="4000" b="0" i="0">
                <a:solidFill>
                  <a:srgbClr val="FFFFFF"/>
                </a:solidFill>
                <a:latin typeface="Inknut Antiqua"/>
              </a:rPr>
              <a:t>pausa</a:t>
            </a:r>
          </a:p>
          <a:p>
            <a:pPr>
              <a:lnSpc>
                <a:spcPct val="14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0" i="0">
                <a:solidFill>
                  <a:srgbClr val="BBBBBB"/>
                </a:solidFill>
                <a:latin typeface="Iowan Old Style"/>
              </a:rPr>
              <a:t>Estirar las piernas. Quien no tenga cuenta de GitHub, este es el momento.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1920240"/>
            <a:ext cx="10637215" cy="3108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1400"/>
              </a:spcAft>
            </a:pPr>
            <a:r>
              <a:rPr sz="1200" b="0" i="0" spc="600">
                <a:solidFill>
                  <a:srgbClr val="8A8A8A"/>
                </a:solidFill>
                <a:latin typeface="Menlo"/>
              </a:rPr>
              <a:t>TEORÍA · LO EXPLICO YO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2000"/>
              </a:spcAft>
            </a:pPr>
            <a:r>
              <a:rPr sz="1100" b="0" i="0" spc="300">
                <a:solidFill>
                  <a:srgbClr val="8A8A8A"/>
                </a:solidFill>
                <a:latin typeface="Menlo"/>
              </a:rPr>
              <a:t>02:00 · 10 MINUTOS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1800"/>
              </a:spcAft>
            </a:pPr>
            <a:r>
              <a:rPr sz="4000" b="0" i="0">
                <a:solidFill>
                  <a:srgbClr val="FFFFFF"/>
                </a:solidFill>
                <a:latin typeface="Inknut Antiqua"/>
              </a:rPr>
              <a:t>la segunda página</a:t>
            </a:r>
          </a:p>
          <a:p>
            <a:pPr>
              <a:lnSpc>
                <a:spcPct val="14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0" i="0">
                <a:solidFill>
                  <a:srgbClr val="BBBBBB"/>
                </a:solidFill>
                <a:latin typeface="Iowan Old Style"/>
              </a:rPr>
              <a:t>Diez minutos de explicación y os suelto media hora.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10896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950" b="0" i="0" spc="800">
                <a:solidFill>
                  <a:srgbClr val="8A8A8A"/>
                </a:solidFill>
                <a:latin typeface="Menlo"/>
              </a:rPr>
              <a:t>TEORÍA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7724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 spc="300">
                <a:solidFill>
                  <a:srgbClr val="8A8A8A"/>
                </a:solidFill>
                <a:latin typeface="Menlo"/>
              </a:rPr>
              <a:t>02:00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161288"/>
            <a:ext cx="10637215" cy="9525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17320"/>
            <a:ext cx="10637215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0" i="0">
                <a:solidFill>
                  <a:srgbClr val="0A0A0A"/>
                </a:solidFill>
                <a:latin typeface="Inknut Antiqua"/>
              </a:rPr>
              <a:t>duplicar, enlazar, repetir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057400"/>
            <a:ext cx="10637215" cy="4251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44444"/>
                </a:solidFill>
                <a:latin typeface="Iowan Old Style"/>
              </a:rPr>
              <a:t>Para el siguiente proyecto: copias el bloque entero, lo pegas debajo y cambias el texto. Así de aburrido. Así de fiable.</a:t>
            </a:r>
          </a:p>
          <a:p>
            <a:pPr>
              <a:lnSpc>
                <a:spcPct val="125000"/>
              </a:lnSpc>
              <a:spcBef>
                <a:spcPts val="1000"/>
              </a:spcBef>
              <a:spcAft>
                <a:spcPts val="300"/>
              </a:spcAft>
            </a:pPr>
            <a:r>
              <a:rPr sz="1000" b="0" i="0" spc="300">
                <a:solidFill>
                  <a:srgbClr val="8A8A8A"/>
                </a:solidFill>
                <a:latin typeface="Menlo"/>
              </a:rPr>
              <a:t>EL FALLO TÍPICO</a:t>
            </a:r>
          </a:p>
          <a:p>
            <a:pPr>
              <a:lnSpc>
                <a:spcPct val="140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0" i="0">
                <a:solidFill>
                  <a:srgbClr val="444444"/>
                </a:solidFill>
                <a:latin typeface="Iowan Old Style"/>
              </a:rPr>
              <a:t>Añadir el enlace nuevo solo en una de las dos páginas. Desde la otra no se llega, y parece que el enlace está mal cuando lo que falta es repetirlo.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77724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 spc="300">
                <a:solidFill>
                  <a:srgbClr val="8A8A8A"/>
                </a:solidFill>
                <a:latin typeface="Menlo"/>
              </a:rPr>
              <a:t>02:00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188720"/>
            <a:ext cx="1063721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2400" b="0" i="0">
                <a:solidFill>
                  <a:srgbClr val="0A0A0A"/>
                </a:solidFill>
                <a:latin typeface="Inknut Antiqua"/>
              </a:rPr>
              <a:t>duplicar, enlazar, repetir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874520"/>
            <a:ext cx="10637215" cy="1600200"/>
          </a:xfrm>
          <a:prstGeom prst="rect">
            <a:avLst/>
          </a:prstGeom>
          <a:solidFill>
            <a:srgbClr val="F6F6F3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33272" y="2075688"/>
            <a:ext cx="10125151" cy="11978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0A0A0A"/>
                </a:solidFill>
                <a:latin typeface="Menlo"/>
              </a:rPr>
              <a:t>&lt;nav&gt;</a:t>
            </a:r>
          </a:p>
          <a:p>
            <a:pPr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0A0A0A"/>
                </a:solidFill>
                <a:latin typeface="Menlo"/>
              </a:rPr>
              <a:t>  &lt;a href="index.html"&gt;Inicio&lt;/a&gt;</a:t>
            </a:r>
          </a:p>
          <a:p>
            <a:pPr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0A0A0A"/>
                </a:solidFill>
                <a:latin typeface="Menlo"/>
              </a:rPr>
              <a:t>  &lt;a href="proyectos.html"&gt;Proyectos&lt;/a&gt;</a:t>
            </a:r>
          </a:p>
          <a:p>
            <a:pPr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0A0A0A"/>
                </a:solidFill>
                <a:latin typeface="Menlo"/>
              </a:rPr>
              <a:t>&lt;/nav&gt;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77724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 spc="300">
                <a:solidFill>
                  <a:srgbClr val="8A8A8A"/>
                </a:solidFill>
                <a:latin typeface="Menlo"/>
              </a:rPr>
              <a:t>02:00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188720"/>
            <a:ext cx="1063721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2400" b="0" i="0">
                <a:solidFill>
                  <a:srgbClr val="0A0A0A"/>
                </a:solidFill>
                <a:latin typeface="Inknut Antiqua"/>
              </a:rPr>
              <a:t>duplicar, enlazar, repetir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874520"/>
            <a:ext cx="10637215" cy="2148839"/>
          </a:xfrm>
          <a:prstGeom prst="rect">
            <a:avLst/>
          </a:prstGeom>
          <a:solidFill>
            <a:srgbClr val="F6F6F3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33272" y="2075688"/>
            <a:ext cx="10125151" cy="174650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0A0A0A"/>
                </a:solidFill>
                <a:latin typeface="Menlo"/>
              </a:rPr>
              <a:t>&lt;article&gt;</a:t>
            </a:r>
          </a:p>
          <a:p>
            <a:pPr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0A0A0A"/>
                </a:solidFill>
                <a:latin typeface="Menlo"/>
              </a:rPr>
              <a:t>  &lt;h3&gt;Cámaras sordas&lt;/h3&gt;</a:t>
            </a:r>
          </a:p>
          <a:p>
            <a:pPr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0A0A0A"/>
                </a:solidFill>
                <a:latin typeface="Menlo"/>
              </a:rPr>
              <a:t>  &lt;p&gt;2026 · Gres · Barcelona&lt;/p&gt;</a:t>
            </a:r>
          </a:p>
          <a:p>
            <a:pPr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0A0A0A"/>
                </a:solidFill>
                <a:latin typeface="Menlo"/>
              </a:rPr>
              <a:t>  &lt;img src="img/obra-1.jpg" alt="…"&gt;</a:t>
            </a:r>
          </a:p>
          <a:p>
            <a:pPr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0A0A0A"/>
                </a:solidFill>
                <a:latin typeface="Menlo"/>
              </a:rPr>
              <a:t>  &lt;p&gt;Dos líneas sobre el proyecto.&lt;/p&gt;</a:t>
            </a:r>
          </a:p>
          <a:p>
            <a:pPr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0A0A0A"/>
                </a:solidFill>
                <a:latin typeface="Menlo"/>
              </a:rPr>
              <a:t>&lt;/article&gt;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E9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1920240"/>
            <a:ext cx="10637215" cy="3108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1400"/>
              </a:spcAft>
            </a:pPr>
            <a:r>
              <a:rPr sz="1200" b="0" i="0" spc="600">
                <a:solidFill>
                  <a:srgbClr val="6A6418"/>
                </a:solidFill>
                <a:latin typeface="Menlo"/>
              </a:rPr>
              <a:t>PRÁCTICA · LO HACÉIS VOSOTRAS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2000"/>
              </a:spcAft>
            </a:pPr>
            <a:r>
              <a:rPr sz="1100" b="0" i="0" spc="300">
                <a:solidFill>
                  <a:srgbClr val="6A6418"/>
                </a:solidFill>
                <a:latin typeface="Menlo"/>
              </a:rPr>
              <a:t>02:10 · 30 MINUTOS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1800"/>
              </a:spcAft>
            </a:pPr>
            <a:r>
              <a:rPr sz="4000" b="0" i="0">
                <a:solidFill>
                  <a:srgbClr val="0A0A0A"/>
                </a:solidFill>
                <a:latin typeface="Inknut Antiqua"/>
              </a:rPr>
              <a:t>ejercicio 2 · dos páginas</a:t>
            </a:r>
          </a:p>
          <a:p>
            <a:pPr>
              <a:lnSpc>
                <a:spcPct val="14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0" i="0">
                <a:solidFill>
                  <a:srgbClr val="33300A"/>
                </a:solidFill>
                <a:latin typeface="Iowan Old Style"/>
              </a:rPr>
              <a:t>Duplicar, conectar y montar la página de proyectos con vuestro material.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B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E8DD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10896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950" b="0" i="0" spc="800">
                <a:solidFill>
                  <a:srgbClr val="8A7C14"/>
                </a:solidFill>
                <a:latin typeface="Menlo"/>
              </a:rPr>
              <a:t>PRÁCTICA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7724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 spc="300">
                <a:solidFill>
                  <a:srgbClr val="8A8A8A"/>
                </a:solidFill>
                <a:latin typeface="Menlo"/>
              </a:rPr>
              <a:t>EJERCICIO 2   ·   30 MIN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161288"/>
            <a:ext cx="10637215" cy="9525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417320"/>
            <a:ext cx="10637215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0" i="0">
                <a:solidFill>
                  <a:srgbClr val="0A0A0A"/>
                </a:solidFill>
                <a:latin typeface="Inknut Antiqua"/>
              </a:rPr>
              <a:t>dos páginas conectadas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057400"/>
            <a:ext cx="10637215" cy="4251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0000"/>
              </a:lnSpc>
              <a:spcBef>
                <a:spcPts val="0"/>
              </a:spcBef>
              <a:spcAft>
                <a:spcPts val="500"/>
              </a:spcAft>
            </a:pPr>
            <a:r>
              <a:rPr sz="1450" b="0" i="0">
                <a:solidFill>
                  <a:srgbClr val="444444"/>
                </a:solidFill>
                <a:latin typeface="Iowan Old Style"/>
              </a:rPr>
              <a:t>·  Duplica index.html y llama a la copia proyectos.html.</a:t>
            </a:r>
          </a:p>
          <a:p>
            <a:pPr>
              <a:lnSpc>
                <a:spcPct val="140000"/>
              </a:lnSpc>
              <a:spcBef>
                <a:spcPts val="0"/>
              </a:spcBef>
              <a:spcAft>
                <a:spcPts val="500"/>
              </a:spcAft>
            </a:pPr>
            <a:r>
              <a:rPr sz="1450" b="0" i="0">
                <a:solidFill>
                  <a:srgbClr val="444444"/>
                </a:solidFill>
                <a:latin typeface="Iowan Old Style"/>
              </a:rPr>
              <a:t>·  Cambia el &lt;title&gt; y vacía el &lt;main&gt;.</a:t>
            </a:r>
          </a:p>
          <a:p>
            <a:pPr>
              <a:lnSpc>
                <a:spcPct val="140000"/>
              </a:lnSpc>
              <a:spcBef>
                <a:spcPts val="0"/>
              </a:spcBef>
              <a:spcAft>
                <a:spcPts val="500"/>
              </a:spcAft>
            </a:pPr>
            <a:r>
              <a:rPr sz="1450" b="0" i="0">
                <a:solidFill>
                  <a:srgbClr val="444444"/>
                </a:solidFill>
                <a:latin typeface="Iowan Old Style"/>
              </a:rPr>
              <a:t>·  Pon &lt;h2&gt;Proyectos&lt;/h2&gt; y debajo un &lt;article&gt; por proyecto.</a:t>
            </a:r>
          </a:p>
          <a:p>
            <a:pPr>
              <a:lnSpc>
                <a:spcPct val="140000"/>
              </a:lnSpc>
              <a:spcBef>
                <a:spcPts val="0"/>
              </a:spcBef>
              <a:spcAft>
                <a:spcPts val="500"/>
              </a:spcAft>
            </a:pPr>
            <a:r>
              <a:rPr sz="1450" b="0" i="0">
                <a:solidFill>
                  <a:srgbClr val="444444"/>
                </a:solidFill>
                <a:latin typeface="Iowan Old Style"/>
              </a:rPr>
              <a:t>·  Añade el enlace al menú de las dos páginas.</a:t>
            </a:r>
          </a:p>
          <a:p>
            <a:pPr>
              <a:lnSpc>
                <a:spcPct val="140000"/>
              </a:lnSpc>
              <a:spcBef>
                <a:spcPts val="0"/>
              </a:spcBef>
              <a:spcAft>
                <a:spcPts val="500"/>
              </a:spcAft>
            </a:pPr>
            <a:r>
              <a:rPr sz="1450" b="0" i="0">
                <a:solidFill>
                  <a:srgbClr val="444444"/>
                </a:solidFill>
                <a:latin typeface="Iowan Old Style"/>
              </a:rPr>
              <a:t>☐  Dos páginas que se enlazan en los dos sentidos.</a:t>
            </a:r>
          </a:p>
          <a:p>
            <a:pPr>
              <a:lnSpc>
                <a:spcPct val="140000"/>
              </a:lnSpc>
              <a:spcBef>
                <a:spcPts val="0"/>
              </a:spcBef>
              <a:spcAft>
                <a:spcPts val="500"/>
              </a:spcAft>
            </a:pPr>
            <a:r>
              <a:rPr sz="1450" b="0" i="0">
                <a:solidFill>
                  <a:srgbClr val="444444"/>
                </a:solidFill>
                <a:latin typeface="Iowan Old Style"/>
              </a:rPr>
              <a:t>☐  Al menos dos proyectos con imagen y texto.</a:t>
            </a:r>
          </a:p>
          <a:p>
            <a:pPr>
              <a:lnSpc>
                <a:spcPct val="140000"/>
              </a:lnSpc>
              <a:spcBef>
                <a:spcPts val="0"/>
              </a:spcBef>
              <a:spcAft>
                <a:spcPts val="500"/>
              </a:spcAft>
            </a:pPr>
            <a:r>
              <a:rPr sz="1450" b="0" i="0">
                <a:solidFill>
                  <a:srgbClr val="444444"/>
                </a:solidFill>
                <a:latin typeface="Iowan Old Style"/>
              </a:rPr>
              <a:t>☐  Ningún enlace roto: puedes ir y volver clicando.</a:t>
            </a:r>
          </a:p>
          <a:p>
            <a:pPr>
              <a:lnSpc>
                <a:spcPct val="140000"/>
              </a:lnSpc>
              <a:spcBef>
                <a:spcPts val="0"/>
              </a:spcBef>
              <a:spcAft>
                <a:spcPts val="500"/>
              </a:spcAft>
            </a:pPr>
            <a:r>
              <a:rPr sz="1450" b="0" i="0">
                <a:solidFill>
                  <a:srgbClr val="444444"/>
                </a:solidFill>
                <a:latin typeface="Iowan Old Style"/>
              </a:rPr>
              <a:t>☐  Cada página con su &lt;title&gt; propio.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E9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1920240"/>
            <a:ext cx="10637215" cy="3108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1400"/>
              </a:spcAft>
            </a:pPr>
            <a:r>
              <a:rPr sz="1200" b="0" i="0" spc="600">
                <a:solidFill>
                  <a:srgbClr val="6A6418"/>
                </a:solidFill>
                <a:latin typeface="Menlo"/>
              </a:rPr>
              <a:t>PRÁCTICA · LO HACÉIS VOSOTRAS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2000"/>
              </a:spcAft>
            </a:pPr>
            <a:r>
              <a:rPr sz="1100" b="0" i="0" spc="300">
                <a:solidFill>
                  <a:srgbClr val="6A6418"/>
                </a:solidFill>
                <a:latin typeface="Menlo"/>
              </a:rPr>
              <a:t>02:40 · 10 MINUTOS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1800"/>
              </a:spcAft>
            </a:pPr>
            <a:r>
              <a:rPr sz="4000" b="0" i="0">
                <a:solidFill>
                  <a:srgbClr val="0A0A0A"/>
                </a:solidFill>
                <a:latin typeface="Inknut Antiqua"/>
              </a:rPr>
              <a:t>publicarla ya</a:t>
            </a:r>
          </a:p>
          <a:p>
            <a:pPr>
              <a:lnSpc>
                <a:spcPct val="14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0" i="0">
                <a:solidFill>
                  <a:srgbClr val="33300A"/>
                </a:solidFill>
                <a:latin typeface="Iowan Old Style"/>
              </a:rPr>
              <a:t>Sí, hoy. Sin entender nada todavía. Para que salgáis por la puerta con una dirección de internet.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B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E8DD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10896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950" b="0" i="0" spc="800">
                <a:solidFill>
                  <a:srgbClr val="8A7C14"/>
                </a:solidFill>
                <a:latin typeface="Menlo"/>
              </a:rPr>
              <a:t>PRÁCTICA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7724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 spc="300">
                <a:solidFill>
                  <a:srgbClr val="8A8A8A"/>
                </a:solidFill>
                <a:latin typeface="Menlo"/>
              </a:rPr>
              <a:t>02:40   ·   A CIEGAS, YA LO ENTENDEREMOS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161288"/>
            <a:ext cx="10637215" cy="9525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417320"/>
            <a:ext cx="10637215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0" i="0">
                <a:solidFill>
                  <a:srgbClr val="0A0A0A"/>
                </a:solidFill>
                <a:latin typeface="Inknut Antiqua"/>
              </a:rPr>
              <a:t>seis clics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057400"/>
            <a:ext cx="10637215" cy="4251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0000"/>
              </a:lnSpc>
              <a:spcBef>
                <a:spcPts val="0"/>
              </a:spcBef>
              <a:spcAft>
                <a:spcPts val="500"/>
              </a:spcAft>
            </a:pPr>
            <a:r>
              <a:rPr sz="1450" b="0" i="0">
                <a:solidFill>
                  <a:srgbClr val="444444"/>
                </a:solidFill>
                <a:latin typeface="Iowan Old Style"/>
              </a:rPr>
              <a:t>·  En github.com, botón New repository.</a:t>
            </a:r>
          </a:p>
          <a:p>
            <a:pPr>
              <a:lnSpc>
                <a:spcPct val="140000"/>
              </a:lnSpc>
              <a:spcBef>
                <a:spcPts val="0"/>
              </a:spcBef>
              <a:spcAft>
                <a:spcPts val="500"/>
              </a:spcAft>
            </a:pPr>
            <a:r>
              <a:rPr sz="1450" b="0" i="0">
                <a:solidFill>
                  <a:srgbClr val="444444"/>
                </a:solidFill>
                <a:latin typeface="Iowan Old Style"/>
              </a:rPr>
              <a:t>·  Nombre mi-web, marca Public, Create.</a:t>
            </a:r>
          </a:p>
          <a:p>
            <a:pPr>
              <a:lnSpc>
                <a:spcPct val="140000"/>
              </a:lnSpc>
              <a:spcBef>
                <a:spcPts val="0"/>
              </a:spcBef>
              <a:spcAft>
                <a:spcPts val="500"/>
              </a:spcAft>
            </a:pPr>
            <a:r>
              <a:rPr sz="1450" b="0" i="0">
                <a:solidFill>
                  <a:srgbClr val="444444"/>
                </a:solidFill>
                <a:latin typeface="Iowan Old Style"/>
              </a:rPr>
              <a:t>·  uploading an existing file.</a:t>
            </a:r>
          </a:p>
          <a:p>
            <a:pPr>
              <a:lnSpc>
                <a:spcPct val="140000"/>
              </a:lnSpc>
              <a:spcBef>
                <a:spcPts val="0"/>
              </a:spcBef>
              <a:spcAft>
                <a:spcPts val="500"/>
              </a:spcAft>
            </a:pPr>
            <a:r>
              <a:rPr sz="1450" b="0" i="0">
                <a:solidFill>
                  <a:srgbClr val="444444"/>
                </a:solidFill>
                <a:latin typeface="Iowan Old Style"/>
              </a:rPr>
              <a:t>·  Arrastra el contenido de tu carpeta, no la carpeta.</a:t>
            </a:r>
          </a:p>
          <a:p>
            <a:pPr>
              <a:lnSpc>
                <a:spcPct val="140000"/>
              </a:lnSpc>
              <a:spcBef>
                <a:spcPts val="0"/>
              </a:spcBef>
              <a:spcAft>
                <a:spcPts val="500"/>
              </a:spcAft>
            </a:pPr>
            <a:r>
              <a:rPr sz="1450" b="0" i="0">
                <a:solidFill>
                  <a:srgbClr val="444444"/>
                </a:solidFill>
                <a:latin typeface="Iowan Old Style"/>
              </a:rPr>
              <a:t>·  Commit changes.</a:t>
            </a:r>
          </a:p>
          <a:p>
            <a:pPr>
              <a:lnSpc>
                <a:spcPct val="140000"/>
              </a:lnSpc>
              <a:spcBef>
                <a:spcPts val="0"/>
              </a:spcBef>
              <a:spcAft>
                <a:spcPts val="500"/>
              </a:spcAft>
            </a:pPr>
            <a:r>
              <a:rPr sz="1450" b="0" i="0">
                <a:solidFill>
                  <a:srgbClr val="444444"/>
                </a:solidFill>
                <a:latin typeface="Iowan Old Style"/>
              </a:rPr>
              <a:t>·  Settings → Pages → Branch: main → Save.</a:t>
            </a:r>
          </a:p>
          <a:p>
            <a:pPr>
              <a:lnSpc>
                <a:spcPct val="125000"/>
              </a:lnSpc>
              <a:spcBef>
                <a:spcPts val="1000"/>
              </a:spcBef>
              <a:spcAft>
                <a:spcPts val="300"/>
              </a:spcAft>
            </a:pPr>
            <a:r>
              <a:rPr sz="1000" b="0" i="0" spc="300">
                <a:solidFill>
                  <a:srgbClr val="887000"/>
                </a:solidFill>
                <a:latin typeface="Menlo"/>
              </a:rPr>
              <a:t>POR QUÉ HOY Y NO EN LA SESIÓN 3</a:t>
            </a:r>
          </a:p>
          <a:p>
            <a:pPr>
              <a:lnSpc>
                <a:spcPct val="140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1" i="0">
                <a:solidFill>
                  <a:srgbClr val="0A0A0A"/>
                </a:solidFill>
                <a:latin typeface="Iowan Old Style"/>
              </a:rPr>
              <a:t>Porque si faltas a la última sesión, no te quedas sin web. Y tener algo público que enseñar hace que los deberes se hagan.</a:t>
            </a:r>
          </a:p>
          <a:p>
            <a:pPr>
              <a:lnSpc>
                <a:spcPct val="125000"/>
              </a:lnSpc>
              <a:spcBef>
                <a:spcPts val="1000"/>
              </a:spcBef>
              <a:spcAft>
                <a:spcPts val="300"/>
              </a:spcAft>
            </a:pPr>
            <a:r>
              <a:rPr sz="1000" b="0" i="0" spc="300">
                <a:solidFill>
                  <a:srgbClr val="8A8A8A"/>
                </a:solidFill>
                <a:latin typeface="Menlo"/>
              </a:rPr>
              <a:t>EL ERROR CLÁSICO</a:t>
            </a:r>
          </a:p>
          <a:p>
            <a:pPr>
              <a:lnSpc>
                <a:spcPct val="140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0" i="0">
                <a:solidFill>
                  <a:srgbClr val="444444"/>
                </a:solidFill>
                <a:latin typeface="Iowan Old Style"/>
              </a:rPr>
              <a:t>Si arrastras la carpeta entera queda mi-web/index.html y da 404. Al abrir el repositorio tienes que ver index.html en la primera pantalla.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1920240"/>
            <a:ext cx="10637215" cy="3108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2000"/>
              </a:spcAft>
            </a:pPr>
            <a:r>
              <a:rPr sz="1100" b="0" i="0" spc="300">
                <a:solidFill>
                  <a:srgbClr val="8A8A8A"/>
                </a:solidFill>
                <a:latin typeface="Menlo"/>
              </a:rPr>
              <a:t>02:50 · 10 MINUTOS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1800"/>
              </a:spcAft>
            </a:pPr>
            <a:r>
              <a:rPr sz="4000" b="0" i="0">
                <a:solidFill>
                  <a:srgbClr val="FFFFFF"/>
                </a:solidFill>
                <a:latin typeface="Inknut Antiqua"/>
              </a:rPr>
              <a:t>cierre y encargo</a:t>
            </a:r>
          </a:p>
          <a:p>
            <a:pPr>
              <a:lnSpc>
                <a:spcPct val="14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0" i="0">
                <a:solidFill>
                  <a:srgbClr val="BBBBBB"/>
                </a:solidFill>
                <a:latin typeface="Iowan Old Style"/>
              </a:rPr>
              <a:t>Cada una enseña su pantalla treinta segundos. Y os llevo deberes.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10896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950" b="0" i="0" spc="800">
                <a:solidFill>
                  <a:srgbClr val="8A8A8A"/>
                </a:solidFill>
                <a:latin typeface="Menlo"/>
              </a:rPr>
              <a:t>TEORÍA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7724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 spc="300">
                <a:solidFill>
                  <a:srgbClr val="8A8A8A"/>
                </a:solidFill>
                <a:latin typeface="Menlo"/>
              </a:rPr>
              <a:t>02:50   ·   LO QUE NO VAMOS A HACER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161288"/>
            <a:ext cx="10637215" cy="9525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17320"/>
            <a:ext cx="10637215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0" i="0">
                <a:solidFill>
                  <a:srgbClr val="0A0A0A"/>
                </a:solidFill>
                <a:latin typeface="Inknut Antiqua"/>
              </a:rPr>
              <a:t>lo que esto no hace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057400"/>
            <a:ext cx="10637215" cy="4251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44444"/>
                </a:solidFill>
                <a:latin typeface="Iowan Old Style"/>
              </a:rPr>
              <a:t>Lo que sí hace: existir para siempre, cargar rápido, no costar nada al mes y no depender de ninguna empresa.</a:t>
            </a:r>
          </a:p>
          <a:p>
            <a:pPr>
              <a:lnSpc>
                <a:spcPct val="135000"/>
              </a:lnSpc>
              <a:spcAft>
                <a:spcPts val="500"/>
              </a:spcAft>
            </a:pPr>
            <a:r>
              <a:rPr sz="1250">
                <a:solidFill>
                  <a:srgbClr val="0A0A0A"/>
                </a:solidFill>
                <a:latin typeface="Menlo"/>
              </a:rPr>
              <a:t>formulario de contacto    </a:t>
            </a:r>
            <a:r>
              <a:rPr sz="1350">
                <a:solidFill>
                  <a:srgbClr val="444444"/>
                </a:solidFill>
                <a:latin typeface="Iowan Old Style"/>
              </a:rPr>
              <a:t>Necesita un servidor. Pon tu correo con mailto: — es lo que hace casi todo el mundo y no se rompe nunca.</a:t>
            </a:r>
          </a:p>
          <a:p>
            <a:pPr>
              <a:lnSpc>
                <a:spcPct val="135000"/>
              </a:lnSpc>
              <a:spcAft>
                <a:spcPts val="500"/>
              </a:spcAft>
            </a:pPr>
            <a:r>
              <a:rPr sz="1250">
                <a:solidFill>
                  <a:srgbClr val="0A0A0A"/>
                </a:solidFill>
                <a:latin typeface="Menlo"/>
              </a:rPr>
              <a:t>tienda    </a:t>
            </a:r>
            <a:r>
              <a:rPr sz="1350">
                <a:solidFill>
                  <a:srgbClr val="444444"/>
                </a:solidFill>
                <a:latin typeface="Iowan Old Style"/>
              </a:rPr>
              <a:t>Pagos, stock y seguridad son otro proyecto. Enlaza a Bandcamp o Big Cartel.</a:t>
            </a:r>
          </a:p>
          <a:p>
            <a:pPr>
              <a:lnSpc>
                <a:spcPct val="135000"/>
              </a:lnSpc>
              <a:spcAft>
                <a:spcPts val="500"/>
              </a:spcAft>
            </a:pPr>
            <a:r>
              <a:rPr sz="1250">
                <a:solidFill>
                  <a:srgbClr val="0A0A0A"/>
                </a:solidFill>
                <a:latin typeface="Menlo"/>
              </a:rPr>
              <a:t>blog automático    </a:t>
            </a:r>
            <a:r>
              <a:rPr sz="1350">
                <a:solidFill>
                  <a:srgbClr val="444444"/>
                </a:solidFill>
                <a:latin typeface="Iowan Old Style"/>
              </a:rPr>
              <a:t>Cada entrada es un archivo que creas a mano. Para tres o cuatro al año, perfecto.</a:t>
            </a:r>
          </a:p>
          <a:p>
            <a:pPr>
              <a:lnSpc>
                <a:spcPct val="135000"/>
              </a:lnSpc>
              <a:spcAft>
                <a:spcPts val="500"/>
              </a:spcAft>
            </a:pPr>
            <a:r>
              <a:rPr sz="1250">
                <a:solidFill>
                  <a:srgbClr val="0A0A0A"/>
                </a:solidFill>
                <a:latin typeface="Menlo"/>
              </a:rPr>
              <a:t>comentarios    </a:t>
            </a:r>
            <a:r>
              <a:rPr sz="1350">
                <a:solidFill>
                  <a:srgbClr val="444444"/>
                </a:solidFill>
                <a:latin typeface="Iowan Old Style"/>
              </a:rPr>
              <a:t>Necesitan base de datos y moderación. No.</a:t>
            </a:r>
          </a:p>
          <a:p>
            <a:pPr>
              <a:lnSpc>
                <a:spcPct val="135000"/>
              </a:lnSpc>
              <a:spcAft>
                <a:spcPts val="500"/>
              </a:spcAft>
            </a:pPr>
            <a:r>
              <a:rPr sz="1250">
                <a:solidFill>
                  <a:srgbClr val="0A0A0A"/>
                </a:solidFill>
                <a:latin typeface="Menlo"/>
              </a:rPr>
              <a:t>reservas    </a:t>
            </a:r>
            <a:r>
              <a:rPr sz="1350">
                <a:solidFill>
                  <a:srgbClr val="444444"/>
                </a:solidFill>
                <a:latin typeface="Iowan Old Style"/>
              </a:rPr>
              <a:t>Enlaza a una herramienta externa.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B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E8DD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10896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950" b="0" i="0" spc="800">
                <a:solidFill>
                  <a:srgbClr val="8A7C14"/>
                </a:solidFill>
                <a:latin typeface="Menlo"/>
              </a:rPr>
              <a:t>PRÁCTICA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7724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 spc="300">
                <a:solidFill>
                  <a:srgbClr val="8A8A8A"/>
                </a:solidFill>
                <a:latin typeface="Menlo"/>
              </a:rPr>
              <a:t>EJERCICIO 3   ·   1 HORA · EN CASA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161288"/>
            <a:ext cx="10637215" cy="9525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417320"/>
            <a:ext cx="10637215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0" i="0">
                <a:solidFill>
                  <a:srgbClr val="0A0A0A"/>
                </a:solidFill>
                <a:latin typeface="Inknut Antiqua"/>
              </a:rPr>
              <a:t>deberes: reunir el material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057400"/>
            <a:ext cx="10637215" cy="4251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44444"/>
                </a:solidFill>
                <a:latin typeface="Iowan Old Style"/>
              </a:rPr>
              <a:t>No hay que programar nada. Es preparar el contenido, que es lo que más tarda y no se puede improvisar en clase. Sin esto, la sesión 2 no cunde.</a:t>
            </a:r>
          </a:p>
          <a:p>
            <a:pPr>
              <a:lnSpc>
                <a:spcPct val="140000"/>
              </a:lnSpc>
              <a:spcBef>
                <a:spcPts val="0"/>
              </a:spcBef>
              <a:spcAft>
                <a:spcPts val="500"/>
              </a:spcAft>
            </a:pPr>
            <a:r>
              <a:rPr sz="1450" b="0" i="0">
                <a:solidFill>
                  <a:srgbClr val="444444"/>
                </a:solidFill>
                <a:latin typeface="Iowan Old Style"/>
              </a:rPr>
              <a:t>☐  Tu bio, escrita y revisada.</a:t>
            </a:r>
          </a:p>
          <a:p>
            <a:pPr>
              <a:lnSpc>
                <a:spcPct val="140000"/>
              </a:lnSpc>
              <a:spcBef>
                <a:spcPts val="0"/>
              </a:spcBef>
              <a:spcAft>
                <a:spcPts val="500"/>
              </a:spcAft>
            </a:pPr>
            <a:r>
              <a:rPr sz="1450" b="0" i="0">
                <a:solidFill>
                  <a:srgbClr val="444444"/>
                </a:solidFill>
                <a:latin typeface="Iowan Old Style"/>
              </a:rPr>
              <a:t>☐  La ficha de cada proyecto: título, año, técnica, lugar, dos o tres líneas.</a:t>
            </a:r>
          </a:p>
          <a:p>
            <a:pPr>
              <a:lnSpc>
                <a:spcPct val="140000"/>
              </a:lnSpc>
              <a:spcBef>
                <a:spcPts val="0"/>
              </a:spcBef>
              <a:spcAft>
                <a:spcPts val="500"/>
              </a:spcAft>
            </a:pPr>
            <a:r>
              <a:rPr sz="1450" b="0" i="0">
                <a:solidFill>
                  <a:srgbClr val="444444"/>
                </a:solidFill>
                <a:latin typeface="Iowan Old Style"/>
              </a:rPr>
              <a:t>☐  Tu CV: exposiciones, formación, lo que quieras incluir.</a:t>
            </a:r>
          </a:p>
          <a:p>
            <a:pPr>
              <a:lnSpc>
                <a:spcPct val="140000"/>
              </a:lnSpc>
              <a:spcBef>
                <a:spcPts val="0"/>
              </a:spcBef>
              <a:spcAft>
                <a:spcPts val="500"/>
              </a:spcAft>
            </a:pPr>
            <a:r>
              <a:rPr sz="1450" b="0" i="0">
                <a:solidFill>
                  <a:srgbClr val="444444"/>
                </a:solidFill>
                <a:latin typeface="Iowan Old Style"/>
              </a:rPr>
              <a:t>☐  Dos o tres webs que te gusten. Apunta qué te gusta de cada una.</a:t>
            </a:r>
          </a:p>
          <a:p>
            <a:pPr>
              <a:lnSpc>
                <a:spcPct val="140000"/>
              </a:lnSpc>
              <a:spcBef>
                <a:spcPts val="0"/>
              </a:spcBef>
              <a:spcAft>
                <a:spcPts val="500"/>
              </a:spcAft>
            </a:pPr>
            <a:r>
              <a:rPr sz="1450" b="0" i="0">
                <a:solidFill>
                  <a:srgbClr val="444444"/>
                </a:solidFill>
                <a:latin typeface="Iowan Old Style"/>
              </a:rPr>
              <a:t>☐  Entre 5 y 10, en una carpeta.</a:t>
            </a:r>
          </a:p>
          <a:p>
            <a:pPr>
              <a:lnSpc>
                <a:spcPct val="140000"/>
              </a:lnSpc>
              <a:spcBef>
                <a:spcPts val="0"/>
              </a:spcBef>
              <a:spcAft>
                <a:spcPts val="500"/>
              </a:spcAft>
            </a:pPr>
            <a:r>
              <a:rPr sz="1450" b="0" i="0">
                <a:solidFill>
                  <a:srgbClr val="444444"/>
                </a:solidFill>
                <a:latin typeface="Iowan Old Style"/>
              </a:rPr>
              <a:t>☐  Reducidas a 1600 píxeles de ancho, con Vista Previa, Paint o squoosh.app.</a:t>
            </a:r>
          </a:p>
          <a:p>
            <a:pPr>
              <a:lnSpc>
                <a:spcPct val="140000"/>
              </a:lnSpc>
              <a:spcBef>
                <a:spcPts val="0"/>
              </a:spcBef>
              <a:spcAft>
                <a:spcPts val="500"/>
              </a:spcAft>
            </a:pPr>
            <a:r>
              <a:rPr sz="1450" b="0" i="0">
                <a:solidFill>
                  <a:srgbClr val="444444"/>
                </a:solidFill>
                <a:latin typeface="Iowan Old Style"/>
              </a:rPr>
              <a:t>☐  Sin espacios, sin acentos, en minúsculas: obra-2024.jpg, no Obra 2024.JPG.</a:t>
            </a:r>
          </a:p>
          <a:p>
            <a:pPr>
              <a:lnSpc>
                <a:spcPct val="125000"/>
              </a:lnSpc>
              <a:spcBef>
                <a:spcPts val="1000"/>
              </a:spcBef>
              <a:spcAft>
                <a:spcPts val="300"/>
              </a:spcAft>
            </a:pPr>
            <a:r>
              <a:rPr sz="1000" b="0" i="0" spc="300">
                <a:solidFill>
                  <a:srgbClr val="8A8A8A"/>
                </a:solidFill>
                <a:latin typeface="Menlo"/>
              </a:rPr>
              <a:t>OJO CON EL PESO</a:t>
            </a:r>
          </a:p>
          <a:p>
            <a:pPr>
              <a:lnSpc>
                <a:spcPct val="140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0" i="0">
                <a:solidFill>
                  <a:srgbClr val="444444"/>
                </a:solidFill>
                <a:latin typeface="Iowan Old Style"/>
              </a:rPr>
              <a:t>Una foto de cámara pesa 8 MB y tarda una eternidad. Reducida son 300 KB y se ve igual en pantalla.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1920240"/>
            <a:ext cx="10637215" cy="3108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1400"/>
              </a:spcAft>
            </a:pPr>
            <a:r>
              <a:rPr sz="1200" b="0" i="0" spc="600">
                <a:solidFill>
                  <a:srgbClr val="8A8A8A"/>
                </a:solidFill>
                <a:latin typeface="Menlo"/>
              </a:rPr>
              <a:t>PARA LLEVARSE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1800"/>
              </a:spcAft>
            </a:pPr>
            <a:r>
              <a:rPr sz="4000" b="0" i="0">
                <a:solidFill>
                  <a:srgbClr val="FFFFFF"/>
                </a:solidFill>
                <a:latin typeface="Inknut Antiqua"/>
              </a:rPr>
              <a:t>chuleta de html</a:t>
            </a:r>
          </a:p>
          <a:p>
            <a:pPr>
              <a:lnSpc>
                <a:spcPct val="14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0" i="0">
                <a:solidFill>
                  <a:srgbClr val="BBBBBB"/>
                </a:solidFill>
                <a:latin typeface="Iowan Old Style"/>
              </a:rPr>
              <a:t>Todo lo de hoy en una hoja. Para dentro de tres meses, cuando estés sola delante del ordenador.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10896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950" b="0" i="0" spc="800">
                <a:solidFill>
                  <a:srgbClr val="8A8A8A"/>
                </a:solidFill>
                <a:latin typeface="Menlo"/>
              </a:rPr>
              <a:t>TEORÍA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77240"/>
            <a:ext cx="10637215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0" i="0">
                <a:solidFill>
                  <a:srgbClr val="0A0A0A"/>
                </a:solidFill>
                <a:latin typeface="Inknut Antiqua"/>
              </a:rPr>
              <a:t>chuleta · html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417320"/>
            <a:ext cx="10637215" cy="4892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0000"/>
              </a:lnSpc>
              <a:spcBef>
                <a:spcPts val="0"/>
              </a:spcBef>
              <a:spcAft>
                <a:spcPts val="500"/>
              </a:spcAft>
            </a:pPr>
            <a:r>
              <a:rPr sz="1450" b="0" i="0">
                <a:solidFill>
                  <a:srgbClr val="444444"/>
                </a:solidFill>
                <a:latin typeface="Iowan Old Style"/>
              </a:rPr>
              <a:t>·  ¿Has guardado el archivo?</a:t>
            </a:r>
          </a:p>
          <a:p>
            <a:pPr>
              <a:lnSpc>
                <a:spcPct val="140000"/>
              </a:lnSpc>
              <a:spcBef>
                <a:spcPts val="0"/>
              </a:spcBef>
              <a:spcAft>
                <a:spcPts val="500"/>
              </a:spcAft>
            </a:pPr>
            <a:r>
              <a:rPr sz="1450" b="0" i="0">
                <a:solidFill>
                  <a:srgbClr val="444444"/>
                </a:solidFill>
                <a:latin typeface="Iowan Old Style"/>
              </a:rPr>
              <a:t>·  ¿Has recargado? Forzada: Cmd+Shift+R o Ctrl+F5.</a:t>
            </a:r>
          </a:p>
          <a:p>
            <a:pPr>
              <a:lnSpc>
                <a:spcPct val="140000"/>
              </a:lnSpc>
              <a:spcBef>
                <a:spcPts val="0"/>
              </a:spcBef>
              <a:spcAft>
                <a:spcPts val="500"/>
              </a:spcAft>
            </a:pPr>
            <a:r>
              <a:rPr sz="1450" b="0" i="0">
                <a:solidFill>
                  <a:srgbClr val="444444"/>
                </a:solidFill>
                <a:latin typeface="Iowan Old Style"/>
              </a:rPr>
              <a:t>·  ¿Falta cerrar una etiqueta o una comilla? VS Code lo marca en color.</a:t>
            </a:r>
          </a:p>
          <a:p>
            <a:pPr>
              <a:lnSpc>
                <a:spcPct val="140000"/>
              </a:lnSpc>
              <a:spcBef>
                <a:spcPts val="0"/>
              </a:spcBef>
              <a:spcAft>
                <a:spcPts val="500"/>
              </a:spcAft>
            </a:pPr>
            <a:r>
              <a:rPr sz="1450" b="0" i="0">
                <a:solidFill>
                  <a:srgbClr val="444444"/>
                </a:solidFill>
                <a:latin typeface="Iowan Old Style"/>
              </a:rPr>
              <a:t>·  ¿Una imagen no sale? El nombre y el src tienen que coincidir exactamente.</a:t>
            </a:r>
          </a:p>
          <a:p>
            <a:pPr>
              <a:lnSpc>
                <a:spcPct val="135000"/>
              </a:lnSpc>
              <a:spcAft>
                <a:spcPts val="500"/>
              </a:spcAft>
            </a:pPr>
            <a:r>
              <a:rPr sz="1250">
                <a:solidFill>
                  <a:srgbClr val="0A0A0A"/>
                </a:solidFill>
                <a:latin typeface="Menlo"/>
              </a:rPr>
              <a:t>&lt;head&gt;    </a:t>
            </a:r>
            <a:r>
              <a:rPr sz="1350">
                <a:solidFill>
                  <a:srgbClr val="444444"/>
                </a:solidFill>
                <a:latin typeface="Iowan Old Style"/>
              </a:rPr>
              <a:t>Lo que no se ve: título de la pestaña, enlace al CSS.</a:t>
            </a:r>
          </a:p>
          <a:p>
            <a:pPr>
              <a:lnSpc>
                <a:spcPct val="135000"/>
              </a:lnSpc>
              <a:spcAft>
                <a:spcPts val="500"/>
              </a:spcAft>
            </a:pPr>
            <a:r>
              <a:rPr sz="1250">
                <a:solidFill>
                  <a:srgbClr val="0A0A0A"/>
                </a:solidFill>
                <a:latin typeface="Menlo"/>
              </a:rPr>
              <a:t>&lt;body&gt;    </a:t>
            </a:r>
            <a:r>
              <a:rPr sz="1350">
                <a:solidFill>
                  <a:srgbClr val="444444"/>
                </a:solidFill>
                <a:latin typeface="Iowan Old Style"/>
              </a:rPr>
              <a:t>Lo que sí se ve.</a:t>
            </a:r>
          </a:p>
          <a:p>
            <a:pPr>
              <a:lnSpc>
                <a:spcPct val="135000"/>
              </a:lnSpc>
              <a:spcAft>
                <a:spcPts val="500"/>
              </a:spcAft>
            </a:pPr>
            <a:r>
              <a:rPr sz="1250">
                <a:solidFill>
                  <a:srgbClr val="0A0A0A"/>
                </a:solidFill>
                <a:latin typeface="Menlo"/>
              </a:rPr>
              <a:t>&lt;header&gt;    </a:t>
            </a:r>
            <a:r>
              <a:rPr sz="1350">
                <a:solidFill>
                  <a:srgbClr val="444444"/>
                </a:solidFill>
                <a:latin typeface="Iowan Old Style"/>
              </a:rPr>
              <a:t>Cabecera: tu nombre y el menú.</a:t>
            </a:r>
          </a:p>
          <a:p>
            <a:pPr>
              <a:lnSpc>
                <a:spcPct val="135000"/>
              </a:lnSpc>
              <a:spcAft>
                <a:spcPts val="500"/>
              </a:spcAft>
            </a:pPr>
            <a:r>
              <a:rPr sz="1250">
                <a:solidFill>
                  <a:srgbClr val="0A0A0A"/>
                </a:solidFill>
                <a:latin typeface="Menlo"/>
              </a:rPr>
              <a:t>&lt;main&gt;    </a:t>
            </a:r>
            <a:r>
              <a:rPr sz="1350">
                <a:solidFill>
                  <a:srgbClr val="444444"/>
                </a:solidFill>
                <a:latin typeface="Iowan Old Style"/>
              </a:rPr>
              <a:t>El contenido propio de cada página.</a:t>
            </a:r>
          </a:p>
          <a:p>
            <a:pPr>
              <a:lnSpc>
                <a:spcPct val="135000"/>
              </a:lnSpc>
              <a:spcAft>
                <a:spcPts val="500"/>
              </a:spcAft>
            </a:pPr>
            <a:r>
              <a:rPr sz="1250">
                <a:solidFill>
                  <a:srgbClr val="0A0A0A"/>
                </a:solidFill>
                <a:latin typeface="Menlo"/>
              </a:rPr>
              <a:t>&lt;footer&gt;    </a:t>
            </a:r>
            <a:r>
              <a:rPr sz="1350">
                <a:solidFill>
                  <a:srgbClr val="444444"/>
                </a:solidFill>
                <a:latin typeface="Iowan Old Style"/>
              </a:rPr>
              <a:t>Pie: contacto, créditos.</a:t>
            </a:r>
          </a:p>
          <a:p>
            <a:pPr>
              <a:lnSpc>
                <a:spcPct val="135000"/>
              </a:lnSpc>
              <a:spcAft>
                <a:spcPts val="500"/>
              </a:spcAft>
            </a:pPr>
            <a:r>
              <a:rPr sz="1250">
                <a:solidFill>
                  <a:srgbClr val="0A0A0A"/>
                </a:solidFill>
                <a:latin typeface="Menlo"/>
              </a:rPr>
              <a:t>&lt;article&gt;    </a:t>
            </a:r>
            <a:r>
              <a:rPr sz="1350">
                <a:solidFill>
                  <a:srgbClr val="444444"/>
                </a:solidFill>
                <a:latin typeface="Iowan Old Style"/>
              </a:rPr>
              <a:t>Una unidad suelta: un proyecto, una obra.</a:t>
            </a:r>
          </a:p>
          <a:p>
            <a:pPr>
              <a:lnSpc>
                <a:spcPct val="135000"/>
              </a:lnSpc>
              <a:spcAft>
                <a:spcPts val="500"/>
              </a:spcAft>
            </a:pPr>
            <a:r>
              <a:rPr sz="1250">
                <a:solidFill>
                  <a:srgbClr val="0A0A0A"/>
                </a:solidFill>
                <a:latin typeface="Menlo"/>
              </a:rPr>
              <a:t>&lt;a href="cv.html"&gt;    </a:t>
            </a:r>
            <a:r>
              <a:rPr sz="1350">
                <a:solidFill>
                  <a:srgbClr val="444444"/>
                </a:solidFill>
                <a:latin typeface="Iowan Old Style"/>
              </a:rPr>
              <a:t>Enlace a otra página tuya.</a:t>
            </a:r>
          </a:p>
          <a:p>
            <a:pPr>
              <a:lnSpc>
                <a:spcPct val="135000"/>
              </a:lnSpc>
              <a:spcAft>
                <a:spcPts val="500"/>
              </a:spcAft>
            </a:pPr>
            <a:r>
              <a:rPr sz="1250">
                <a:solidFill>
                  <a:srgbClr val="0A0A0A"/>
                </a:solidFill>
                <a:latin typeface="Menlo"/>
              </a:rPr>
              <a:t>&lt;a href="https://…"&gt;    </a:t>
            </a:r>
            <a:r>
              <a:rPr sz="1350">
                <a:solidFill>
                  <a:srgbClr val="444444"/>
                </a:solidFill>
                <a:latin typeface="Iowan Old Style"/>
              </a:rPr>
              <a:t>A otra web. Necesita el https://.</a:t>
            </a:r>
          </a:p>
          <a:p>
            <a:pPr>
              <a:lnSpc>
                <a:spcPct val="135000"/>
              </a:lnSpc>
              <a:spcAft>
                <a:spcPts val="500"/>
              </a:spcAft>
            </a:pPr>
            <a:r>
              <a:rPr sz="1250">
                <a:solidFill>
                  <a:srgbClr val="0A0A0A"/>
                </a:solidFill>
                <a:latin typeface="Menlo"/>
              </a:rPr>
              <a:t>&lt;a href="mailto:…"&gt;    </a:t>
            </a:r>
            <a:r>
              <a:rPr sz="1350">
                <a:solidFill>
                  <a:srgbClr val="444444"/>
                </a:solidFill>
                <a:latin typeface="Iowan Old Style"/>
              </a:rPr>
              <a:t>Abre el programa de correo.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10896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950" b="0" i="0" spc="800">
                <a:solidFill>
                  <a:srgbClr val="8A8A8A"/>
                </a:solidFill>
                <a:latin typeface="Menlo"/>
              </a:rPr>
              <a:t>TEORÍA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7724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 spc="300">
                <a:solidFill>
                  <a:srgbClr val="8A8A8A"/>
                </a:solidFill>
                <a:latin typeface="Menlo"/>
              </a:rPr>
              <a:t>MUESTRARIO   ·   PARA MIRAR POR DENTRO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161288"/>
            <a:ext cx="10637215" cy="9525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17320"/>
            <a:ext cx="10637215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0" i="0">
                <a:solidFill>
                  <a:srgbClr val="0A0A0A"/>
                </a:solidFill>
                <a:latin typeface="Inknut Antiqua"/>
              </a:rPr>
              <a:t>hecho solo con html y un poco de css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057400"/>
            <a:ext cx="10637215" cy="4251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44444"/>
                </a:solidFill>
                <a:latin typeface="Iowan Old Style"/>
              </a:rPr>
              <a:t>Cada una es un único archivo, muy comentado. Ábrelas, mira el código con botón derecho → Ver código fuente, y róbalo.</a:t>
            </a:r>
          </a:p>
          <a:p>
            <a:pPr>
              <a:lnSpc>
                <a:spcPct val="132000"/>
              </a:lnSpc>
              <a:spcAft>
                <a:spcPts val="600"/>
              </a:spcAft>
            </a:pPr>
            <a:r>
              <a:rPr sz="1300">
                <a:solidFill>
                  <a:srgbClr val="0A0A0A"/>
                </a:solidFill>
                <a:latin typeface="Inknut Antiqua"/>
                <a:hlinkClick r:id="rId2"/>
              </a:rPr>
              <a:t>→ la web que se explica   </a:t>
            </a:r>
            <a:r>
              <a:rPr sz="1250">
                <a:solidFill>
                  <a:srgbClr val="8A8A8A"/>
                </a:solidFill>
                <a:latin typeface="Iowan Old Style"/>
              </a:rPr>
              <a:t>Pasa el ratón y cada elemento te dice qué es.</a:t>
            </a:r>
          </a:p>
          <a:p>
            <a:pPr>
              <a:lnSpc>
                <a:spcPct val="132000"/>
              </a:lnSpc>
              <a:spcAft>
                <a:spcPts val="600"/>
              </a:spcAft>
            </a:pPr>
            <a:r>
              <a:rPr sz="1300">
                <a:solidFill>
                  <a:srgbClr val="0A0A0A"/>
                </a:solidFill>
                <a:latin typeface="Inknut Antiqua"/>
                <a:hlinkClick r:id="rId3"/>
              </a:rPr>
              <a:t>→ cadáver exquisito   </a:t>
            </a:r>
            <a:r>
              <a:rPr sz="1250">
                <a:solidFill>
                  <a:srgbClr val="8A8A8A"/>
                </a:solidFill>
                <a:latin typeface="Iowan Old Style"/>
              </a:rPr>
              <a:t>Generador de frases al azar: listas y un botón mínimo.</a:t>
            </a:r>
          </a:p>
          <a:p>
            <a:pPr>
              <a:lnSpc>
                <a:spcPct val="132000"/>
              </a:lnSpc>
              <a:spcAft>
                <a:spcPts val="600"/>
              </a:spcAft>
            </a:pPr>
            <a:r>
              <a:rPr sz="1300">
                <a:solidFill>
                  <a:srgbClr val="0A0A0A"/>
                </a:solidFill>
                <a:latin typeface="Inknut Antiqua"/>
                <a:hlinkClick r:id="rId4"/>
              </a:rPr>
              <a:t>→ archivador de textos   </a:t>
            </a:r>
            <a:r>
              <a:rPr sz="1250">
                <a:solidFill>
                  <a:srgbClr val="8A8A8A"/>
                </a:solidFill>
                <a:latin typeface="Iowan Old Style"/>
              </a:rPr>
              <a:t>Fichas giradas con filtros por etiqueta.</a:t>
            </a:r>
          </a:p>
          <a:p>
            <a:pPr>
              <a:lnSpc>
                <a:spcPct val="132000"/>
              </a:lnSpc>
              <a:spcAft>
                <a:spcPts val="600"/>
              </a:spcAft>
            </a:pPr>
            <a:r>
              <a:rPr sz="1300">
                <a:solidFill>
                  <a:srgbClr val="0A0A0A"/>
                </a:solidFill>
                <a:latin typeface="Inknut Antiqua"/>
                <a:hlinkClick r:id="rId5"/>
              </a:rPr>
              <a:t>→ ver las 26   </a:t>
            </a:r>
            <a:r>
              <a:rPr sz="1250">
                <a:solidFill>
                  <a:srgbClr val="8A8A8A"/>
                </a:solidFill>
                <a:latin typeface="Iowan Old Style"/>
              </a:rPr>
              <a:t>El muestrario entero, ordenado por tipo.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10896"/>
            <a:ext cx="10637215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950" b="0" i="0" spc="800">
                <a:solidFill>
                  <a:srgbClr val="8A8A8A"/>
                </a:solidFill>
                <a:latin typeface="Menlo"/>
              </a:rPr>
              <a:t>TEORÍA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77240"/>
            <a:ext cx="10637215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0" i="0">
                <a:solidFill>
                  <a:srgbClr val="0A0A0A"/>
                </a:solidFill>
                <a:latin typeface="Inknut Antiqua"/>
              </a:rPr>
              <a:t>lo que te llevas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417320"/>
            <a:ext cx="10637215" cy="4892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0000"/>
              </a:lnSpc>
              <a:spcBef>
                <a:spcPts val="0"/>
              </a:spcBef>
              <a:spcAft>
                <a:spcPts val="500"/>
              </a:spcAft>
            </a:pPr>
            <a:r>
              <a:rPr sz="1450" b="0" i="0">
                <a:solidFill>
                  <a:srgbClr val="444444"/>
                </a:solidFill>
                <a:latin typeface="Iowan Old Style"/>
              </a:rPr>
              <a:t>☐  Dos páginas tuyas, con tu contenido, enlazadas entre sí.</a:t>
            </a:r>
          </a:p>
          <a:p>
            <a:pPr>
              <a:lnSpc>
                <a:spcPct val="140000"/>
              </a:lnSpc>
              <a:spcBef>
                <a:spcPts val="0"/>
              </a:spcBef>
              <a:spcAft>
                <a:spcPts val="500"/>
              </a:spcAft>
            </a:pPr>
            <a:r>
              <a:rPr sz="1450" b="0" i="0">
                <a:solidFill>
                  <a:srgbClr val="444444"/>
                </a:solidFill>
                <a:latin typeface="Iowan Old Style"/>
              </a:rPr>
              <a:t>☐  Una web publicada con dirección propia en internet.</a:t>
            </a:r>
          </a:p>
          <a:p>
            <a:pPr>
              <a:lnSpc>
                <a:spcPct val="140000"/>
              </a:lnSpc>
              <a:spcBef>
                <a:spcPts val="0"/>
              </a:spcBef>
              <a:spcAft>
                <a:spcPts val="500"/>
              </a:spcAft>
            </a:pPr>
            <a:r>
              <a:rPr sz="1450" b="0" i="0">
                <a:solidFill>
                  <a:srgbClr val="444444"/>
                </a:solidFill>
                <a:latin typeface="Iowan Old Style"/>
              </a:rPr>
              <a:t>☐  La certeza de que esto son archivos de texto en una carpeta.</a:t>
            </a:r>
          </a:p>
          <a:p>
            <a:pPr>
              <a:lnSpc>
                <a:spcPct val="140000"/>
              </a:lnSpc>
              <a:spcBef>
                <a:spcPts val="0"/>
              </a:spcBef>
              <a:spcAft>
                <a:spcPts val="500"/>
              </a:spcAft>
            </a:pPr>
            <a:r>
              <a:rPr sz="1450" b="0" i="0">
                <a:solidFill>
                  <a:srgbClr val="444444"/>
                </a:solidFill>
                <a:latin typeface="Iowan Old Style"/>
              </a:rPr>
              <a:t>☐  Los deberes del ejercicio 3, que son los que hacen que la próxima sesión cunda.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Sesión 1 · HTML</dc:title>
  <dc:subject/>
  <dc:creator>meowrhino.studio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