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owrhino.github.io/tallerEscocesa/muestrario/01-web-que-se-explica.html" TargetMode="External"/><Relationship Id="rId3" Type="http://schemas.openxmlformats.org/officeDocument/2006/relationships/hyperlink" Target="https://meowrhino.github.io/tallerEscocesa/muestrario/04-cadaver-exquisito.html" TargetMode="External"/><Relationship Id="rId4" Type="http://schemas.openxmlformats.org/officeDocument/2006/relationships/hyperlink" Target="https://meowrhino.github.io/tallerEscocesa/muestrario/03-archivador-textos.html" TargetMode="External"/><Relationship Id="rId5" Type="http://schemas.openxmlformats.org/officeDocument/2006/relationships/hyperlink" Target="https://meowrhino.github.io/tallerEscocesa/muestrario/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2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SESIÓN 1 DE 3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Inknut Antiqua"/>
              </a:rPr>
              <a:t>html: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Inknut Antiqua"/>
              </a:rPr>
              <a:t>lo que dice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Inknut Antiqua"/>
              </a:rPr>
              <a:t>qué es cada cosa</a:t>
            </a:r>
          </a:p>
          <a:p>
            <a:pPr>
              <a:lnSpc>
                <a:spcPct val="140000"/>
              </a:lnSpc>
              <a:spcBef>
                <a:spcPts val="260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Tres horas. Al final de hoy tienes dos páginas tuyas, enlazadas, con tu contenido de verdad — y publicadas en internet.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200">
                <a:solidFill>
                  <a:srgbClr val="8A8A8A"/>
                </a:solidFill>
                <a:latin typeface="Menlo"/>
              </a:rPr>
              <a:t>taller de web autogestionada · la escocesa · meowrhino.studio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EL PLAN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00:00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webs hechas a mano</a:t>
            </a:r>
            <a:r>
              <a:rPr sz="1100">
                <a:solidFill>
                  <a:srgbClr val="8A8A8A"/>
                </a:solidFill>
                <a:latin typeface="Menlo"/>
              </a:rPr>
              <a:t>     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00:10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qué es el html</a:t>
            </a:r>
            <a:r>
              <a:rPr sz="1100">
                <a:solidFill>
                  <a:srgbClr val="8A8A8A"/>
                </a:solidFill>
                <a:latin typeface="Menlo"/>
              </a:rPr>
              <a:t>     10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00:20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cómo es una web por dentro</a:t>
            </a:r>
            <a:r>
              <a:rPr sz="1100">
                <a:solidFill>
                  <a:srgbClr val="8A8A8A"/>
                </a:solidFill>
                <a:latin typeface="Menlo"/>
              </a:rPr>
              <a:t>     20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71216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80944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00:40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escribir html</a:t>
            </a:r>
            <a:r>
              <a:rPr sz="1100">
                <a:solidFill>
                  <a:srgbClr val="8A8A8A"/>
                </a:solidFill>
                <a:latin typeface="Menlo"/>
              </a:rPr>
              <a:t>     50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46704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01:30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pausa</a:t>
            </a:r>
            <a:r>
              <a:rPr sz="1100">
                <a:solidFill>
                  <a:srgbClr val="8A8A8A"/>
                </a:solidFill>
                <a:latin typeface="Menlo"/>
              </a:rPr>
              <a:t>     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221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01:45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tu segunda página</a:t>
            </a:r>
            <a:r>
              <a:rPr sz="1100">
                <a:solidFill>
                  <a:srgbClr val="8A8A8A"/>
                </a:solidFill>
                <a:latin typeface="Menlo"/>
              </a:rPr>
              <a:t>     45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97680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07408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02:30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publicarla ya</a:t>
            </a:r>
            <a:r>
              <a:rPr sz="1100">
                <a:solidFill>
                  <a:srgbClr val="8A8A8A"/>
                </a:solidFill>
                <a:latin typeface="Menlo"/>
              </a:rPr>
              <a:t>     10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7316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8289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8A8A8A"/>
                </a:solidFill>
                <a:latin typeface="Menlo"/>
              </a:rPr>
              <a:t>02:40     </a:t>
            </a:r>
            <a:r>
              <a:rPr sz="1700">
                <a:solidFill>
                  <a:srgbClr val="0A0A0A"/>
                </a:solidFill>
                <a:latin typeface="Iowan Old Style"/>
              </a:rPr>
              <a:t>cierre y encargo</a:t>
            </a:r>
            <a:r>
              <a:rPr sz="1100">
                <a:solidFill>
                  <a:srgbClr val="8A8A8A"/>
                </a:solidFill>
                <a:latin typeface="Menlo"/>
              </a:rPr>
              <a:t>     20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48656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00:00 · 10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webs hechas a mano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Miramos webs de artistas por dentro, con el inspector abierto. Y nos presentamos.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una web es una carpeta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No hay nada más. Ni servidores misteriosos, ni una empresa detrás, ni una suscripción. Archivos de texto dentro de una carpeta.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En cualquier web que te guste: botón derecho → Inspeccionar. Eso que sale es todo lo que hay.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Si mueves la carpeta entera, la web sigue funcionando. Si sacas un archivo de dentro, se rompe.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una web es una carpeta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269748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2295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mi-web/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├── index.html      ← la portada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├── proyectos.html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├── cv.html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├── estilo.css      ← el aspecto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└── img/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  ├── obra-1.jpg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  └── retrato.jpg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00:10 · 10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qué es el html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Antes de escribir una sola etiqueta: qué es esto y qué hace exactamente.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00:10   ·   EL CONCEPTO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html no dibuja: estructura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HTML son las siglas de HyperText Markup Language. Lo importante es la palabra del medio: markup, marcado. No es un lenguaje de programación — no calcula, no decide, no tiene memoria.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Lo único que hace es marcar un texto diciendo qué es cada parte: esto es un título, esto un párrafo, esto una imagen, esto un enlace.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El navegador no sabe qué es cada línea. Lo pinta todo seguido, igual.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Ahora sí. Y con esa información ya puede jerarquizarlo, y un lector de pantalla puede leerlo en voz alta con sentido.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87000"/>
                </a:solidFill>
                <a:latin typeface="Menlo"/>
              </a:rPr>
              <a:t>LA FRASE DE HOY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A0A0A"/>
                </a:solidFill>
                <a:latin typeface="Iowan Old Style"/>
              </a:rPr>
              <a:t>El HTML dice qué es cada cosa. El CSS dice cómo se ve. Hoy solo hacemos lo primero. Va a quedar feo, y está bien que quede feo: el aspecto es la sesión que viene.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html no dibuja: estructura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160020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Rita Mestre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Trabajo con cerámica y sonido.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Cámaras sordas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2026 · Gres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html no dibuja: estructura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160020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&lt;h1&gt;Rita Mestre&lt;/h1&gt;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&lt;p&gt;Trabajo con cerámica y sonido.&lt;/p&gt;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&lt;h3&gt;Cámaras sordas&lt;/h3&gt;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&lt;p&gt;2026 · Gres&lt;/p&gt;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00:10   ·   POR QUÉ IMPORTA SEPARAR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por qué se separan las dos cosas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Porque el contenido dura y el aspecto cambia. Dentro de cinco años querrás otra tipografía, otros colores, otra distribución — pero tu bio y tus proyectos van a ser los mismos.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Si están separados, rediseñas la web entera tocando un solo archivo y sin abrir el contenido. Lo verás en la sesión 2: el mismo HTML, cuatro webs distintas.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Y porque hay lectores que no son ojos: buscadores, lectores de pantalla, el modo lectura del móvil. Todos leen la estructura, no el aspecto.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Un &lt;h1&gt; escrito como &lt;h1&gt; es un título para todo el mundo. Un texto puesto grande a mano solo es un título para quien lo 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00:20 · 20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cómo es una web por dentro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La carpeta, los nombres de archivo, las rutas, y el entorno de trabajo.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tres cosas que hay que creerse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La carpeta es la web. Si la mueves entera, sigue funcionando. Si sacas un archivo de dentro, se rompe.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index.html es la portada. Ese nombre exacto: es el que busca el servidor por defecto cuando alguien entra sin pedir ninguna página concreta.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img/obra.jpg significa «dentro de mi carpeta». Una imagen que esté en tu escritorio se ve en tu ordenador y en ningún otro sitio del mundo.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NOMBRES DE ARCHIVO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444444"/>
                </a:solidFill>
                <a:latin typeface="Iowan Old Style"/>
              </a:rPr>
              <a:t>Sin espacios, sin acentos, sin ñ, sin mayúsculas. Foto Taller.JPG falla al publicar; foto-taller.jpg no. Y ojo: para un servidor, .jpg y .JPG son archivos distintos. En tu Mac funciona igual y al publicar deja de funcionar. Es el fallo número uno del taller.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00:20   ·   EL ENTORNO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abrir la carpeta, no el archivo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Archivo → Abrir carpeta, y eliges la carpeta entera. Nunca un archivo suelto.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Así ves toda tu web en la columna de la izquierda y puedes saltar entre archivos.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Doble clic en index.html. Fíjate en que arriba no pone https:// sino una ruta de tu ordenador: todavía es una web privada, solo tuya.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Coloca las dos ventanas lado a lado. Este bucle es el 90% del trabajo, hoy y siempre.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abrir la carpeta, no el archivo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77724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VS Code   →   guardas   →   Navegador   →   recargas   →   ves el cambio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00:40 · 50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escribir html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Etiquetas, títulos, párrafos, enlaces e imágenes. Y cada una escribe su portada de verdad.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las etiquetas van en pareja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Lo que escribes entre medias es lo que se ve. Y lo que anides dentro, se cierra dentro: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las etiquetas van en pareja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105156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&lt;p&gt;Esto es un párrafo.&lt;/p&gt;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↑ abre                ↑ cierra (lleva barra)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las etiquetas van en pareja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160020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&lt;article&gt;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&lt;h3&gt;Cámaras sordas&lt;/h3&gt;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&lt;p&gt;2026 · Gres y grabaciones de campo&lt;/p&gt;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&lt;/article&gt;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   ·   EL ESQUELETO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la estructura de una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head es lo que no se ve. body es lo que sí.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la estructura de una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434340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3941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&lt;!DOCTYPE html&gt;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&lt;html lang="es"&gt;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&lt;head&gt;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  &lt;meta charset="UTF-8"&gt;                          acentos y ñ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  &lt;meta name="viewport" content="width=device-width, initial-scale=1"&gt;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  &lt;title&gt;Rita Mestre&lt;/title&gt;                     la pestaña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  &lt;link rel="stylesheet" href="estilo.css"&gt;      el aspecto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&lt;/head&gt;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&lt;body&gt;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  &lt;header&gt; tu nombre y el menú &lt;/header&gt;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  &lt;main&gt;   el contenido propio de esta página &lt;/main&gt;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  &lt;footer&gt; contacto, créditos &lt;/footer&gt;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&lt;/body&gt;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0A0A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títulos y párrafos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UN SOLO H1 POR PÁGINA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444444"/>
                </a:solidFill>
                <a:latin typeface="Iowan Old Style"/>
              </a:rPr>
              <a:t>h1 a h6 es jerarquía, no tamaño. El tamaño se decide luego, en el CSS. No uses un h4 porque quieras letra pequeña: usa el nivel que le toca y ya lo harás pequeño después.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títulos y párrafos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2148839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1746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&lt;h1&gt;Rita Mestre&lt;/h1&gt;          el título principal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&lt;h2&gt;Proyectos&lt;/h2&gt;            un apartado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&lt;h3&gt;Cámaras sordas&lt;/h3&gt;       algo dentro del apartado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&lt;p&gt;Un párrafo.&lt;/p&gt;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&lt;p&gt;Otro párrafo, con otra idea.&lt;/p&gt;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enlaces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href es a dónde va. Lo que escribes entre las etiquetas es lo que se ve y se puede clicar.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PARA UNA WEB DE FUERA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444444"/>
                </a:solidFill>
                <a:latin typeface="Iowan Old Style"/>
              </a:rPr>
              <a:t>Hace falta el https:// delante. Sin eso el navegador lo busca dentro de tu carpeta y da 404.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enlaces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132588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&lt;a href="cv.html"&gt;CV&lt;/a&gt;                      a otra página tuya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&lt;a href="https://neocities.org"&gt;Neocities&lt;/a&gt;  a otra web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&lt;a href="mailto:rita@ejemplo.com"&gt;Escríbeme&lt;/a&gt;  abre el correo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imágenes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src es dónde está el archivo. img/ significa dentro de tu carpeta.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alt describe la imagen: lo lee en voz alta un lector de pantalla y aparece si la imagen no carga.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No lleva etiqueta de cierre. Es de las pocas.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87000"/>
                </a:solidFill>
                <a:latin typeface="Menlo"/>
              </a:rPr>
              <a:t>EL ALT NO ES OPCIONAL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A0A0A"/>
                </a:solidFill>
                <a:latin typeface="Iowan Old Style"/>
              </a:rPr>
              <a:t>Descríbela en una línea, como se la describirías por teléfono a alguien. No pongas «foto» ni el nombre del archivo.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imágenes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777240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&lt;img src="img/obra-1.jpg" alt="Cinco piezas de gres sobre una mesa"&gt;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EJERCICIO 1   ·   50 MIN · EN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tu portada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480"/>
              </a:lnSpc>
              <a:spcBef>
                <a:spcPts val="0"/>
              </a:spcBef>
              <a:spcAft>
                <a:spcPts val="879"/>
              </a:spcAft>
            </a:pPr>
            <a:r>
              <a:rPr sz="1465" b="0" i="0">
                <a:solidFill>
                  <a:srgbClr val="444444"/>
                </a:solidFill>
                <a:latin typeface="Iowan Old Style"/>
              </a:rPr>
              <a:t>Abre la carpeta mi-web en VS Code y trabaja sobre index.html. Al terminar, tu portada tiene que hablar de ti y no de nadie más.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☐  Tu nombre en el &lt;h1&gt; y también en el &lt;title&gt;.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☐  Tu bio en dos o tres &lt;p&gt; separados, uno por idea.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☐  Una imagen tuya o de tu trabajo, con su alt escrito.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☐  Tu correo en el pie, funcionando con mailto:.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☐  Todos los comentarios de instrucciones borrados.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·  Añade un enlace a alguna web tuya o de alguien que admires.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·  Pon una segunda imagen.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8"/>
              </a:spcAft>
            </a:pPr>
            <a:r>
              <a:rPr sz="1416" b="0" i="0">
                <a:solidFill>
                  <a:srgbClr val="444444"/>
                </a:solidFill>
                <a:latin typeface="Iowan Old Style"/>
              </a:rPr>
              <a:t>·  Prueba a cambiar background-color en estilo.css. Solo eso, no toques nada más todavía.</a:t>
            </a:r>
          </a:p>
          <a:p>
            <a:pPr>
              <a:lnSpc>
                <a:spcPct val="117500"/>
              </a:lnSpc>
              <a:spcBef>
                <a:spcPts val="1000"/>
              </a:spcBef>
              <a:spcAft>
                <a:spcPts val="293"/>
              </a:spcAft>
            </a:pPr>
            <a:r>
              <a:rPr sz="977" b="0" i="0" spc="300">
                <a:solidFill>
                  <a:srgbClr val="8A8A8A"/>
                </a:solidFill>
                <a:latin typeface="Menlo"/>
              </a:rPr>
              <a:t>SI HAS PEGADO TEXTO DESDE WORD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781"/>
              </a:spcAft>
            </a:pPr>
            <a:r>
              <a:rPr sz="1367" b="0" i="0">
                <a:solidFill>
                  <a:srgbClr val="444444"/>
                </a:solidFill>
                <a:latin typeface="Iowan Old Style"/>
              </a:rPr>
              <a:t>Mira las comillas y los guiones: vienen curvados y a veces rompen el código. Bórralos y reescríbelos a mano.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01:30 · 15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pausa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Estirar las piernas. La segunda parte es toda práctica.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01:45 · 45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tu segunda página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Duplicar, enlazar y montar la página de proyectos con tu material.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01:45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añadir una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Duplica index.html y llama a la copia proyectos.html.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Cambia el &lt;title&gt; y vacía el &lt;main&gt;.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Añade el enlace al menú de todas las páginas, no solo de una.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EL FALLO TÍPICO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444444"/>
                </a:solidFill>
                <a:latin typeface="Iowan Old Style"/>
              </a:rPr>
              <a:t>Añadir el enlace nuevo solo en una de las dos páginas. Desde la otra no se llega, y parece que el enlace está mal cuando lo que falta es repetirlo. Sí: el menú se copia entero en cada archivo. Es aburrido y es normal.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01:45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añadir una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1874519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1472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&lt;nav&gt;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&lt;a href="index.html"&gt;Inicio&lt;/a&gt;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&lt;a href="proyectos.html"&gt;Proyectos&lt;/a&gt;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&lt;a href="cv.html"&gt;CV&lt;/a&gt;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&lt;/nav&gt;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01:45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un proyecto, por dentro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Para el siguiente proyecto: copia el bloque entero, pégalo debajo, cambia el texto y el nombre de la imagen.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Así de aburrido. Así de fiable.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01:45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0A0A0A"/>
                </a:solidFill>
                <a:latin typeface="Inknut Antiqua"/>
              </a:rPr>
              <a:t>un proyecto, por dentro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2148839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75688"/>
            <a:ext cx="10125151" cy="1746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&lt;article&gt;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&lt;h3&gt;Cámaras sordas&lt;/h3&gt;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&lt;p&gt;2026 · Gres · Barcelona&lt;/p&gt;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&lt;img src="img/obra-1.jpg" alt="Cinco recipientes cerrados"&gt;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  &lt;p&gt;Dos líneas sobre el proyecto.&lt;/p&gt;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Menlo"/>
              </a:rPr>
              <a:t>&lt;/article&gt;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EJERCICIO 2   ·   45 MIN · EN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dos páginas conectadas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Dos páginas que se enlazan entre sí en los dos sentidos.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Al menos dos proyectos con imagen y texto.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Ningún enlace roto: puedes ir y volver clicando, sin tocar la barra del navegador.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Cada página con su &lt;title&gt; propio.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02:30 · 10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publicarla ya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Sí, hoy. Sin entender nada todavía. Para que salgas por la puerta con una dirección de internet.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02:30   ·   A CIEGAS, Y YA LO ENTENDEREMOS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seis clics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En la sesión 3 volvemos aquí despacio y entendiendo cada paso. Hoy es solo para que exista.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En github.com, botón New repository.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Nombre: mi-web. Marca Public. Create.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uploading an existing file.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Arrastra el contenido de tu carpeta, no la carpeta.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Commit changes.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·  Settings → Pages → Branch: main → Save.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87000"/>
                </a:solidFill>
                <a:latin typeface="Menlo"/>
              </a:rPr>
              <a:t>POR QUÉ HOY Y NO EN LA SESIÓN 3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A0A0A"/>
                </a:solidFill>
                <a:latin typeface="Iowan Old Style"/>
              </a:rPr>
              <a:t>Porque si faltas a la última sesión, no te quedas sin web. Y porque tener algo público que enseñar hace que los deberes se hagan.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3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EL ERROR CLÁSICO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444444"/>
                </a:solidFill>
                <a:latin typeface="Iowan Old Style"/>
              </a:rPr>
              <a:t>Si arrastras la carpeta entera queda mi-web/index.html y la publicación da 404. Al abrir el repositorio tienes que ver index.html en la primera pantalla.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02:40 · 20 MINUTOS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cierre y encargo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Cada una enseña su pantalla treinta segundos. Y os llevo deberes.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02:40   ·   LO QUE NO VAMOS A HACER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lo que esto no hace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Mejor saberlo ahora que a las dos horas: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Lo que sí hace: existir para siempre, cargar rápido, no costar nada al mes y no depender de ninguna empresa.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50">
                <a:solidFill>
                  <a:srgbClr val="0A0A0A"/>
                </a:solidFill>
                <a:latin typeface="Menlo"/>
              </a:rPr>
              <a:t>formulario de contacto    </a:t>
            </a:r>
            <a:r>
              <a:rPr sz="1350">
                <a:solidFill>
                  <a:srgbClr val="444444"/>
                </a:solidFill>
                <a:latin typeface="Iowan Old Style"/>
              </a:rPr>
              <a:t>Necesita un servidor. Pon tu correo con mailto: — es lo que hace casi todo el mundo y no se rompe nunca.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50">
                <a:solidFill>
                  <a:srgbClr val="0A0A0A"/>
                </a:solidFill>
                <a:latin typeface="Menlo"/>
              </a:rPr>
              <a:t>tienda    </a:t>
            </a:r>
            <a:r>
              <a:rPr sz="1350">
                <a:solidFill>
                  <a:srgbClr val="444444"/>
                </a:solidFill>
                <a:latin typeface="Iowan Old Style"/>
              </a:rPr>
              <a:t>Pagos, stock y seguridad son otro proyecto. Enlaza a Bandcamp o Big Cartel.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50">
                <a:solidFill>
                  <a:srgbClr val="0A0A0A"/>
                </a:solidFill>
                <a:latin typeface="Menlo"/>
              </a:rPr>
              <a:t>blog automático    </a:t>
            </a:r>
            <a:r>
              <a:rPr sz="1350">
                <a:solidFill>
                  <a:srgbClr val="444444"/>
                </a:solidFill>
                <a:latin typeface="Iowan Old Style"/>
              </a:rPr>
              <a:t>Cada entrada es un archivo que creas a mano. Para tres o cuatro al año, perfecto. Para escribir cada semana, cansa.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50">
                <a:solidFill>
                  <a:srgbClr val="0A0A0A"/>
                </a:solidFill>
                <a:latin typeface="Menlo"/>
              </a:rPr>
              <a:t>comentarios    </a:t>
            </a:r>
            <a:r>
              <a:rPr sz="1350">
                <a:solidFill>
                  <a:srgbClr val="444444"/>
                </a:solidFill>
                <a:latin typeface="Iowan Old Style"/>
              </a:rPr>
              <a:t>Necesitan base de datos y moderación. No.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50">
                <a:solidFill>
                  <a:srgbClr val="0A0A0A"/>
                </a:solidFill>
                <a:latin typeface="Menlo"/>
              </a:rPr>
              <a:t>reservas / calendario    </a:t>
            </a:r>
            <a:r>
              <a:rPr sz="1350">
                <a:solidFill>
                  <a:srgbClr val="444444"/>
                </a:solidFill>
                <a:latin typeface="Iowan Old Style"/>
              </a:rPr>
              <a:t>Enlaza a una herramienta externa.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EJERCICIO 3   ·   1 HORA · EN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deberes: reunir el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480"/>
              </a:lnSpc>
              <a:spcBef>
                <a:spcPts val="0"/>
              </a:spcBef>
              <a:spcAft>
                <a:spcPts val="775"/>
              </a:spcAft>
            </a:pPr>
            <a:r>
              <a:rPr sz="1292" b="0" i="0">
                <a:solidFill>
                  <a:srgbClr val="444444"/>
                </a:solidFill>
                <a:latin typeface="Iowan Old Style"/>
              </a:rPr>
              <a:t>No hay que programar nada. Es preparar el contenido, que es la parte que más tarda y la que no se puede improvisar en clase. Sin esto, la sesión 2 no cunde.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30"/>
              </a:spcAft>
            </a:pPr>
            <a:r>
              <a:rPr sz="1249" b="0" i="0">
                <a:solidFill>
                  <a:srgbClr val="444444"/>
                </a:solidFill>
                <a:latin typeface="Iowan Old Style"/>
              </a:rPr>
              <a:t>☐  Tu bio, escrita y revisada.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30"/>
              </a:spcAft>
            </a:pPr>
            <a:r>
              <a:rPr sz="1249" b="0" i="0">
                <a:solidFill>
                  <a:srgbClr val="444444"/>
                </a:solidFill>
                <a:latin typeface="Iowan Old Style"/>
              </a:rPr>
              <a:t>☐  La ficha de cada proyecto: título, año, técnica, lugar, dos o tres líneas.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30"/>
              </a:spcAft>
            </a:pPr>
            <a:r>
              <a:rPr sz="1249" b="0" i="0">
                <a:solidFill>
                  <a:srgbClr val="444444"/>
                </a:solidFill>
                <a:latin typeface="Iowan Old Style"/>
              </a:rPr>
              <a:t>☐  Tu CV: exposiciones, formación, lo que quieras incluir.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30"/>
              </a:spcAft>
            </a:pPr>
            <a:r>
              <a:rPr sz="1249" b="0" i="0">
                <a:solidFill>
                  <a:srgbClr val="444444"/>
                </a:solidFill>
                <a:latin typeface="Iowan Old Style"/>
              </a:rPr>
              <a:t>☐  Dos o tres webs que te gusten. Apunta de cada una qué te gusta: ¿el tamaño de letra? ¿el blanco? ¿los colores?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30"/>
              </a:spcAft>
            </a:pPr>
            <a:r>
              <a:rPr sz="1249" b="0" i="0">
                <a:solidFill>
                  <a:srgbClr val="444444"/>
                </a:solidFill>
                <a:latin typeface="Iowan Old Style"/>
              </a:rPr>
              <a:t>☐  Entre 5 y 10, en una carpeta.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30"/>
              </a:spcAft>
            </a:pPr>
            <a:r>
              <a:rPr sz="1249" b="0" i="0">
                <a:solidFill>
                  <a:srgbClr val="444444"/>
                </a:solidFill>
                <a:latin typeface="Iowan Old Style"/>
              </a:rPr>
              <a:t>☐  Reducidas a unos 1600 píxeles de ancho, con Vista Previa, Paint o squoosh.app.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30"/>
              </a:spcAft>
            </a:pPr>
            <a:r>
              <a:rPr sz="1249" b="0" i="0">
                <a:solidFill>
                  <a:srgbClr val="444444"/>
                </a:solidFill>
                <a:latin typeface="Iowan Old Style"/>
              </a:rPr>
              <a:t>☐  Renombradas: sin espacios, sin acentos, en minúsculas. obra-2024.jpg, no Obra 2024.JPG.</a:t>
            </a:r>
          </a:p>
          <a:p>
            <a:pPr>
              <a:lnSpc>
                <a:spcPct val="117500"/>
              </a:lnSpc>
              <a:spcBef>
                <a:spcPts val="1000"/>
              </a:spcBef>
              <a:spcAft>
                <a:spcPts val="258"/>
              </a:spcAft>
            </a:pPr>
            <a:r>
              <a:rPr sz="950" b="0" i="0" spc="300">
                <a:solidFill>
                  <a:srgbClr val="8A8A8A"/>
                </a:solidFill>
                <a:latin typeface="Menlo"/>
              </a:rPr>
              <a:t>OJO CON EL PESO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689"/>
              </a:spcAft>
            </a:pPr>
            <a:r>
              <a:rPr sz="1206" b="0" i="0">
                <a:solidFill>
                  <a:srgbClr val="444444"/>
                </a:solidFill>
                <a:latin typeface="Iowan Old Style"/>
              </a:rPr>
              <a:t>Una foto recién salida de la cámara pesa 8 MB y tarda una eternidad en cargar. Reducida son 300 KB y se ve exactamente igual en pantalla.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100" b="0" i="0" spc="300">
                <a:solidFill>
                  <a:srgbClr val="8A8A8A"/>
                </a:solidFill>
                <a:latin typeface="Menlo"/>
              </a:rPr>
              <a:t>PARA LLEVARSE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4000" b="0" i="0">
                <a:solidFill>
                  <a:srgbClr val="FFFFFF"/>
                </a:solidFill>
                <a:latin typeface="Inknut Antiqua"/>
              </a:rPr>
              <a:t>chuleta de html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BBBBBB"/>
                </a:solidFill>
                <a:latin typeface="Iowan Old Style"/>
              </a:rPr>
              <a:t>Todo lo de hoy en una hoja. Para dentro de tres meses, cuando estés sola delante del ordenador.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chuleta ·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37215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1600"/>
              </a:lnSpc>
              <a:spcBef>
                <a:spcPts val="0"/>
              </a:spcBef>
              <a:spcAft>
                <a:spcPts val="480"/>
              </a:spcAft>
            </a:pPr>
            <a:r>
              <a:rPr sz="1392" b="0" i="0">
                <a:solidFill>
                  <a:srgbClr val="444444"/>
                </a:solidFill>
                <a:latin typeface="Iowan Old Style"/>
              </a:rPr>
              <a:t>·  ¿Has guardado el archivo?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0"/>
              </a:spcAft>
            </a:pPr>
            <a:r>
              <a:rPr sz="1392" b="0" i="0">
                <a:solidFill>
                  <a:srgbClr val="444444"/>
                </a:solidFill>
                <a:latin typeface="Iowan Old Style"/>
              </a:rPr>
              <a:t>·  ¿Has recargado? Recarga forzada: Cmd+Shift+R o Ctrl+F5.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0"/>
              </a:spcAft>
            </a:pPr>
            <a:r>
              <a:rPr sz="1392" b="0" i="0">
                <a:solidFill>
                  <a:srgbClr val="444444"/>
                </a:solidFill>
                <a:latin typeface="Iowan Old Style"/>
              </a:rPr>
              <a:t>·  ¿Falta cerrar una etiqueta o una comilla? VS Code lo marca en color.</a:t>
            </a:r>
          </a:p>
          <a:p>
            <a:pPr>
              <a:lnSpc>
                <a:spcPct val="131600"/>
              </a:lnSpc>
              <a:spcBef>
                <a:spcPts val="0"/>
              </a:spcBef>
              <a:spcAft>
                <a:spcPts val="480"/>
              </a:spcAft>
            </a:pPr>
            <a:r>
              <a:rPr sz="1392" b="0" i="0">
                <a:solidFill>
                  <a:srgbClr val="444444"/>
                </a:solidFill>
                <a:latin typeface="Iowan Old Style"/>
              </a:rPr>
              <a:t>·  ¿Una imagen no sale? El nombre del archivo y el src tienen que coincidir exactamente, mayúsculas y extensión incluidas.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&lt;html&gt;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Todo el documento va dentro.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&lt;head&gt;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Lo que no se ve: título de la pestaña, enlace al CSS.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&lt;body&gt;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Lo que sí se ve.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&lt;header&gt;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Cabecera: tu nombre y el menú.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&lt;main&gt;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El contenido propio de cada página.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&lt;footer&gt;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Pie: contacto, créditos.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&lt;article&gt;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Una unidad suelta: un proyecto, una obra.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&lt;a href="cv.html"&gt;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Enlace a otra página de tu web.</a:t>
            </a:r>
          </a:p>
          <a:p>
            <a:pPr>
              <a:lnSpc>
                <a:spcPct val="126900"/>
              </a:lnSpc>
              <a:spcAft>
                <a:spcPts val="480"/>
              </a:spcAft>
            </a:pPr>
            <a:r>
              <a:rPr sz="1200">
                <a:solidFill>
                  <a:srgbClr val="0A0A0A"/>
                </a:solidFill>
                <a:latin typeface="Menlo"/>
              </a:rPr>
              <a:t>&lt;a href="https://…"&gt;    </a:t>
            </a:r>
            <a:r>
              <a:rPr sz="1296">
                <a:solidFill>
                  <a:srgbClr val="444444"/>
                </a:solidFill>
                <a:latin typeface="Iowan Old Style"/>
              </a:rPr>
              <a:t>Enlace a otra web. Necesita el https:// delante.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300">
                <a:solidFill>
                  <a:srgbClr val="8A8A8A"/>
                </a:solidFill>
                <a:latin typeface="Menlo"/>
              </a:rPr>
              <a:t>MUESTRARIO   ·   PARA MIRAR POR DENTRO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61288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hecho solo con html y un poco de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37215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44444"/>
                </a:solidFill>
                <a:latin typeface="Iowan Old Style"/>
              </a:rPr>
              <a:t>Cada una es un único archivo, muy comentado. Ábrelas, mira el código con botón derecho → Ver código fuente, y róbalo.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>
                <a:solidFill>
                  <a:srgbClr val="0A0A0A"/>
                </a:solidFill>
                <a:latin typeface="Inknut Antiqua"/>
                <a:hlinkClick r:id="rId2"/>
              </a:rPr>
              <a:t>→ la web que se explica   </a:t>
            </a:r>
            <a:r>
              <a:rPr sz="1250">
                <a:solidFill>
                  <a:srgbClr val="8A8A8A"/>
                </a:solidFill>
                <a:latin typeface="Iowan Old Style"/>
              </a:rPr>
              <a:t>Pasa el ratón y cada elemento te dice qué es. Alfabetización pura.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>
                <a:solidFill>
                  <a:srgbClr val="0A0A0A"/>
                </a:solidFill>
                <a:latin typeface="Inknut Antiqua"/>
                <a:hlinkClick r:id="rId3"/>
              </a:rPr>
              <a:t>→ cadáver exquisito   </a:t>
            </a:r>
            <a:r>
              <a:rPr sz="1250">
                <a:solidFill>
                  <a:srgbClr val="8A8A8A"/>
                </a:solidFill>
                <a:latin typeface="Iowan Old Style"/>
              </a:rPr>
              <a:t>Generador de frases al azar: listas y un botón mínimo.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>
                <a:solidFill>
                  <a:srgbClr val="0A0A0A"/>
                </a:solidFill>
                <a:latin typeface="Inknut Antiqua"/>
                <a:hlinkClick r:id="rId4"/>
              </a:rPr>
              <a:t>→ archivador de textos   </a:t>
            </a:r>
            <a:r>
              <a:rPr sz="1250">
                <a:solidFill>
                  <a:srgbClr val="8A8A8A"/>
                </a:solidFill>
                <a:latin typeface="Iowan Old Style"/>
              </a:rPr>
              <a:t>Fichas giradas con filtros por etiqueta.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1300">
                <a:solidFill>
                  <a:srgbClr val="0A0A0A"/>
                </a:solidFill>
                <a:latin typeface="Inknut Antiqua"/>
                <a:hlinkClick r:id="rId5"/>
              </a:rPr>
              <a:t>→ ver las 26   </a:t>
            </a:r>
            <a:r>
              <a:rPr sz="1250">
                <a:solidFill>
                  <a:srgbClr val="8A8A8A"/>
                </a:solidFill>
                <a:latin typeface="Iowan Old Style"/>
              </a:rPr>
              <a:t>El muestrario entero, ordenado por tipo.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0A0A0A"/>
                </a:solidFill>
                <a:latin typeface="Inknut Antiqua"/>
              </a:rPr>
              <a:t>lo que te llevas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37215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Dos páginas tuyas, con tu contenido, enlazadas entre sí.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Una web publicada con dirección propia en internet.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La certeza de que esto son archivos de texto en una carpeta.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444444"/>
                </a:solidFill>
                <a:latin typeface="Iowan Old Style"/>
              </a:rPr>
              <a:t>☐  Los deberes del ejercicio 3, que son los que hacen que la próxima sesión cunda.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 · HTML</dc:title>
  <dc:subject/>
  <dc:creator>meowrhino.studio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